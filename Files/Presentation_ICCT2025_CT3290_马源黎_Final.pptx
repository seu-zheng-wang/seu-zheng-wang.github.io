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1" r:id="rId3"/>
  </p:sldMasterIdLst>
  <p:notesMasterIdLst>
    <p:notesMasterId r:id="rId5"/>
  </p:notesMasterIdLst>
  <p:handoutMasterIdLst>
    <p:handoutMasterId r:id="rId17"/>
  </p:handoutMasterIdLst>
  <p:sldIdLst>
    <p:sldId id="256" r:id="rId4"/>
    <p:sldId id="378" r:id="rId6"/>
    <p:sldId id="314" r:id="rId7"/>
    <p:sldId id="381" r:id="rId8"/>
    <p:sldId id="388" r:id="rId9"/>
    <p:sldId id="389" r:id="rId10"/>
    <p:sldId id="429" r:id="rId11"/>
    <p:sldId id="428" r:id="rId12"/>
    <p:sldId id="435" r:id="rId13"/>
    <p:sldId id="436" r:id="rId14"/>
    <p:sldId id="424" r:id="rId15"/>
    <p:sldId id="431" r:id="rId16"/>
  </p:sldIdLst>
  <p:sldSz cx="12192000" cy="6858000"/>
  <p:notesSz cx="6858000" cy="9144000"/>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ED34375-7BD5-D846-A3A3-DE4C6889ECF3}">
          <p14:sldIdLst>
            <p14:sldId id="256"/>
            <p14:sldId id="378"/>
            <p14:sldId id="314"/>
            <p14:sldId id="381"/>
            <p14:sldId id="388"/>
            <p14:sldId id="389"/>
            <p14:sldId id="429"/>
            <p14:sldId id="428"/>
            <p14:sldId id="435"/>
            <p14:sldId id="436"/>
            <p14:sldId id="424"/>
            <p14:sldId id="43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56115"/>
    <a:srgbClr val="F5F7F9"/>
    <a:srgbClr val="FBE44F"/>
    <a:srgbClr val="ED7D31"/>
    <a:srgbClr val="EEBD4A"/>
    <a:srgbClr val="FFCC00"/>
    <a:srgbClr val="F0F0F0"/>
    <a:srgbClr val="CB2006"/>
    <a:srgbClr val="3037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36"/>
    <p:restoredTop sz="81711"/>
  </p:normalViewPr>
  <p:slideViewPr>
    <p:cSldViewPr snapToGrid="0" snapToObjects="1">
      <p:cViewPr varScale="1">
        <p:scale>
          <a:sx n="80" d="100"/>
          <a:sy n="80" d="100"/>
        </p:scale>
        <p:origin x="392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gs" Target="tags/tag35.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Times New Roman" panose="02020603050405020304" charset="0"/>
              <a:ea typeface="Times New Roman" panose="02020603050405020304" charset="0"/>
              <a:cs typeface="Times New Roman" panose="020206030504050203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Times New Roman" panose="02020603050405020304" charset="0"/>
                <a:ea typeface="Times New Roman" panose="02020603050405020304" charset="0"/>
                <a:cs typeface="Times New Roman" panose="02020603050405020304" charset="0"/>
              </a:rPr>
            </a:fld>
            <a:endParaRPr lang="zh-CN" altLang="en-US">
              <a:latin typeface="Times New Roman" panose="02020603050405020304" charset="0"/>
              <a:ea typeface="Times New Roman" panose="02020603050405020304" charset="0"/>
              <a:cs typeface="Times New Roman" panose="020206030504050203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Times New Roman" panose="02020603050405020304" charset="0"/>
              <a:ea typeface="Times New Roman" panose="02020603050405020304" charset="0"/>
              <a:cs typeface="Times New Roman" panose="020206030504050203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Times New Roman" panose="02020603050405020304" charset="0"/>
                <a:ea typeface="Times New Roman" panose="02020603050405020304" charset="0"/>
                <a:cs typeface="Times New Roman" panose="02020603050405020304" charset="0"/>
              </a:rPr>
            </a:fld>
            <a:endParaRPr lang="zh-CN" altLang="en-US">
              <a:latin typeface="Times New Roman" panose="02020603050405020304" charset="0"/>
              <a:ea typeface="Times New Roman" panose="02020603050405020304" charset="0"/>
              <a:cs typeface="Times New Roman" panose="020206030504050203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603050405020304" charset="0"/>
                <a:ea typeface="Times New Roman" panose="02020603050405020304" charset="0"/>
                <a:cs typeface="Times New Roman" panose="02020603050405020304" charset="0"/>
              </a:defRPr>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603050405020304" charset="0"/>
                <a:ea typeface="Times New Roman" panose="02020603050405020304" charset="0"/>
                <a:cs typeface="Times New Roman" panose="02020603050405020304" charset="0"/>
              </a:defRPr>
            </a:lvl1pPr>
          </a:lstStyle>
          <a:p>
            <a:fld id="{78A6BE1A-EBEC-6E4F-B3D0-9EEBE2490507}"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603050405020304" charset="0"/>
                <a:ea typeface="Times New Roman" panose="02020603050405020304" charset="0"/>
                <a:cs typeface="Times New Roman" panose="02020603050405020304" charset="0"/>
              </a:defRPr>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603050405020304" charset="0"/>
                <a:ea typeface="Times New Roman" panose="02020603050405020304" charset="0"/>
                <a:cs typeface="Times New Roman" panose="02020603050405020304" charset="0"/>
              </a:defRPr>
            </a:lvl1pPr>
          </a:lstStyle>
          <a:p>
            <a:fld id="{5AFA0B27-4EE5-6442-9424-7A0329C3AC2A}"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charset="0"/>
        <a:ea typeface="Times New Roman" panose="02020603050405020304" charset="0"/>
        <a:cs typeface="Times New Roman" panose="02020603050405020304" charset="0"/>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Good afternoon everyone, it’s my great honor to present the paper “Dynamic Metasurface Antennas-Based Beamforming for Holographic MIMO Systems”.</a:t>
            </a:r>
            <a:endParaRPr kumimoji="1" lang="en-US" altLang="zh-CN" dirty="0"/>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This presentation consists of the following five parts.</a:t>
            </a:r>
            <a:endParaRPr kumimoji="1" lang="en-US" altLang="zh-CN" dirty="0"/>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First of all, I introduce the background of Holographic MIMO (or HMIMO) beamforming. It allows nearly spatially continuous aperture, such that the transceiver can accommodate huge number of elements delopyed in a practically viable way. </a:t>
            </a:r>
            <a:endParaRPr kumimoji="1" lang="en-US" altLang="zh-CN"/>
          </a:p>
          <a:p>
            <a:r>
              <a:rPr kumimoji="1" lang="en-US" altLang="zh-CN"/>
              <a:t>As one of the typical HMIMO surfaces, dynamic metasurface antenna (or DMA) is tunable with reduced cost and power consumption compared to conventional arrays. Specifically, the transceiver equipped with DMA requires less radio frequency chains than the conventional one, which greatly facilitates the practical implementation.</a:t>
            </a:r>
            <a:endParaRPr kumimoji="1" lang="en-US" altLang="zh-CN"/>
          </a:p>
          <a:p>
            <a:r>
              <a:rPr kumimoji="1" lang="en-US" altLang="zh-CN"/>
              <a:t>However, there exists challenges upon the design of dynamic metasurface antenna-based HMIMO beamforming, as follows.</a:t>
            </a:r>
            <a:endParaRPr kumimoji="1" lang="en-US" altLang="zh-CN"/>
          </a:p>
          <a:p>
            <a:r>
              <a:rPr kumimoji="1" lang="en-US" altLang="zh-CN" dirty="0">
                <a:solidFill>
                  <a:srgbClr val="00B050"/>
                </a:solidFill>
                <a:sym typeface="+mn-ea"/>
              </a:rPr>
              <a:t>Typically, t</a:t>
            </a:r>
            <a:r>
              <a:rPr kumimoji="1" lang="zh-CN" altLang="en-US" dirty="0">
                <a:solidFill>
                  <a:srgbClr val="00B050"/>
                </a:solidFill>
                <a:sym typeface="+mn-ea"/>
              </a:rPr>
              <a:t>he Lorentzian constraint</a:t>
            </a:r>
            <a:r>
              <a:rPr kumimoji="1" lang="en-US" altLang="zh-CN" dirty="0">
                <a:sym typeface="+mn-ea"/>
              </a:rPr>
              <a:t> for DMA element is non-convex constraint.</a:t>
            </a:r>
            <a:endParaRPr kumimoji="1" lang="en-US" altLang="zh-CN" dirty="0">
              <a:sym typeface="+mn-ea"/>
            </a:endParaRPr>
          </a:p>
          <a:p>
            <a:r>
              <a:rPr kumimoji="1" lang="en-US" altLang="zh-CN"/>
              <a:t>The inter-user interference need proper handling.</a:t>
            </a:r>
            <a:endParaRPr kumimoji="1" lang="en-US" altLang="zh-CN"/>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Specifically, there exists high complexity burden in the DMA weights matrix design and in multiple times of WMMSE convergence.</a:t>
            </a:r>
            <a:endParaRPr kumimoji="1" lang="en-US" altLang="zh-CN"/>
          </a:p>
          <a:p>
            <a:r>
              <a:rPr kumimoji="1" lang="en-US" altLang="zh-CN"/>
              <a:t>Therefore, we investigate the designs of DMA weights matrix and precoding matrix based on strategies of alternating optimization (or AO) and decoupling optimization (or DO) to achieve array gains with reduced complexity.</a:t>
            </a:r>
            <a:endParaRPr kumimoji="1" lang="en-US" altLang="zh-CN"/>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We consider a multi-user HMIMO downlink system. The base station, or BS is equipped </a:t>
            </a:r>
            <a:r>
              <a:rPr kumimoji="1" lang="en-US" altLang="zh-CN">
                <a:sym typeface="+mn-ea"/>
              </a:rPr>
              <a:t>N DMA elements </a:t>
            </a:r>
            <a:r>
              <a:rPr kumimoji="1" lang="en-US" altLang="zh-CN"/>
              <a:t>with Nd microstrips to serve K single-antenna users. Specifically, the data stream is first precoded by a baseband precoder, and then processed by the DMA before transmitted to the users.</a:t>
            </a:r>
            <a:endParaRPr kumimoji="1" lang="en-US" altLang="zh-CN"/>
          </a:p>
          <a:p>
            <a:r>
              <a:rPr kumimoji="1" lang="en-US" altLang="zh-CN"/>
              <a:t>In addition, the block-diagonal matrix of DMA elements follow the Lorentzian constraint as shown, which consists of two parts, the complex constant term and the exponential term containing the tunable and optimizable phase. This constraint is non-convex.</a:t>
            </a:r>
            <a:endParaRPr kumimoji="1" lang="en-US" altLang="zh-CN"/>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1 order?</a:t>
            </a:r>
            <a:endParaRPr kumimoji="1" lang="en-US" altLang="zh-CN"/>
          </a:p>
          <a:p>
            <a:r>
              <a:rPr kumimoji="1" lang="en-US" altLang="zh-CN">
                <a:sym typeface="+mn-ea"/>
              </a:rPr>
              <a:t> The goal of HMIMO beamforming is to maximizee the sum rate. And t</a:t>
            </a:r>
            <a:r>
              <a:rPr kumimoji="1" lang="en-US" altLang="zh-CN"/>
              <a:t>he received SINR of the k-th user is given by this formula, where \omega_k \leq 1 indicates the priority of user k</a:t>
            </a:r>
            <a:endParaRPr kumimoji="1" lang="en-US" altLang="zh-CN"/>
          </a:p>
          <a:p>
            <a:r>
              <a:rPr kumimoji="1" lang="en-US" altLang="zh-CN"/>
              <a:t> Based on it, the sum rate is given. </a:t>
            </a:r>
            <a:endParaRPr kumimoji="1" lang="en-US" altLang="zh-CN"/>
          </a:p>
          <a:p>
            <a:r>
              <a:rPr kumimoji="1" lang="en-US" altLang="zh-CN"/>
              <a:t>In particular, the DMA weights matrix Q and precoding matrix F are alternatingly optimized.</a:t>
            </a:r>
            <a:endParaRPr kumimoji="1" lang="en-US" altLang="zh-CN"/>
          </a:p>
          <a:p>
            <a:r>
              <a:rPr kumimoji="1" lang="en-US" altLang="zh-CN"/>
              <a:t>On one hand with the fixed weights matrix Q, we adopt the classsical weighted minimum mean-square error, or WMMSE, algorithm</a:t>
            </a:r>
            <a:r>
              <a:rPr kumimoji="1" lang="en-US" altLang="zh-CN">
                <a:sym typeface="+mn-ea"/>
              </a:rPr>
              <a:t> for precoding matrix</a:t>
            </a:r>
            <a:r>
              <a:rPr kumimoji="1" lang="en-US" altLang="zh-CN"/>
              <a:t>.</a:t>
            </a:r>
            <a:endParaRPr kumimoji="1" lang="en-US" altLang="zh-CN"/>
          </a:p>
          <a:p>
            <a:r>
              <a:rPr kumimoji="1" lang="en-US" altLang="zh-CN"/>
              <a:t>On the other hand, with the fixed precoding matrix F, the optimization problem of DMA weights matrix Q is shown here, with the cost function as optimization objective.</a:t>
            </a:r>
            <a:endParaRPr kumimoji="1" lang="en-US" altLang="zh-CN"/>
          </a:p>
          <a:p>
            <a:r>
              <a:rPr kumimoji="1" lang="en-US" altLang="zh-CN">
                <a:sym typeface="+mn-ea"/>
              </a:rPr>
              <a:t>This leads to the alternating optimization, or AO, strategy.</a:t>
            </a:r>
            <a:endParaRPr kumimoji="1" lang="en-US" altLang="zh-CN">
              <a:sym typeface="+mn-ea"/>
            </a:endParaRPr>
          </a:p>
          <a:p>
            <a:r>
              <a:rPr kumimoji="1" lang="en-US" altLang="zh-CN">
                <a:sym typeface="+mn-ea"/>
              </a:rPr>
              <a:t>However, computing the gradient of the cost function costs O(NK^2) computational complexity,</a:t>
            </a:r>
            <a:endParaRPr kumimoji="1" lang="en-US" altLang="zh-CN">
              <a:sym typeface="+mn-ea"/>
            </a:endParaRPr>
          </a:p>
          <a:p>
            <a:r>
              <a:rPr kumimoji="1" lang="en-US" altLang="zh-CN">
                <a:sym typeface="+mn-ea"/>
              </a:rPr>
              <a:t>which results in high complexity burden.</a:t>
            </a:r>
            <a:endParaRPr kumimoji="1" lang="en-US" altLang="zh-CN">
              <a:sym typeface="+mn-ea"/>
            </a:endParaRPr>
          </a:p>
          <a:p>
            <a:endParaRPr kumimoji="1" lang="zh-CN" altLang="en-US">
              <a:ea typeface="宋体" panose="02010600030101010101" pitchFamily="2" charset="-122"/>
              <a:sym typeface="+mn-ea"/>
            </a:endParaRPr>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For our proposed AO strategy, with fixed precoding matrix F, we aim to seek for better Q with lower complexity cost. </a:t>
            </a:r>
            <a:endParaRPr kumimoji="1" lang="en-US" altLang="zh-CN"/>
          </a:p>
          <a:p>
            <a:r>
              <a:rPr kumimoji="1" lang="en-US" altLang="zh-CN"/>
              <a:t>In this stage, </a:t>
            </a:r>
            <a:r>
              <a:rPr kumimoji="1" lang="en-US" altLang="zh-CN">
                <a:sym typeface="+mn-ea"/>
              </a:rPr>
              <a:t>we focus on maximizing the array gain. Firstly, </a:t>
            </a:r>
            <a:r>
              <a:rPr kumimoji="1" lang="en-US" altLang="zh-CN"/>
              <a:t>we get rid of the inter-user interference and left it to be eliminated by WMMSE when optimizing F, and assume that each user has equal priority. </a:t>
            </a:r>
            <a:endParaRPr kumimoji="1" lang="en-US" altLang="zh-CN"/>
          </a:p>
          <a:p>
            <a:r>
              <a:rPr kumimoji="1" lang="en-US" altLang="zh-CN"/>
              <a:t>Then by dividing the Lorentzian constraint of Q into the unit-modulus constraint, the DMA weights matrix design can be formulated as this, the original optimization problem for Q is equivalent to optimizing an auxiliary vector s with unit-modulus constraint, and bk is another auxiliary vector containing channel information. This simplity complicated matrix multiplications to simple vector inner-product. Which help reduce the complexity.</a:t>
            </a:r>
            <a:endParaRPr kumimoji="1" lang="en-US" altLang="zh-CN"/>
          </a:p>
          <a:p>
            <a:r>
              <a:rPr kumimoji="1" lang="en-US" altLang="zh-CN"/>
              <a:t>For better DMA weights matrix design, based on the equal gain transmission method, we put forward the goal shown as this. </a:t>
            </a:r>
            <a:endParaRPr kumimoji="1" lang="en-US" altLang="zh-CN"/>
          </a:p>
          <a:p>
            <a:r>
              <a:rPr kumimoji="1" lang="en-US" altLang="zh-CN"/>
              <a:t>According to cauchy-schwarz inequality, the nominator is maximized if and only if each term of the following summation keeps the same phase as a_k.</a:t>
            </a:r>
            <a:endParaRPr kumimoji="1" lang="en-US" altLang="zh-CN"/>
          </a:p>
          <a:p>
            <a:r>
              <a:rPr kumimoji="1" lang="en-US" altLang="zh-CN"/>
              <a:t>However, since s is common for all k, only few items of (13) can be fulfilled at the same time.</a:t>
            </a:r>
            <a:endParaRPr kumimoji="1" lang="en-US" altLang="zh-CN"/>
          </a:p>
          <a:p>
            <a:r>
              <a:rPr kumimoji="1" lang="en-US" altLang="zh-CN"/>
              <a:t>Therefore, we we approximate the problem by the minimizing the difference between sb_k and the iedal t_k for all k, we put forward the novel formula shown as this.</a:t>
            </a:r>
            <a:endParaRPr kumimoji="1" lang="en-US" altLang="zh-CN"/>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Then we consider how to solve the novel formula. The computationally efficient gradient descend projection (or GDP) can be applied here with the following process. </a:t>
            </a:r>
            <a:endParaRPr kumimoji="1" lang="en-US" altLang="zh-CN"/>
          </a:p>
          <a:p>
            <a:r>
              <a:rPr kumimoji="1" lang="en-US" altLang="zh-CN"/>
              <a:t>Because the cost function has Lipschitz continuous gradient, the convergence can be guaranteed. </a:t>
            </a:r>
            <a:endParaRPr kumimoji="1" lang="en-US" altLang="zh-CN"/>
          </a:p>
          <a:p>
            <a:r>
              <a:rPr kumimoji="1" lang="en-US" altLang="zh-CN"/>
              <a:t>And a better initial value is presented to speed up the convergence instead of using random initialization.</a:t>
            </a:r>
            <a:endParaRPr kumimoji="1" lang="en-US" altLang="zh-CN"/>
          </a:p>
          <a:p>
            <a:r>
              <a:rPr kumimoji="1" lang="en-US" altLang="zh-CN"/>
              <a:t>After designing the weights matrix Q, we fix it, and precoding matrix F can be updated by WMMSE as shown earlier until convergence. Then the DMA weights matrix Q and the precoding matrix F are alternatingly optimized until the objective function of sum-rate converges.</a:t>
            </a:r>
            <a:endParaRPr kumimoji="1" lang="en-US" altLang="zh-CN"/>
          </a:p>
          <a:p>
            <a:r>
              <a:rPr kumimoji="1" lang="en-US" altLang="zh-CN"/>
              <a:t>Finally, the proposed algorithm based on AO strategy is summarized on the right side.</a:t>
            </a:r>
            <a:endParaRPr kumimoji="1" lang="en-US" altLang="zh-CN"/>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However, we notice that the outer loop of AO incurs high complexity, so we explore how to reduce complexity. To avoid multiple times of convergence, decoupling optimization, or DO strategy can be adopted. We modified the </a:t>
            </a:r>
            <a:r>
              <a:rPr kumimoji="1" lang="en-US" altLang="zh-CN">
                <a:sym typeface="+mn-ea"/>
              </a:rPr>
              <a:t>cost function</a:t>
            </a:r>
            <a:r>
              <a:rPr kumimoji="1" lang="en-US" altLang="zh-CN"/>
              <a:t> so that it harvest array gains independent from the precoding matrix. With similar transformation, GDP method can also be employed to solve the weights matrix.  </a:t>
            </a:r>
            <a:endParaRPr kumimoji="1" lang="en-US" altLang="zh-CN"/>
          </a:p>
          <a:p>
            <a:r>
              <a:rPr kumimoji="1" lang="en-US" altLang="zh-CN"/>
              <a:t>When  Q is fixed, the precoding matrix is designed through the WMMSE method.</a:t>
            </a:r>
            <a:endParaRPr kumimoji="1" lang="en-US" altLang="zh-CN"/>
          </a:p>
          <a:p>
            <a:r>
              <a:rPr kumimoji="1" lang="en-US" altLang="zh-CN"/>
              <a:t>Finally, the proposed algorithm based on DO strategy is summarized here. </a:t>
            </a:r>
            <a:endParaRPr kumimoji="1" lang="en-US" altLang="zh-CN"/>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Now, we analyze the computational complexities. To optimize precoding matrix, the DO algorithm and AO algorithms all adopt WMMSE with complexity of O(R_WN_d^3K). </a:t>
            </a:r>
            <a:endParaRPr kumimoji="1" lang="en-US" altLang="zh-CN"/>
          </a:p>
          <a:p>
            <a:r>
              <a:rPr kumimoji="1" lang="en-US" altLang="zh-CN"/>
              <a:t>To optimize DMA weights matrix, the complexities of GDP in AO and DO are both given by O(R_G N K), while other schemes in AO have O(R_G N K^2) complexity cost, this is the main reason for the complexity reduction achieved in our work. When considering various HMIMO system, the computational complexities are shown here.</a:t>
            </a:r>
            <a:endParaRPr kumimoji="1" lang="en-US" altLang="zh-CN"/>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Finally, we compare the sum rate achieved by the proposed algorithms with other</a:t>
            </a:r>
            <a:endParaRPr kumimoji="1" lang="en-US" altLang="zh-CN"/>
          </a:p>
          <a:p>
            <a:r>
              <a:rPr kumimoji="1" lang="en-US" altLang="zh-CN"/>
              <a:t>algorithms. </a:t>
            </a:r>
            <a:endParaRPr kumimoji="1" lang="en-US" altLang="zh-CN"/>
          </a:p>
          <a:p>
            <a:r>
              <a:rPr kumimoji="1" lang="en-US" altLang="zh-CN"/>
              <a:t>We observe that the proposed algorithm based on AO always achieves higher sum rate with lower complexity. And the advantage is more obvious with larger DMA array size, characterized by the increasing number of microstrips. Even under high inter-user interference, the AO scheme still achieves better performance.</a:t>
            </a:r>
            <a:endParaRPr kumimoji="1" lang="en-US" altLang="zh-CN"/>
          </a:p>
          <a:p>
            <a:r>
              <a:rPr kumimoji="1" lang="en-US" altLang="zh-CN">
                <a:sym typeface="+mn-ea"/>
              </a:rPr>
              <a:t>Besides, the proposed algorithm based on DO achieves trade-off between performance and complexity.</a:t>
            </a:r>
            <a:endParaRPr kumimoji="1" lang="en-US" altLang="zh-CN"/>
          </a:p>
          <a:p>
            <a:endParaRPr kumimoji="1" lang="en-US" altLang="zh-CN"/>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In this paper we focus on DMA weights matrix design and precoding matrix design in AO and DO strategy to maximize sum rate in the downlink multi-user HMIMO system. Specifically, these two matrices can be alternatively designed in AO.</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Based on it, we propose novel problem formulation of the DMA weights matrix design to harvest array gain, which can be solved with reduced complexity. </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To achieve performance and complexity trade-off, an algorithm based on DO is also proposed, in which the DMA weights matrix is optimized independently from the precoding matrix. Finally, simulation results confirm the advantages of the proposed algorithms on</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That’s all for this presentation, thanks for your kind attention.</a:t>
            </a:r>
            <a:endParaRPr kumimoji="1" lang="en-US" altLang="zh-CN" dirty="0"/>
          </a:p>
        </p:txBody>
      </p:sp>
      <p:sp>
        <p:nvSpPr>
          <p:cNvPr id="4" name="灯片编号占位符 3"/>
          <p:cNvSpPr>
            <a:spLocks noGrp="1"/>
          </p:cNvSpPr>
          <p:nvPr>
            <p:ph type="sldNum" sz="quarter" idx="10"/>
          </p:nvPr>
        </p:nvSpPr>
        <p:spPr/>
        <p:txBody>
          <a:bodyPr/>
          <a:lstStyle/>
          <a:p>
            <a:fld id="{5AFA0B27-4EE5-6442-9424-7A0329C3AC2A}"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485899" y="3911071"/>
            <a:ext cx="9144000" cy="1113896"/>
          </a:xfrm>
        </p:spPr>
        <p:txBody>
          <a:bodyPr>
            <a:normAutofit/>
          </a:bodyPr>
          <a:lstStyle>
            <a:lvl1pPr marL="0" indent="0" algn="ctr">
              <a:buNone/>
              <a:defRPr sz="2000">
                <a:solidFill>
                  <a:schemeClr val="tx1"/>
                </a:solidFill>
                <a:latin typeface="Times New Roman" panose="02020603050405020304" charset="0"/>
                <a:ea typeface="Times New Roman" panose="02020603050405020304" charset="0"/>
                <a:sym typeface="Times New Roman" panose="0202060305040502030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z="1800" dirty="0">
                <a:latin typeface="Adobe 黑体 Std R" panose="020B0400000000000000" pitchFamily="34" charset="-128"/>
                <a:ea typeface="Adobe 黑体 Std R" panose="020B0400000000000000" pitchFamily="34" charset="-128"/>
              </a:rPr>
              <a:t>单击此处编辑母版作者信息样式</a:t>
            </a:r>
            <a:endParaRPr lang="en-US" altLang="zh-CN" sz="1800" dirty="0">
              <a:latin typeface="Adobe 黑体 Std R" panose="020B0400000000000000" pitchFamily="34" charset="-128"/>
              <a:ea typeface="Adobe 黑体 Std R" panose="020B0400000000000000" pitchFamily="34" charset="-128"/>
            </a:endParaRPr>
          </a:p>
          <a:p>
            <a:endParaRPr lang="zh-CN" altLang="en-US" sz="1800" dirty="0">
              <a:effectLst/>
              <a:latin typeface="Adobe 黑体 Std R" panose="020B0400000000000000" pitchFamily="34" charset="-128"/>
              <a:ea typeface="Adobe 黑体 Std R" panose="020B0400000000000000" pitchFamily="34" charset="-128"/>
            </a:endParaRPr>
          </a:p>
        </p:txBody>
      </p:sp>
      <p:sp>
        <p:nvSpPr>
          <p:cNvPr id="7" name="矩形 6"/>
          <p:cNvSpPr/>
          <p:nvPr userDrawn="1"/>
        </p:nvSpPr>
        <p:spPr>
          <a:xfrm>
            <a:off x="-635" y="815975"/>
            <a:ext cx="12193270" cy="2428875"/>
          </a:xfrm>
          <a:prstGeom prst="rect">
            <a:avLst/>
          </a:prstGeom>
          <a:solidFill>
            <a:srgbClr val="356115"/>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cs typeface="Times New Roman" panose="02020603050405020304" charset="0"/>
            </a:endParaRPr>
          </a:p>
        </p:txBody>
      </p:sp>
      <p:sp>
        <p:nvSpPr>
          <p:cNvPr id="2" name="标题 1"/>
          <p:cNvSpPr>
            <a:spLocks noGrp="1"/>
          </p:cNvSpPr>
          <p:nvPr>
            <p:ph type="ctrTitle"/>
          </p:nvPr>
        </p:nvSpPr>
        <p:spPr>
          <a:xfrm>
            <a:off x="1524000" y="1583623"/>
            <a:ext cx="9144000" cy="848376"/>
          </a:xfrm>
        </p:spPr>
        <p:txBody>
          <a:bodyPr anchor="ctr">
            <a:normAutofit/>
          </a:bodyPr>
          <a:lstStyle>
            <a:lvl1pPr algn="ctr">
              <a:defRPr sz="2800">
                <a:solidFill>
                  <a:srgbClr val="FFFFFF"/>
                </a:solidFill>
              </a:defRPr>
            </a:lvl1pPr>
          </a:lstStyle>
          <a:p>
            <a:r>
              <a:rPr kumimoji="1" lang="zh-CN" altLang="en-US" dirty="0"/>
              <a:t>单击此处编辑母版标题样式</a:t>
            </a:r>
            <a:endParaRPr kumimoji="1" lang="zh-CN" altLang="en-US" dirty="0"/>
          </a:p>
        </p:txBody>
      </p:sp>
      <p:sp>
        <p:nvSpPr>
          <p:cNvPr id="4" name="文本框 3"/>
          <p:cNvSpPr txBox="1"/>
          <p:nvPr userDrawn="1"/>
        </p:nvSpPr>
        <p:spPr>
          <a:xfrm>
            <a:off x="6033135" y="6714490"/>
            <a:ext cx="4064000" cy="914400"/>
          </a:xfrm>
          <a:prstGeom prst="rect">
            <a:avLst/>
          </a:prstGeom>
        </p:spPr>
        <p:txBody>
          <a:bodyPr vert="horz" wrap="square" lIns="91440" tIns="45720" rIns="91440" bIns="45720" rtlCol="0" anchor="ctr">
            <a:normAutofit/>
          </a:bodyPr>
          <a:p>
            <a:pPr algn="l"/>
            <a:endParaRPr kumimoji="1" lang="zh-CN" altLang="en-US" dirty="0">
              <a:cs typeface="Times New Roman" panose="02020603050405020304" charset="0"/>
            </a:endParaRPr>
          </a:p>
        </p:txBody>
      </p:sp>
      <p:sp>
        <p:nvSpPr>
          <p:cNvPr id="9" name="文本框 8"/>
          <p:cNvSpPr txBox="1"/>
          <p:nvPr userDrawn="1"/>
        </p:nvSpPr>
        <p:spPr>
          <a:xfrm>
            <a:off x="2127250" y="6699250"/>
            <a:ext cx="4064000" cy="914400"/>
          </a:xfrm>
          <a:prstGeom prst="rect">
            <a:avLst/>
          </a:prstGeom>
        </p:spPr>
        <p:txBody>
          <a:bodyPr vert="horz" wrap="square" lIns="91440" tIns="45720" rIns="91440" bIns="45720" rtlCol="0" anchor="ctr">
            <a:normAutofit/>
          </a:bodyPr>
          <a:p>
            <a:pPr algn="l"/>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1117600" y="6356350"/>
            <a:ext cx="3657600" cy="365125"/>
          </a:xfrm>
        </p:spPr>
        <p:txBody>
          <a:bodyPr/>
          <a:lstStyle>
            <a:lvl1pPr>
              <a:defRPr>
                <a:cs typeface="Times New Roman" panose="02020603050405020304" charset="0"/>
              </a:defRPr>
            </a:lvl1p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5384800" y="6356350"/>
            <a:ext cx="5486400" cy="365125"/>
          </a:xfrm>
        </p:spPr>
        <p:txBody>
          <a:bodyPr/>
          <a:lstStyle>
            <a:lvl1pPr>
              <a:defRPr>
                <a:cs typeface="Times New Roman" panose="02020603050405020304" charset="0"/>
              </a:defRPr>
            </a:lvl1pPr>
          </a:lstStyle>
          <a:p>
            <a:endParaRPr lang="zh-CN" altLang="en-US"/>
          </a:p>
        </p:txBody>
      </p:sp>
      <p:sp>
        <p:nvSpPr>
          <p:cNvPr id="5" name="灯片编号占位符 4"/>
          <p:cNvSpPr>
            <a:spLocks noGrp="1"/>
          </p:cNvSpPr>
          <p:nvPr>
            <p:ph type="sldNum" sz="quarter" idx="12"/>
          </p:nvPr>
        </p:nvSpPr>
        <p:spPr>
          <a:xfrm>
            <a:off x="11480800" y="6356350"/>
            <a:ext cx="3657600" cy="365125"/>
          </a:xfrm>
        </p:spPr>
        <p:txBody>
          <a:bodyPr/>
          <a:lstStyle>
            <a:lvl1pPr>
              <a:defRPr>
                <a:cs typeface="Times New Roman" panose="02020603050405020304" charset="0"/>
              </a:defRPr>
            </a:lvl1p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Times New Roman" panose="02020603050405020304" charset="0"/>
            </a:endParaRPr>
          </a:p>
        </p:txBody>
      </p:sp>
      <p:sp>
        <p:nvSpPr>
          <p:cNvPr id="2"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
        <p:nvSpPr>
          <p:cNvPr id="6" name="内容占位符 2"/>
          <p:cNvSpPr>
            <a:spLocks noGrp="1"/>
          </p:cNvSpPr>
          <p:nvPr>
            <p:ph idx="1" hasCustomPrompt="1"/>
          </p:nvPr>
        </p:nvSpPr>
        <p:spPr>
          <a:xfrm>
            <a:off x="838200" y="1205345"/>
            <a:ext cx="10515600" cy="4971618"/>
          </a:xfrm>
        </p:spPr>
        <p:txBody>
          <a:bodyPr/>
          <a:lstStyle>
            <a:lvl1pPr marL="273050" indent="-273050">
              <a:buClr>
                <a:srgbClr val="356115"/>
              </a:buClr>
              <a:buFont typeface="Arial" panose="020B0604020202020204" pitchFamily="34" charset="0"/>
              <a:buChar char="•"/>
              <a:defRPr/>
            </a:lvl1pPr>
          </a:lstStyle>
          <a:p>
            <a:r>
              <a:rPr kumimoji="1" lang="zh-CN" altLang="en-US" dirty="0"/>
              <a:t>编辑母版文本样式
第二级
第三级
第四级
第五级</a:t>
            </a:r>
            <a:endParaRPr kumimoji="1" lang="en-US" altLang="zh-CN" dirty="0"/>
          </a:p>
          <a:p>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4500"/>
            </a:lvl1pPr>
          </a:lstStyle>
          <a:p>
            <a:r>
              <a:rPr kumimoji="1" lang="zh-CN" altLang="en-US"/>
              <a:t>单击此处编辑母版标题样式</a:t>
            </a:r>
            <a:endParaRPr kumimoji="1" lang="zh-CN" altLang="en-US"/>
          </a:p>
        </p:txBody>
      </p:sp>
      <p:sp>
        <p:nvSpPr>
          <p:cNvPr id="3" name="文本占位符 2"/>
          <p:cNvSpPr>
            <a:spLocks noGrp="1"/>
          </p:cNvSpPr>
          <p:nvPr>
            <p:ph type="body" idx="1" hasCustomPrompt="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kumimoji="1" lang="zh-CN" altLang="en-US"/>
              <a:t>编辑母版文本样式
第二级
第三级
第四级
第五级</a:t>
            </a:r>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B2006"/>
              </a:solidFill>
              <a:cs typeface="Times New Roman" panose="02020603050405020304" charset="0"/>
            </a:endParaRPr>
          </a:p>
        </p:txBody>
      </p:sp>
      <p:sp>
        <p:nvSpPr>
          <p:cNvPr id="3" name="内容占位符 2"/>
          <p:cNvSpPr>
            <a:spLocks noGrp="1"/>
          </p:cNvSpPr>
          <p:nvPr>
            <p:ph sz="half" idx="1" hasCustomPrompt="1"/>
          </p:nvPr>
        </p:nvSpPr>
        <p:spPr>
          <a:xfrm>
            <a:off x="838200" y="1126067"/>
            <a:ext cx="51816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r>
              <a:rPr kumimoji="1" lang="zh-CN" altLang="en-US" dirty="0"/>
              <a:t>编辑母版文本样式
第二级
第三级
第四级
第五级</a:t>
            </a:r>
            <a:endParaRPr kumimoji="1" lang="en-US" altLang="zh-CN" dirty="0"/>
          </a:p>
          <a:p>
            <a:pPr marL="273050" lvl="0" indent="-273050"/>
            <a:endParaRPr kumimoji="1" lang="zh-CN" altLang="en-US" dirty="0"/>
          </a:p>
        </p:txBody>
      </p:sp>
      <p:sp>
        <p:nvSpPr>
          <p:cNvPr id="4" name="内容占位符 3"/>
          <p:cNvSpPr>
            <a:spLocks noGrp="1"/>
          </p:cNvSpPr>
          <p:nvPr>
            <p:ph sz="half" idx="2" hasCustomPrompt="1"/>
          </p:nvPr>
        </p:nvSpPr>
        <p:spPr>
          <a:xfrm>
            <a:off x="6172200" y="1126067"/>
            <a:ext cx="51816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r>
              <a:rPr kumimoji="1" lang="zh-CN" altLang="en-US" dirty="0"/>
              <a:t>编辑母版文本样式
第二级
第三级
第四级
第五级</a:t>
            </a:r>
            <a:endParaRPr kumimoji="1" lang="en-US" altLang="zh-CN" dirty="0"/>
          </a:p>
          <a:p>
            <a:pPr marL="273050" lvl="0" indent="-273050"/>
            <a:endParaRPr kumimoji="1" lang="zh-CN" altLang="en-US" dirty="0"/>
          </a:p>
        </p:txBody>
      </p:sp>
      <p:sp>
        <p:nvSpPr>
          <p:cNvPr id="10"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矩形 6"/>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3037AB"/>
              </a:solidFill>
              <a:cs typeface="Times New Roman" panose="02020603050405020304" charset="0"/>
            </a:endParaRPr>
          </a:p>
        </p:txBody>
      </p:sp>
      <p:sp>
        <p:nvSpPr>
          <p:cNvPr id="3" name="文本占位符 2"/>
          <p:cNvSpPr>
            <a:spLocks noGrp="1"/>
          </p:cNvSpPr>
          <p:nvPr>
            <p:ph type="body" idx="1" hasCustomPrompt="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kumimoji="1" lang="zh-CN" altLang="en-US"/>
              <a:t>编辑母版文本样式
第二级
第三级
第四级
第五级</a:t>
            </a:r>
            <a:endParaRPr kumimoji="1" lang="zh-CN" altLang="en-US"/>
          </a:p>
        </p:txBody>
      </p:sp>
      <p:sp>
        <p:nvSpPr>
          <p:cNvPr id="4" name="内容占位符 3"/>
          <p:cNvSpPr>
            <a:spLocks noGrp="1"/>
          </p:cNvSpPr>
          <p:nvPr>
            <p:ph sz="half" idx="2" hasCustomPrompt="1"/>
          </p:nvPr>
        </p:nvSpPr>
        <p:spPr>
          <a:xfrm>
            <a:off x="839789" y="2505075"/>
            <a:ext cx="5157787"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dirty="0"/>
            </a:lvl1pPr>
          </a:lstStyle>
          <a:p>
            <a:pPr marL="273050" lvl="0" indent="-273050"/>
            <a:r>
              <a:rPr kumimoji="1" lang="zh-CN" altLang="en-US" dirty="0"/>
              <a:t>编辑母版文本样式
第二级
第三级
第四级
第五级</a:t>
            </a:r>
            <a:endParaRPr kumimoji="1" lang="zh-CN" altLang="en-US" dirty="0"/>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kumimoji="1" lang="zh-CN" altLang="en-US"/>
              <a:t>编辑母版文本样式
第二级
第三级
第四级
第五级</a:t>
            </a:r>
            <a:endParaRPr kumimoji="1" lang="zh-CN" altLang="en-US"/>
          </a:p>
        </p:txBody>
      </p:sp>
      <p:sp>
        <p:nvSpPr>
          <p:cNvPr id="6" name="内容占位符 5"/>
          <p:cNvSpPr>
            <a:spLocks noGrp="1"/>
          </p:cNvSpPr>
          <p:nvPr>
            <p:ph sz="quarter" idx="4" hasCustomPrompt="1"/>
          </p:nvPr>
        </p:nvSpPr>
        <p:spPr>
          <a:xfrm>
            <a:off x="6172200" y="2505075"/>
            <a:ext cx="5183188"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r>
              <a:rPr kumimoji="1" lang="zh-CN" altLang="en-US" dirty="0"/>
              <a:t>编辑母版文本样式
第二级
第三级
第四级
第五级</a:t>
            </a:r>
            <a:endParaRPr kumimoji="1" lang="zh-CN" altLang="en-US" dirty="0"/>
          </a:p>
        </p:txBody>
      </p:sp>
      <p:sp>
        <p:nvSpPr>
          <p:cNvPr id="9"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矩形 2"/>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Times New Roman" panose="02020603050405020304" charset="0"/>
            </a:endParaRPr>
          </a:p>
        </p:txBody>
      </p:sp>
      <p:sp>
        <p:nvSpPr>
          <p:cNvPr id="5"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kumimoji="1" lang="zh-CN" altLang="en-US"/>
              <a:t>单击此处编辑母版标题样式</a:t>
            </a:r>
            <a:endParaRPr kumimoji="1" lang="zh-CN" altLang="en-US"/>
          </a:p>
        </p:txBody>
      </p:sp>
      <p:sp>
        <p:nvSpPr>
          <p:cNvPr id="3" name="内容占位符 2"/>
          <p:cNvSpPr>
            <a:spLocks noGrp="1"/>
          </p:cNvSpPr>
          <p:nvPr>
            <p:ph idx="1" hasCustomPrompt="1"/>
          </p:nvPr>
        </p:nvSpPr>
        <p:spPr>
          <a:xfrm>
            <a:off x="5183188" y="987426"/>
            <a:ext cx="6172200" cy="4873625"/>
          </a:xfrm>
        </p:spPr>
        <p:txBody>
          <a:bodyPr/>
          <a:lstStyle>
            <a:lvl1pPr marL="342900" indent="-342900">
              <a:buFont typeface="Arial" panose="020B0604020202020204" pitchFamily="34" charset="0"/>
              <a:buChar cha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r>
              <a:rPr kumimoji="1" lang="zh-CN" altLang="en-US" dirty="0"/>
              <a:t>编辑母版文本样式
第二级
第三级
第四级
第五级</a:t>
            </a:r>
            <a:endParaRPr kumimoji="1" lang="zh-CN" altLang="en-US" dirty="0"/>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kumimoji="1" lang="zh-CN" altLang="en-US"/>
              <a:t>编辑母版文本样式
第二级
第三级
第四级
第五级</a:t>
            </a:r>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kumimoji="1" lang="zh-CN" altLang="en-US"/>
              <a:t>编辑母版文本样式
第二级
第三级
第四级
第五级</a:t>
            </a:r>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竖排文字占位符 2"/>
          <p:cNvSpPr>
            <a:spLocks noGrp="1"/>
          </p:cNvSpPr>
          <p:nvPr>
            <p:ph type="body" orient="vert" idx="1" hasCustomPrompt="1"/>
          </p:nvPr>
        </p:nvSpPr>
        <p:spPr>
          <a:xfrm>
            <a:off x="838200" y="1193800"/>
            <a:ext cx="10515600" cy="4983163"/>
          </a:xfrm>
        </p:spPr>
        <p:txBody>
          <a:bodyPr vert="eaVert"/>
          <a:lstStyle>
            <a:lvl1pPr marL="273050" indent="-273050">
              <a:buFont typeface="Arial" panose="020B0604020202020204" pitchFamily="34" charset="0"/>
              <a:buChar char="•"/>
              <a:defRPr/>
            </a:lvl1pPr>
          </a:lstStyle>
          <a:p>
            <a:r>
              <a:rPr kumimoji="1" lang="zh-CN" altLang="en-US"/>
              <a:t>编辑母版文本样式
第二级
第三级
第四级
第五级</a:t>
            </a:r>
            <a:endParaRPr kumimoji="1" lang="zh-CN" altLang="en-US"/>
          </a:p>
        </p:txBody>
      </p:sp>
      <p:sp>
        <p:nvSpPr>
          <p:cNvPr id="4" name="矩形 3"/>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Times New Roman" panose="02020603050405020304" charset="0"/>
            </a:endParaRPr>
          </a:p>
        </p:txBody>
      </p:sp>
      <p:sp>
        <p:nvSpPr>
          <p:cNvPr id="6"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lvl1pPr marL="273050" indent="-273050">
              <a:buFont typeface="Arial" panose="020B0604020202020204" pitchFamily="34" charset="0"/>
              <a:buChar char="•"/>
              <a:defRPr/>
            </a:lvl1pPr>
          </a:lstStyle>
          <a:p>
            <a:r>
              <a:rPr kumimoji="1" lang="zh-CN" altLang="en-US"/>
              <a:t>编辑母版文本样式
第二级
第三级
第四级
第五级</a:t>
            </a:r>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485899" y="3911071"/>
            <a:ext cx="9144000" cy="1113896"/>
          </a:xfrm>
        </p:spPr>
        <p:txBody>
          <a:bodyPr>
            <a:normAutofit/>
          </a:bodyPr>
          <a:lstStyle>
            <a:lvl1pPr marL="0" indent="0" algn="ctr">
              <a:buNone/>
              <a:defRPr sz="2000">
                <a:solidFill>
                  <a:schemeClr val="tx1"/>
                </a:solidFill>
                <a:latin typeface="Times New Roman" panose="02020603050405020304" charset="0"/>
                <a:ea typeface="Times New Roman" panose="02020603050405020304" charset="0"/>
                <a:sym typeface="Times New Roman" panose="0202060305040502030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z="1800" dirty="0">
                <a:latin typeface="Adobe 黑体 Std R" panose="020B0400000000000000" pitchFamily="34" charset="-128"/>
                <a:ea typeface="Adobe 黑体 Std R" panose="020B0400000000000000" pitchFamily="34" charset="-128"/>
              </a:rPr>
              <a:t>单击此处编辑母版作者信息样式</a:t>
            </a:r>
            <a:endParaRPr lang="en-US" altLang="zh-CN" sz="1800" dirty="0">
              <a:latin typeface="Adobe 黑体 Std R" panose="020B0400000000000000" pitchFamily="34" charset="-128"/>
              <a:ea typeface="Adobe 黑体 Std R" panose="020B0400000000000000" pitchFamily="34" charset="-128"/>
            </a:endParaRPr>
          </a:p>
          <a:p>
            <a:endParaRPr lang="zh-CN" altLang="en-US" sz="1800" dirty="0">
              <a:effectLst/>
              <a:latin typeface="Adobe 黑体 Std R" panose="020B0400000000000000" pitchFamily="34" charset="-128"/>
              <a:ea typeface="Adobe 黑体 Std R" panose="020B0400000000000000" pitchFamily="34" charset="-128"/>
            </a:endParaRPr>
          </a:p>
        </p:txBody>
      </p:sp>
      <p:sp>
        <p:nvSpPr>
          <p:cNvPr id="7" name="矩形 6"/>
          <p:cNvSpPr/>
          <p:nvPr userDrawn="1"/>
        </p:nvSpPr>
        <p:spPr>
          <a:xfrm>
            <a:off x="-635" y="815975"/>
            <a:ext cx="12193270" cy="2428875"/>
          </a:xfrm>
          <a:prstGeom prst="rect">
            <a:avLst/>
          </a:prstGeom>
          <a:solidFill>
            <a:srgbClr val="356115"/>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cs typeface="Times New Roman" panose="02020603050405020304" charset="0"/>
            </a:endParaRPr>
          </a:p>
        </p:txBody>
      </p:sp>
      <p:sp>
        <p:nvSpPr>
          <p:cNvPr id="2" name="标题 1"/>
          <p:cNvSpPr>
            <a:spLocks noGrp="1"/>
          </p:cNvSpPr>
          <p:nvPr>
            <p:ph type="ctrTitle"/>
          </p:nvPr>
        </p:nvSpPr>
        <p:spPr>
          <a:xfrm>
            <a:off x="1524000" y="1583623"/>
            <a:ext cx="9144000" cy="848376"/>
          </a:xfrm>
        </p:spPr>
        <p:txBody>
          <a:bodyPr anchor="ctr">
            <a:normAutofit/>
          </a:bodyPr>
          <a:lstStyle>
            <a:lvl1pPr algn="ctr">
              <a:defRPr sz="2800">
                <a:solidFill>
                  <a:srgbClr val="FFFFFF"/>
                </a:solidFill>
              </a:defRPr>
            </a:lvl1pPr>
          </a:lstStyle>
          <a:p>
            <a:r>
              <a:rPr kumimoji="1" lang="zh-CN" altLang="en-US" dirty="0"/>
              <a:t>单击此处编辑母版标题样式</a:t>
            </a:r>
            <a:endParaRPr kumimoji="1" lang="zh-CN" altLang="en-US" dirty="0"/>
          </a:p>
        </p:txBody>
      </p:sp>
      <p:sp>
        <p:nvSpPr>
          <p:cNvPr id="4" name="文本框 3"/>
          <p:cNvSpPr txBox="1"/>
          <p:nvPr userDrawn="1"/>
        </p:nvSpPr>
        <p:spPr>
          <a:xfrm>
            <a:off x="6033135" y="6714490"/>
            <a:ext cx="4064000" cy="914400"/>
          </a:xfrm>
          <a:prstGeom prst="rect">
            <a:avLst/>
          </a:prstGeom>
        </p:spPr>
        <p:txBody>
          <a:bodyPr vert="horz" wrap="square" lIns="91440" tIns="45720" rIns="91440" bIns="45720" rtlCol="0" anchor="ctr">
            <a:normAutofit/>
          </a:bodyPr>
          <a:p>
            <a:pPr algn="l"/>
            <a:endParaRPr kumimoji="1" lang="zh-CN" altLang="en-US" dirty="0">
              <a:cs typeface="Times New Roman" panose="02020603050405020304" charset="0"/>
            </a:endParaRPr>
          </a:p>
        </p:txBody>
      </p:sp>
      <p:sp>
        <p:nvSpPr>
          <p:cNvPr id="9" name="文本框 8"/>
          <p:cNvSpPr txBox="1"/>
          <p:nvPr userDrawn="1"/>
        </p:nvSpPr>
        <p:spPr>
          <a:xfrm>
            <a:off x="2127250" y="6699250"/>
            <a:ext cx="4064000" cy="914400"/>
          </a:xfrm>
          <a:prstGeom prst="rect">
            <a:avLst/>
          </a:prstGeom>
        </p:spPr>
        <p:txBody>
          <a:bodyPr vert="horz" wrap="square" lIns="91440" tIns="45720" rIns="91440" bIns="45720" rtlCol="0" anchor="ctr">
            <a:normAutofit/>
          </a:bodyPr>
          <a:p>
            <a:pPr algn="l"/>
            <a:endParaRPr kumimoji="1"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1117600" y="6356350"/>
            <a:ext cx="3657600" cy="365125"/>
          </a:xfrm>
        </p:spPr>
        <p:txBody>
          <a:bodyPr/>
          <a:lstStyle>
            <a:lvl1pPr>
              <a:defRPr>
                <a:cs typeface="Times New Roman" panose="02020603050405020304" charset="0"/>
              </a:defRPr>
            </a:lvl1p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5384800" y="6356350"/>
            <a:ext cx="5486400" cy="365125"/>
          </a:xfrm>
        </p:spPr>
        <p:txBody>
          <a:bodyPr/>
          <a:lstStyle>
            <a:lvl1pPr>
              <a:defRPr>
                <a:cs typeface="Times New Roman" panose="02020603050405020304" charset="0"/>
              </a:defRPr>
            </a:lvl1pPr>
          </a:lstStyle>
          <a:p>
            <a:endParaRPr lang="zh-CN" altLang="en-US"/>
          </a:p>
        </p:txBody>
      </p:sp>
      <p:sp>
        <p:nvSpPr>
          <p:cNvPr id="5" name="灯片编号占位符 4"/>
          <p:cNvSpPr>
            <a:spLocks noGrp="1"/>
          </p:cNvSpPr>
          <p:nvPr>
            <p:ph type="sldNum" sz="quarter" idx="12"/>
          </p:nvPr>
        </p:nvSpPr>
        <p:spPr>
          <a:xfrm>
            <a:off x="11480800" y="6356350"/>
            <a:ext cx="3657600" cy="365125"/>
          </a:xfrm>
        </p:spPr>
        <p:txBody>
          <a:bodyPr/>
          <a:lstStyle>
            <a:lvl1pPr>
              <a:defRPr>
                <a:cs typeface="Times New Roman" panose="02020603050405020304" charset="0"/>
              </a:defRPr>
            </a:lvl1pPr>
          </a:lstStyle>
          <a:p>
            <a:fld id="{E077DA78-E013-4A8C-AD75-63A150561B1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Times New Roman" panose="02020603050405020304" charset="0"/>
            </a:endParaRPr>
          </a:p>
        </p:txBody>
      </p:sp>
      <p:sp>
        <p:nvSpPr>
          <p:cNvPr id="2"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
        <p:nvSpPr>
          <p:cNvPr id="6" name="内容占位符 2"/>
          <p:cNvSpPr>
            <a:spLocks noGrp="1"/>
          </p:cNvSpPr>
          <p:nvPr>
            <p:ph idx="1" hasCustomPrompt="1"/>
          </p:nvPr>
        </p:nvSpPr>
        <p:spPr>
          <a:xfrm>
            <a:off x="838200" y="1205345"/>
            <a:ext cx="10515600" cy="4971618"/>
          </a:xfrm>
        </p:spPr>
        <p:txBody>
          <a:bodyPr/>
          <a:lstStyle>
            <a:lvl1pPr marL="273050" indent="-273050">
              <a:buClr>
                <a:srgbClr val="356115"/>
              </a:buClr>
              <a:buFont typeface="Arial" panose="020B0604020202020204" pitchFamily="34" charset="0"/>
              <a:buChar char="•"/>
              <a:defRPr/>
            </a:lvl1pPr>
          </a:lstStyle>
          <a:p>
            <a:r>
              <a:rPr kumimoji="1" lang="zh-CN" altLang="en-US" dirty="0"/>
              <a:t>编辑母版文本样式
第二级
第三级
第四级
第五级</a:t>
            </a:r>
            <a:endParaRPr kumimoji="1" lang="en-US" altLang="zh-CN" dirty="0"/>
          </a:p>
          <a:p>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4500"/>
            </a:lvl1pPr>
          </a:lstStyle>
          <a:p>
            <a:r>
              <a:rPr kumimoji="1" lang="zh-CN" altLang="en-US"/>
              <a:t>单击此处编辑母版标题样式</a:t>
            </a:r>
            <a:endParaRPr kumimoji="1" lang="zh-CN" altLang="en-US"/>
          </a:p>
        </p:txBody>
      </p:sp>
      <p:sp>
        <p:nvSpPr>
          <p:cNvPr id="3" name="文本占位符 2"/>
          <p:cNvSpPr>
            <a:spLocks noGrp="1"/>
          </p:cNvSpPr>
          <p:nvPr>
            <p:ph type="body" idx="1" hasCustomPrompt="1"/>
          </p:nvPr>
        </p:nvSpPr>
        <p:spPr>
          <a:xfrm>
            <a:off x="831851" y="4589464"/>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kumimoji="1" lang="zh-CN" altLang="en-US"/>
              <a:t>编辑母版文本样式
第二级
第三级
第四级
第五级</a:t>
            </a:r>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B2006"/>
              </a:solidFill>
              <a:cs typeface="Times New Roman" panose="02020603050405020304" charset="0"/>
            </a:endParaRPr>
          </a:p>
        </p:txBody>
      </p:sp>
      <p:sp>
        <p:nvSpPr>
          <p:cNvPr id="3" name="内容占位符 2"/>
          <p:cNvSpPr>
            <a:spLocks noGrp="1"/>
          </p:cNvSpPr>
          <p:nvPr>
            <p:ph sz="half" idx="1" hasCustomPrompt="1"/>
          </p:nvPr>
        </p:nvSpPr>
        <p:spPr>
          <a:xfrm>
            <a:off x="838200" y="1126067"/>
            <a:ext cx="51816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r>
              <a:rPr kumimoji="1" lang="zh-CN" altLang="en-US" dirty="0"/>
              <a:t>编辑母版文本样式
第二级
第三级
第四级
第五级</a:t>
            </a:r>
            <a:endParaRPr kumimoji="1" lang="en-US" altLang="zh-CN" dirty="0"/>
          </a:p>
          <a:p>
            <a:pPr marL="273050" lvl="0" indent="-273050"/>
            <a:endParaRPr kumimoji="1" lang="zh-CN" altLang="en-US" dirty="0"/>
          </a:p>
        </p:txBody>
      </p:sp>
      <p:sp>
        <p:nvSpPr>
          <p:cNvPr id="4" name="内容占位符 3"/>
          <p:cNvSpPr>
            <a:spLocks noGrp="1"/>
          </p:cNvSpPr>
          <p:nvPr>
            <p:ph sz="half" idx="2" hasCustomPrompt="1"/>
          </p:nvPr>
        </p:nvSpPr>
        <p:spPr>
          <a:xfrm>
            <a:off x="6172200" y="1126067"/>
            <a:ext cx="51816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r>
              <a:rPr kumimoji="1" lang="zh-CN" altLang="en-US" dirty="0"/>
              <a:t>编辑母版文本样式
第二级
第三级
第四级
第五级</a:t>
            </a:r>
            <a:endParaRPr kumimoji="1" lang="en-US" altLang="zh-CN" dirty="0"/>
          </a:p>
          <a:p>
            <a:pPr marL="273050" lvl="0" indent="-273050"/>
            <a:endParaRPr kumimoji="1" lang="zh-CN" altLang="en-US" dirty="0"/>
          </a:p>
        </p:txBody>
      </p:sp>
      <p:sp>
        <p:nvSpPr>
          <p:cNvPr id="10"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矩形 6"/>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3037AB"/>
              </a:solidFill>
              <a:cs typeface="Times New Roman" panose="02020603050405020304" charset="0"/>
            </a:endParaRPr>
          </a:p>
        </p:txBody>
      </p:sp>
      <p:sp>
        <p:nvSpPr>
          <p:cNvPr id="3" name="文本占位符 2"/>
          <p:cNvSpPr>
            <a:spLocks noGrp="1"/>
          </p:cNvSpPr>
          <p:nvPr>
            <p:ph type="body" idx="1" hasCustomPrompt="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kumimoji="1" lang="zh-CN" altLang="en-US"/>
              <a:t>编辑母版文本样式
第二级
第三级
第四级
第五级</a:t>
            </a:r>
            <a:endParaRPr kumimoji="1" lang="zh-CN" altLang="en-US"/>
          </a:p>
        </p:txBody>
      </p:sp>
      <p:sp>
        <p:nvSpPr>
          <p:cNvPr id="4" name="内容占位符 3"/>
          <p:cNvSpPr>
            <a:spLocks noGrp="1"/>
          </p:cNvSpPr>
          <p:nvPr>
            <p:ph sz="half" idx="2" hasCustomPrompt="1"/>
          </p:nvPr>
        </p:nvSpPr>
        <p:spPr>
          <a:xfrm>
            <a:off x="839789" y="2505075"/>
            <a:ext cx="5157787"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dirty="0"/>
            </a:lvl1pPr>
          </a:lstStyle>
          <a:p>
            <a:pPr marL="273050" lvl="0" indent="-273050"/>
            <a:r>
              <a:rPr kumimoji="1" lang="zh-CN" altLang="en-US" dirty="0"/>
              <a:t>编辑母版文本样式
第二级
第三级
第四级
第五级</a:t>
            </a:r>
            <a:endParaRPr kumimoji="1" lang="zh-CN" altLang="en-US" dirty="0"/>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kumimoji="1" lang="zh-CN" altLang="en-US"/>
              <a:t>编辑母版文本样式
第二级
第三级
第四级
第五级</a:t>
            </a:r>
            <a:endParaRPr kumimoji="1" lang="zh-CN" altLang="en-US"/>
          </a:p>
        </p:txBody>
      </p:sp>
      <p:sp>
        <p:nvSpPr>
          <p:cNvPr id="6" name="内容占位符 5"/>
          <p:cNvSpPr>
            <a:spLocks noGrp="1"/>
          </p:cNvSpPr>
          <p:nvPr>
            <p:ph sz="quarter" idx="4" hasCustomPrompt="1"/>
          </p:nvPr>
        </p:nvSpPr>
        <p:spPr>
          <a:xfrm>
            <a:off x="6172200" y="2505075"/>
            <a:ext cx="5183188"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r>
              <a:rPr kumimoji="1" lang="zh-CN" altLang="en-US" dirty="0"/>
              <a:t>编辑母版文本样式
第二级
第三级
第四级
第五级</a:t>
            </a:r>
            <a:endParaRPr kumimoji="1" lang="zh-CN" altLang="en-US" dirty="0"/>
          </a:p>
        </p:txBody>
      </p:sp>
      <p:sp>
        <p:nvSpPr>
          <p:cNvPr id="9"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矩形 2"/>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Times New Roman" panose="02020603050405020304" charset="0"/>
            </a:endParaRPr>
          </a:p>
        </p:txBody>
      </p:sp>
      <p:sp>
        <p:nvSpPr>
          <p:cNvPr id="5"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kumimoji="1" lang="zh-CN" altLang="en-US"/>
              <a:t>单击此处编辑母版标题样式</a:t>
            </a:r>
            <a:endParaRPr kumimoji="1" lang="zh-CN" altLang="en-US"/>
          </a:p>
        </p:txBody>
      </p:sp>
      <p:sp>
        <p:nvSpPr>
          <p:cNvPr id="3" name="内容占位符 2"/>
          <p:cNvSpPr>
            <a:spLocks noGrp="1"/>
          </p:cNvSpPr>
          <p:nvPr>
            <p:ph idx="1" hasCustomPrompt="1"/>
          </p:nvPr>
        </p:nvSpPr>
        <p:spPr>
          <a:xfrm>
            <a:off x="5183188" y="987426"/>
            <a:ext cx="6172200" cy="4873625"/>
          </a:xfrm>
        </p:spPr>
        <p:txBody>
          <a:bodyPr/>
          <a:lstStyle>
            <a:lvl1pPr marL="342900" indent="-342900">
              <a:buFont typeface="Arial" panose="020B0604020202020204" pitchFamily="34" charset="0"/>
              <a:buChar cha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r>
              <a:rPr kumimoji="1" lang="zh-CN" altLang="en-US" dirty="0"/>
              <a:t>编辑母版文本样式
第二级
第三级
第四级
第五级</a:t>
            </a:r>
            <a:endParaRPr kumimoji="1" lang="zh-CN" altLang="en-US" dirty="0"/>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kumimoji="1" lang="zh-CN" altLang="en-US"/>
              <a:t>编辑母版文本样式
第二级
第三级
第四级
第五级</a:t>
            </a:r>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kumimoji="1" lang="zh-CN" altLang="en-US"/>
              <a:t>编辑母版文本样式
第二级
第三级
第四级
第五级</a:t>
            </a:r>
            <a:endParaRPr kumimoji="1"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竖排文字占位符 2"/>
          <p:cNvSpPr>
            <a:spLocks noGrp="1"/>
          </p:cNvSpPr>
          <p:nvPr>
            <p:ph type="body" orient="vert" idx="1" hasCustomPrompt="1"/>
          </p:nvPr>
        </p:nvSpPr>
        <p:spPr>
          <a:xfrm>
            <a:off x="838200" y="1193800"/>
            <a:ext cx="10515600" cy="4983163"/>
          </a:xfrm>
        </p:spPr>
        <p:txBody>
          <a:bodyPr vert="eaVert"/>
          <a:lstStyle>
            <a:lvl1pPr marL="273050" indent="-273050">
              <a:buFont typeface="Arial" panose="020B0604020202020204" pitchFamily="34" charset="0"/>
              <a:buChar char="•"/>
              <a:defRPr/>
            </a:lvl1pPr>
          </a:lstStyle>
          <a:p>
            <a:r>
              <a:rPr kumimoji="1" lang="zh-CN" altLang="en-US"/>
              <a:t>编辑母版文本样式
第二级
第三级
第四级
第五级</a:t>
            </a:r>
            <a:endParaRPr kumimoji="1" lang="zh-CN" altLang="en-US"/>
          </a:p>
        </p:txBody>
      </p:sp>
      <p:sp>
        <p:nvSpPr>
          <p:cNvPr id="4" name="矩形 3"/>
          <p:cNvSpPr/>
          <p:nvPr userDrawn="1"/>
        </p:nvSpPr>
        <p:spPr>
          <a:xfrm>
            <a:off x="0" y="0"/>
            <a:ext cx="12192000" cy="942109"/>
          </a:xfrm>
          <a:prstGeom prst="rect">
            <a:avLst/>
          </a:prstGeom>
          <a:solidFill>
            <a:srgbClr val="356115"/>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Times New Roman" panose="02020603050405020304" charset="0"/>
            </a:endParaRPr>
          </a:p>
        </p:txBody>
      </p:sp>
      <p:sp>
        <p:nvSpPr>
          <p:cNvPr id="6" name="标题 1"/>
          <p:cNvSpPr>
            <a:spLocks noGrp="1"/>
          </p:cNvSpPr>
          <p:nvPr>
            <p:ph type="title"/>
          </p:nvPr>
        </p:nvSpPr>
        <p:spPr>
          <a:xfrm>
            <a:off x="838200" y="48490"/>
            <a:ext cx="10515600" cy="845127"/>
          </a:xfrm>
        </p:spPr>
        <p:txBody>
          <a:bodyPr>
            <a:normAutofit/>
          </a:bodyPr>
          <a:lstStyle>
            <a:lvl1pPr>
              <a:defRPr sz="2800">
                <a:solidFill>
                  <a:schemeClr val="bg1"/>
                </a:solidFill>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lvl1pPr marL="273050" indent="-273050">
              <a:buFont typeface="Arial" panose="020B0604020202020204" pitchFamily="34" charset="0"/>
              <a:buChar char="•"/>
              <a:defRPr/>
            </a:lvl1pPr>
          </a:lstStyle>
          <a:p>
            <a:r>
              <a:rPr kumimoji="1" lang="zh-CN" altLang="en-US"/>
              <a:t>编辑母版文本样式
第二级
第三级
第四级
第五级</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dirty="0"/>
              <a:t>编辑母版文本样式
第二级
第三级
第四级
第五级</a:t>
            </a:r>
            <a:endParaRPr kumimoji="1" lang="zh-CN" altLang="en-US" dirty="0"/>
          </a:p>
        </p:txBody>
      </p:sp>
      <p:sp>
        <p:nvSpPr>
          <p:cNvPr id="16" name="矩形 15"/>
          <p:cNvSpPr/>
          <p:nvPr userDrawn="1"/>
        </p:nvSpPr>
        <p:spPr>
          <a:xfrm>
            <a:off x="0" y="6637655"/>
            <a:ext cx="3549650" cy="220345"/>
          </a:xfrm>
          <a:prstGeom prst="rect">
            <a:avLst/>
          </a:prstGeom>
          <a:solidFill>
            <a:srgbClr val="3561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charset="0"/>
                <a:ea typeface="Times New Roman" panose="02020603050405020304" charset="0"/>
                <a:cs typeface="Times New Roman" panose="02020603050405020304" charset="0"/>
              </a:rPr>
              <a:t>Yuanli Ma</a:t>
            </a:r>
            <a:endParaRPr kumimoji="1" lang="en-US" altLang="zh-CN" sz="1200" dirty="0">
              <a:latin typeface="Times New Roman" panose="02020603050405020304" charset="0"/>
              <a:ea typeface="Times New Roman" panose="02020603050405020304" charset="0"/>
              <a:cs typeface="Times New Roman" panose="02020603050405020304" charset="0"/>
            </a:endParaRPr>
          </a:p>
        </p:txBody>
      </p:sp>
      <p:sp>
        <p:nvSpPr>
          <p:cNvPr id="17" name="矩形 16"/>
          <p:cNvSpPr/>
          <p:nvPr userDrawn="1"/>
        </p:nvSpPr>
        <p:spPr>
          <a:xfrm>
            <a:off x="3549650" y="6637655"/>
            <a:ext cx="5521325" cy="220345"/>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000" dirty="0">
                <a:latin typeface="Times New Roman" panose="02020603050405020304" charset="0"/>
                <a:ea typeface="Times New Roman" panose="02020603050405020304" charset="0"/>
                <a:cs typeface="Times New Roman" panose="02020603050405020304" charset="0"/>
                <a:sym typeface="+mn-ea"/>
              </a:rPr>
              <a:t>Dynamic Metasurface Antennas-Based</a:t>
            </a:r>
            <a:r>
              <a:rPr lang="en-US" sz="1000" dirty="0">
                <a:latin typeface="Times New Roman" panose="02020603050405020304" charset="0"/>
                <a:ea typeface="Times New Roman" panose="02020603050405020304" charset="0"/>
                <a:cs typeface="Times New Roman" panose="02020603050405020304" charset="0"/>
                <a:sym typeface="+mn-ea"/>
              </a:rPr>
              <a:t> </a:t>
            </a:r>
            <a:r>
              <a:rPr sz="1000" dirty="0">
                <a:latin typeface="Times New Roman" panose="02020603050405020304" charset="0"/>
                <a:ea typeface="Times New Roman" panose="02020603050405020304" charset="0"/>
                <a:cs typeface="Times New Roman" panose="02020603050405020304" charset="0"/>
                <a:sym typeface="+mn-ea"/>
              </a:rPr>
              <a:t>Beamforming for Holographic MIMO Systems</a:t>
            </a:r>
            <a:endParaRPr sz="1000" dirty="0">
              <a:latin typeface="Times New Roman" panose="02020603050405020304" charset="0"/>
              <a:ea typeface="Times New Roman" panose="02020603050405020304" charset="0"/>
              <a:cs typeface="Times New Roman" panose="02020603050405020304" charset="0"/>
              <a:sym typeface="+mn-ea"/>
            </a:endParaRPr>
          </a:p>
        </p:txBody>
      </p:sp>
      <p:sp>
        <p:nvSpPr>
          <p:cNvPr id="18" name="矩形 17"/>
          <p:cNvSpPr/>
          <p:nvPr userDrawn="1"/>
        </p:nvSpPr>
        <p:spPr>
          <a:xfrm>
            <a:off x="9071610" y="6637655"/>
            <a:ext cx="3120390" cy="220345"/>
          </a:xfrm>
          <a:prstGeom prst="rect">
            <a:avLst/>
          </a:prstGeom>
          <a:solidFill>
            <a:srgbClr val="3561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latin typeface="Times New Roman" panose="02020603050405020304" charset="0"/>
              <a:ea typeface="Times New Roman" panose="02020603050405020304" charset="0"/>
              <a:cs typeface="Times New Roman" panose="02020603050405020304" charset="0"/>
            </a:endParaRPr>
          </a:p>
        </p:txBody>
      </p:sp>
      <p:sp>
        <p:nvSpPr>
          <p:cNvPr id="19" name="日期占位符 3"/>
          <p:cNvSpPr txBox="1"/>
          <p:nvPr userDrawn="1"/>
        </p:nvSpPr>
        <p:spPr>
          <a:xfrm>
            <a:off x="9753601" y="6637865"/>
            <a:ext cx="1356781" cy="220135"/>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000" smtClean="0">
                <a:solidFill>
                  <a:schemeClr val="bg1"/>
                </a:solidFill>
                <a:latin typeface="Times New Roman" panose="02020603050405020304" charset="0"/>
                <a:ea typeface="Times New Roman" panose="02020603050405020304" charset="0"/>
                <a:cs typeface="Times New Roman" panose="02020603050405020304" charset="0"/>
              </a:rPr>
              <a:t>2025-10-16</a:t>
            </a:r>
            <a:endParaRPr lang="en-US" altLang="zh-CN" sz="1000" dirty="0" smtClean="0">
              <a:solidFill>
                <a:schemeClr val="bg1"/>
              </a:solidFill>
              <a:latin typeface="Times New Roman" panose="02020603050405020304" charset="0"/>
              <a:ea typeface="Times New Roman" panose="02020603050405020304" charset="0"/>
              <a:cs typeface="Times New Roman" panose="02020603050405020304" charset="0"/>
            </a:endParaRPr>
          </a:p>
        </p:txBody>
      </p:sp>
      <p:sp>
        <p:nvSpPr>
          <p:cNvPr id="20" name="日期占位符 3"/>
          <p:cNvSpPr txBox="1"/>
          <p:nvPr userDrawn="1"/>
        </p:nvSpPr>
        <p:spPr>
          <a:xfrm>
            <a:off x="11353800" y="6637865"/>
            <a:ext cx="728507" cy="220133"/>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42B4B9-4F4F-DC40-8BF5-0036F3636617}" type="slidenum">
              <a:rPr lang="en-US" sz="1000" smtClean="0">
                <a:solidFill>
                  <a:schemeClr val="bg1"/>
                </a:solidFill>
                <a:latin typeface="Times New Roman" panose="02020603050405020304" charset="0"/>
                <a:ea typeface="Times New Roman" panose="02020603050405020304" charset="0"/>
                <a:cs typeface="Times New Roman" panose="02020603050405020304" charset="0"/>
              </a:rPr>
            </a:fld>
            <a:endParaRPr lang="en-US" sz="1000" dirty="0">
              <a:solidFill>
                <a:schemeClr val="bg1"/>
              </a:solidFill>
              <a:latin typeface="Times New Roman" panose="02020603050405020304" charset="0"/>
              <a:ea typeface="Times New Roman" panose="02020603050405020304" charset="0"/>
              <a:cs typeface="Times New Roman" panose="020206030504050203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Times New Roman" panose="02020603050405020304" charset="0"/>
          <a:ea typeface="Times New Roman" panose="02020603050405020304" charset="0"/>
          <a:cs typeface="Times New Roman" panose="02020603050405020304" charset="0"/>
        </a:defRPr>
      </a:lvl1pPr>
    </p:titleStyle>
    <p:body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Times New Roman" panose="02020603050405020304" charset="0"/>
          <a:ea typeface="Times New Roman" panose="02020603050405020304" charset="0"/>
          <a:cs typeface="Times New Roman" panose="0202060305040502030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dirty="0"/>
              <a:t>编辑母版文本样式
第二级
第三级
第四级
第五级</a:t>
            </a:r>
            <a:endParaRPr kumimoji="1" lang="zh-CN" altLang="en-US" dirty="0"/>
          </a:p>
        </p:txBody>
      </p:sp>
      <p:sp>
        <p:nvSpPr>
          <p:cNvPr id="16" name="矩形 15"/>
          <p:cNvSpPr/>
          <p:nvPr userDrawn="1"/>
        </p:nvSpPr>
        <p:spPr>
          <a:xfrm>
            <a:off x="0" y="6637655"/>
            <a:ext cx="3549650" cy="220345"/>
          </a:xfrm>
          <a:prstGeom prst="rect">
            <a:avLst/>
          </a:prstGeom>
          <a:solidFill>
            <a:srgbClr val="3561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Times New Roman" panose="02020603050405020304" charset="0"/>
                <a:ea typeface="Times New Roman" panose="02020603050405020304" charset="0"/>
                <a:cs typeface="Times New Roman" panose="02020603050405020304" charset="0"/>
              </a:rPr>
              <a:t>Yuanli Ma</a:t>
            </a:r>
            <a:endParaRPr kumimoji="1" lang="en-US" altLang="zh-CN" sz="1200" dirty="0">
              <a:latin typeface="Times New Roman" panose="02020603050405020304" charset="0"/>
              <a:ea typeface="Times New Roman" panose="02020603050405020304" charset="0"/>
              <a:cs typeface="Times New Roman" panose="02020603050405020304" charset="0"/>
            </a:endParaRPr>
          </a:p>
        </p:txBody>
      </p:sp>
      <p:sp>
        <p:nvSpPr>
          <p:cNvPr id="17" name="矩形 16"/>
          <p:cNvSpPr/>
          <p:nvPr userDrawn="1"/>
        </p:nvSpPr>
        <p:spPr>
          <a:xfrm>
            <a:off x="3549650" y="6637655"/>
            <a:ext cx="5521325" cy="220345"/>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000" dirty="0">
                <a:latin typeface="Times New Roman" panose="02020603050405020304" charset="0"/>
                <a:ea typeface="Times New Roman" panose="02020603050405020304" charset="0"/>
                <a:cs typeface="Times New Roman" panose="02020603050405020304" charset="0"/>
                <a:sym typeface="+mn-ea"/>
              </a:rPr>
              <a:t>Efficient Joint Hybrid Precoding And Analog</a:t>
            </a:r>
            <a:r>
              <a:rPr lang="en-US" sz="1000" dirty="0">
                <a:latin typeface="Times New Roman" panose="02020603050405020304" charset="0"/>
                <a:ea typeface="Times New Roman" panose="02020603050405020304" charset="0"/>
                <a:cs typeface="Times New Roman" panose="02020603050405020304" charset="0"/>
                <a:sym typeface="+mn-ea"/>
              </a:rPr>
              <a:t> </a:t>
            </a:r>
            <a:r>
              <a:rPr sz="1000" dirty="0">
                <a:latin typeface="Times New Roman" panose="02020603050405020304" charset="0"/>
                <a:ea typeface="Times New Roman" panose="02020603050405020304" charset="0"/>
                <a:cs typeface="Times New Roman" panose="02020603050405020304" charset="0"/>
                <a:sym typeface="+mn-ea"/>
              </a:rPr>
              <a:t>Combining Scheme For Massive MIMO Systems</a:t>
            </a:r>
            <a:endParaRPr sz="1000" dirty="0">
              <a:latin typeface="Times New Roman" panose="02020603050405020304" charset="0"/>
              <a:ea typeface="Times New Roman" panose="02020603050405020304" charset="0"/>
              <a:cs typeface="Times New Roman" panose="02020603050405020304" charset="0"/>
              <a:sym typeface="+mn-ea"/>
            </a:endParaRPr>
          </a:p>
        </p:txBody>
      </p:sp>
      <p:sp>
        <p:nvSpPr>
          <p:cNvPr id="18" name="矩形 17"/>
          <p:cNvSpPr/>
          <p:nvPr userDrawn="1"/>
        </p:nvSpPr>
        <p:spPr>
          <a:xfrm>
            <a:off x="9071610" y="6637655"/>
            <a:ext cx="3120390" cy="220345"/>
          </a:xfrm>
          <a:prstGeom prst="rect">
            <a:avLst/>
          </a:prstGeom>
          <a:solidFill>
            <a:srgbClr val="3561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latin typeface="Times New Roman" panose="02020603050405020304" charset="0"/>
              <a:ea typeface="Times New Roman" panose="02020603050405020304" charset="0"/>
              <a:cs typeface="Times New Roman" panose="02020603050405020304" charset="0"/>
            </a:endParaRPr>
          </a:p>
        </p:txBody>
      </p:sp>
      <p:sp>
        <p:nvSpPr>
          <p:cNvPr id="19" name="日期占位符 3"/>
          <p:cNvSpPr txBox="1"/>
          <p:nvPr userDrawn="1"/>
        </p:nvSpPr>
        <p:spPr>
          <a:xfrm>
            <a:off x="9753601" y="6637865"/>
            <a:ext cx="1356781" cy="220135"/>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5F0945-07F1-ED4A-8297-30DB81EF9BD1}" type="datetime1">
              <a:rPr lang="zh-CN" altLang="en-US" sz="1000" smtClean="0">
                <a:solidFill>
                  <a:schemeClr val="bg1"/>
                </a:solidFill>
                <a:latin typeface="Times New Roman" panose="02020603050405020304" charset="0"/>
                <a:ea typeface="Times New Roman" panose="02020603050405020304" charset="0"/>
                <a:cs typeface="Times New Roman" panose="02020603050405020304" charset="0"/>
              </a:rPr>
            </a:fld>
            <a:endParaRPr lang="en-US" sz="1000" dirty="0">
              <a:solidFill>
                <a:schemeClr val="bg1"/>
              </a:solidFill>
              <a:latin typeface="Times New Roman" panose="02020603050405020304" charset="0"/>
              <a:ea typeface="Times New Roman" panose="02020603050405020304" charset="0"/>
              <a:cs typeface="Times New Roman" panose="02020603050405020304" charset="0"/>
            </a:endParaRPr>
          </a:p>
        </p:txBody>
      </p:sp>
      <p:sp>
        <p:nvSpPr>
          <p:cNvPr id="20" name="日期占位符 3"/>
          <p:cNvSpPr txBox="1"/>
          <p:nvPr userDrawn="1"/>
        </p:nvSpPr>
        <p:spPr>
          <a:xfrm>
            <a:off x="11353800" y="6637865"/>
            <a:ext cx="728507" cy="220133"/>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42B4B9-4F4F-DC40-8BF5-0036F3636617}" type="slidenum">
              <a:rPr lang="en-US" sz="1000" smtClean="0">
                <a:solidFill>
                  <a:schemeClr val="bg1"/>
                </a:solidFill>
                <a:latin typeface="Times New Roman" panose="02020603050405020304" charset="0"/>
                <a:ea typeface="Times New Roman" panose="02020603050405020304" charset="0"/>
                <a:cs typeface="Times New Roman" panose="02020603050405020304" charset="0"/>
              </a:rPr>
            </a:fld>
            <a:endParaRPr lang="en-US" sz="1000" dirty="0">
              <a:solidFill>
                <a:schemeClr val="bg1"/>
              </a:solidFill>
              <a:latin typeface="Times New Roman" panose="02020603050405020304" charset="0"/>
              <a:ea typeface="Times New Roman" panose="02020603050405020304" charset="0"/>
              <a:cs typeface="Times New Roman" panose="02020603050405020304"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Times New Roman" panose="02020603050405020304" charset="0"/>
          <a:ea typeface="Times New Roman" panose="02020603050405020304" charset="0"/>
          <a:cs typeface="Times New Roman" panose="02020603050405020304" charset="0"/>
        </a:defRPr>
      </a:lvl1pPr>
    </p:titleStyle>
    <p:body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defRPr sz="2100" kern="1200">
          <a:solidFill>
            <a:schemeClr val="tx1"/>
          </a:solidFill>
          <a:latin typeface="Times New Roman" panose="02020603050405020304" charset="0"/>
          <a:ea typeface="Times New Roman" panose="02020603050405020304" charset="0"/>
          <a:cs typeface="Times New Roman" panose="0202060305040502030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3.xml"/><Relationship Id="rId12" Type="http://schemas.openxmlformats.org/officeDocument/2006/relationships/image" Target="../media/image3.png"/><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3.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image" Target="../media/image3.png"/><Relationship Id="rId1" Type="http://schemas.openxmlformats.org/officeDocument/2006/relationships/tags" Target="../tags/tag12.xml"/></Relationships>
</file>

<file path=ppt/slides/_rels/slide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image" Target="../media/image4.png"/><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3.png"/><Relationship Id="rId17" Type="http://schemas.openxmlformats.org/officeDocument/2006/relationships/notesSlide" Target="../notesSlides/notesSlide4.xml"/><Relationship Id="rId16" Type="http://schemas.openxmlformats.org/officeDocument/2006/relationships/slideLayout" Target="../slideLayouts/slideLayout3.xml"/><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image" Target="../media/image5.png"/><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5.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tags" Target="../tags/tag27.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3.xml"/><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tags" Target="../tags/tag28.xml"/></Relationships>
</file>

<file path=ppt/slides/_rels/slide7.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3.png"/><Relationship Id="rId17" Type="http://schemas.openxmlformats.org/officeDocument/2006/relationships/notesSlide" Target="../notesSlides/notesSlide7.xml"/><Relationship Id="rId16" Type="http://schemas.openxmlformats.org/officeDocument/2006/relationships/slideLayout" Target="../slideLayouts/slideLayout15.xml"/><Relationship Id="rId15" Type="http://schemas.openxmlformats.org/officeDocument/2006/relationships/image" Target="../media/image26.png"/><Relationship Id="rId14" Type="http://schemas.openxmlformats.org/officeDocument/2006/relationships/image" Target="../media/image25.png"/><Relationship Id="rId13" Type="http://schemas.openxmlformats.org/officeDocument/2006/relationships/image" Target="../media/image24.png"/><Relationship Id="rId12" Type="http://schemas.openxmlformats.org/officeDocument/2006/relationships/image" Target="../media/image23.png"/><Relationship Id="rId11"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5.xml"/><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tags" Target="../tags/tag30.xml"/></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5.xml"/><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tags" Target="../tags/tag31.xml"/></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5.xml"/><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tags" Target="../tags/tag32.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tags" Target="../tags/tag34.xml"/><Relationship Id="rId2" Type="http://schemas.openxmlformats.org/officeDocument/2006/relationships/image" Target="../media/image3.png"/><Relationship Id="rId1" Type="http://schemas.openxmlformats.org/officeDocument/2006/relationships/tags" Target="../tags/tag33.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3.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85900" y="3636645"/>
            <a:ext cx="9144000" cy="1333500"/>
          </a:xfrm>
        </p:spPr>
        <p:txBody>
          <a:bodyPr>
            <a:noAutofit/>
          </a:bodyPr>
          <a:lstStyle/>
          <a:p>
            <a:pPr fontAlgn="auto">
              <a:lnSpc>
                <a:spcPct val="125000"/>
              </a:lnSpc>
              <a:spcBef>
                <a:spcPts val="700"/>
              </a:spcBef>
            </a:pPr>
            <a:r>
              <a:rPr kumimoji="1" sz="2400" dirty="0">
                <a:solidFill>
                  <a:schemeClr val="accent1"/>
                </a:solidFill>
                <a:latin typeface="Times New Roman" panose="02020603050405020304" charset="0"/>
                <a:cs typeface="Times New Roman" panose="02020603050405020304" charset="0"/>
              </a:rPr>
              <a:t>Yuanli Ma, Bin Yan, Zheng Wang, Yongming Huang</a:t>
            </a:r>
            <a:endParaRPr kumimoji="1" sz="2400" dirty="0">
              <a:solidFill>
                <a:schemeClr val="accent1"/>
              </a:solidFill>
              <a:latin typeface="Times New Roman" panose="02020603050405020304" charset="0"/>
              <a:cs typeface="Times New Roman" panose="02020603050405020304" charset="0"/>
            </a:endParaRPr>
          </a:p>
          <a:p>
            <a:pPr fontAlgn="auto">
              <a:lnSpc>
                <a:spcPct val="125000"/>
              </a:lnSpc>
              <a:spcBef>
                <a:spcPts val="700"/>
              </a:spcBef>
            </a:pPr>
            <a:r>
              <a:rPr kumimoji="1" lang="en-US" altLang="zh-CN" i="1" dirty="0">
                <a:solidFill>
                  <a:schemeClr val="accent1"/>
                </a:solidFill>
                <a:latin typeface="Times New Roman" panose="02020603050405020304" charset="0"/>
                <a:cs typeface="Times New Roman" panose="02020603050405020304" charset="0"/>
              </a:rPr>
              <a:t>Southeast University</a:t>
            </a:r>
            <a:endParaRPr kumimoji="1" lang="en-US" altLang="zh-CN" i="1" dirty="0">
              <a:solidFill>
                <a:schemeClr val="accent1"/>
              </a:solidFill>
              <a:latin typeface="Times New Roman" panose="02020603050405020304" charset="0"/>
              <a:cs typeface="Times New Roman" panose="02020603050405020304" charset="0"/>
            </a:endParaRPr>
          </a:p>
          <a:p>
            <a:pPr fontAlgn="auto">
              <a:lnSpc>
                <a:spcPct val="125000"/>
              </a:lnSpc>
              <a:spcBef>
                <a:spcPts val="700"/>
              </a:spcBef>
            </a:pPr>
            <a:r>
              <a:rPr kumimoji="1" lang="en-US" altLang="zh-CN" sz="2400" dirty="0">
                <a:solidFill>
                  <a:schemeClr val="accent1"/>
                </a:solidFill>
                <a:latin typeface="Times New Roman" panose="02020603050405020304" charset="0"/>
                <a:cs typeface="Times New Roman" panose="02020603050405020304" charset="0"/>
              </a:rPr>
              <a:t>2025.10.16</a:t>
            </a:r>
            <a:endParaRPr kumimoji="1" lang="en-US" altLang="zh-CN" sz="2400" dirty="0">
              <a:solidFill>
                <a:schemeClr val="accent1"/>
              </a:solidFill>
              <a:latin typeface="Times New Roman" panose="02020603050405020304" charset="0"/>
              <a:cs typeface="Times New Roman" panose="02020603050405020304" charset="0"/>
            </a:endParaRPr>
          </a:p>
        </p:txBody>
      </p:sp>
      <p:sp>
        <p:nvSpPr>
          <p:cNvPr id="2" name="标题 1"/>
          <p:cNvSpPr>
            <a:spLocks noGrp="1"/>
          </p:cNvSpPr>
          <p:nvPr>
            <p:ph type="ctrTitle"/>
          </p:nvPr>
        </p:nvSpPr>
        <p:spPr>
          <a:xfrm>
            <a:off x="748665" y="1028065"/>
            <a:ext cx="10681335" cy="1913890"/>
          </a:xfrm>
        </p:spPr>
        <p:txBody>
          <a:bodyPr>
            <a:noAutofit/>
          </a:bodyPr>
          <a:lstStyle/>
          <a:p>
            <a:pPr marL="0" indent="0" fontAlgn="auto">
              <a:lnSpc>
                <a:spcPct val="125000"/>
              </a:lnSpc>
            </a:pPr>
            <a:r>
              <a:rPr sz="3600" b="1" dirty="0">
                <a:latin typeface="Times New Roman" panose="02020603050405020304" charset="0"/>
                <a:cs typeface="Times New Roman" panose="02020603050405020304" charset="0"/>
              </a:rPr>
              <a:t>Dynamic Metasurface Antennas-Based</a:t>
            </a:r>
            <a:br>
              <a:rPr sz="3600" b="1" dirty="0">
                <a:latin typeface="Times New Roman" panose="02020603050405020304" charset="0"/>
                <a:cs typeface="Times New Roman" panose="02020603050405020304" charset="0"/>
              </a:rPr>
            </a:br>
            <a:r>
              <a:rPr sz="3600" b="1" dirty="0">
                <a:latin typeface="Times New Roman" panose="02020603050405020304" charset="0"/>
                <a:cs typeface="Times New Roman" panose="02020603050405020304" charset="0"/>
              </a:rPr>
              <a:t>Beamforming for Holographic MIMO Systems</a:t>
            </a:r>
            <a:endParaRPr sz="3600" b="1" dirty="0">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1"/>
          <a:stretch>
            <a:fillRect/>
          </a:stretch>
        </p:blipFill>
        <p:spPr>
          <a:xfrm>
            <a:off x="9898380" y="4736465"/>
            <a:ext cx="1456055" cy="1470025"/>
          </a:xfrm>
          <a:prstGeom prst="rect">
            <a:avLst/>
          </a:prstGeom>
        </p:spPr>
      </p:pic>
      <p:pic>
        <p:nvPicPr>
          <p:cNvPr id="4" name="图片 3" descr="QQ_1758533758284"/>
          <p:cNvPicPr>
            <a:picLocks noChangeAspect="1"/>
          </p:cNvPicPr>
          <p:nvPr/>
        </p:nvPicPr>
        <p:blipFill>
          <a:blip r:embed="rId2"/>
          <a:stretch>
            <a:fillRect/>
          </a:stretch>
        </p:blipFill>
        <p:spPr>
          <a:xfrm>
            <a:off x="1179195" y="4938395"/>
            <a:ext cx="2174240" cy="10655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5175" y="3067050"/>
            <a:ext cx="2218055" cy="723900"/>
          </a:xfrm>
        </p:spPr>
        <p:txBody>
          <a:bodyPr anchor="b"/>
          <a:lstStyle/>
          <a:p>
            <a:r>
              <a:rPr kumimoji="1" lang="en-US" altLang="zh-CN" sz="4000" b="1" dirty="0">
                <a:solidFill>
                  <a:schemeClr val="accent1"/>
                </a:solidFill>
                <a:latin typeface="Times New Roman" panose="02020603050405020304" charset="0"/>
                <a:cs typeface="Times New Roman" panose="02020603050405020304" charset="0"/>
              </a:rPr>
              <a:t>Contents</a:t>
            </a:r>
            <a:endParaRPr kumimoji="1" lang="en-US" altLang="zh-CN" sz="4000" b="1" dirty="0">
              <a:solidFill>
                <a:schemeClr val="accent1"/>
              </a:solidFill>
              <a:latin typeface="Times New Roman" panose="02020603050405020304" charset="0"/>
              <a:cs typeface="Times New Roman" panose="02020603050405020304" charset="0"/>
            </a:endParaRPr>
          </a:p>
        </p:txBody>
      </p:sp>
      <p:sp>
        <p:nvSpPr>
          <p:cNvPr id="49" name="矩形 48"/>
          <p:cNvSpPr/>
          <p:nvPr>
            <p:custDataLst>
              <p:tags r:id="rId1"/>
            </p:custDataLst>
          </p:nvPr>
        </p:nvSpPr>
        <p:spPr>
          <a:xfrm>
            <a:off x="931545" y="3710305"/>
            <a:ext cx="1848485" cy="80645"/>
          </a:xfrm>
          <a:prstGeom prst="rect">
            <a:avLst/>
          </a:prstGeom>
          <a:solidFill>
            <a:srgbClr val="FF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endParaRPr>
          </a:p>
        </p:txBody>
      </p:sp>
      <p:grpSp>
        <p:nvGrpSpPr>
          <p:cNvPr id="7" name="组合 6"/>
          <p:cNvGrpSpPr/>
          <p:nvPr/>
        </p:nvGrpSpPr>
        <p:grpSpPr>
          <a:xfrm>
            <a:off x="3637280" y="1397635"/>
            <a:ext cx="5202555" cy="715010"/>
            <a:chOff x="6073" y="2327"/>
            <a:chExt cx="8193" cy="1126"/>
          </a:xfrm>
        </p:grpSpPr>
        <p:sp>
          <p:nvSpPr>
            <p:cNvPr id="19" name="平行四边形 18"/>
            <p:cNvSpPr/>
            <p:nvPr>
              <p:custDataLst>
                <p:tags r:id="rId2"/>
              </p:custDataLst>
            </p:nvPr>
          </p:nvSpPr>
          <p:spPr>
            <a:xfrm>
              <a:off x="6073" y="2449"/>
              <a:ext cx="1412" cy="883"/>
            </a:xfrm>
            <a:prstGeom prst="parallelogram">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lIns="90000" rtlCol="0" anchor="ctr"/>
            <a:p>
              <a:pPr algn="ctr"/>
              <a:r>
                <a:rPr lang="en-US" altLang="zh-CN" sz="3200" b="1" dirty="0">
                  <a:solidFill>
                    <a:schemeClr val="bg1"/>
                  </a:solidFill>
                </a:rPr>
                <a:t>01</a:t>
              </a:r>
              <a:endParaRPr lang="en-US" altLang="zh-CN" sz="3200" b="1" dirty="0">
                <a:solidFill>
                  <a:schemeClr val="bg1"/>
                </a:solidFill>
              </a:endParaRPr>
            </a:p>
          </p:txBody>
        </p:sp>
        <p:sp>
          <p:nvSpPr>
            <p:cNvPr id="5" name="文本框 4"/>
            <p:cNvSpPr txBox="1"/>
            <p:nvPr/>
          </p:nvSpPr>
          <p:spPr>
            <a:xfrm>
              <a:off x="7866" y="2327"/>
              <a:ext cx="6400" cy="1126"/>
            </a:xfrm>
            <a:prstGeom prst="rect">
              <a:avLst/>
            </a:prstGeom>
          </p:spPr>
          <p:txBody>
            <a:bodyPr vert="horz" wrap="square" lIns="91440" tIns="45720" rIns="91440" bIns="45720" rtlCol="0" anchor="ctr">
              <a:normAutofit/>
            </a:bodyPr>
            <a:p>
              <a:pPr algn="l"/>
              <a:r>
                <a:rPr kumimoji="1" lang="en-US" altLang="zh-CN" sz="2400" b="1" dirty="0">
                  <a:solidFill>
                    <a:schemeClr val="accent1"/>
                  </a:solidFill>
                </a:rPr>
                <a:t>Background</a:t>
              </a:r>
              <a:endParaRPr kumimoji="1" lang="en-US" altLang="zh-CN" sz="2400" b="1" dirty="0">
                <a:solidFill>
                  <a:schemeClr val="accent1"/>
                </a:solidFill>
              </a:endParaRPr>
            </a:p>
          </p:txBody>
        </p:sp>
      </p:grpSp>
      <p:grpSp>
        <p:nvGrpSpPr>
          <p:cNvPr id="8" name="组合 7"/>
          <p:cNvGrpSpPr/>
          <p:nvPr/>
        </p:nvGrpSpPr>
        <p:grpSpPr>
          <a:xfrm>
            <a:off x="3637280" y="2384425"/>
            <a:ext cx="5202555" cy="715010"/>
            <a:chOff x="6073" y="2327"/>
            <a:chExt cx="8193" cy="1126"/>
          </a:xfrm>
        </p:grpSpPr>
        <p:sp>
          <p:nvSpPr>
            <p:cNvPr id="9" name="平行四边形 8"/>
            <p:cNvSpPr/>
            <p:nvPr>
              <p:custDataLst>
                <p:tags r:id="rId3"/>
              </p:custDataLst>
            </p:nvPr>
          </p:nvSpPr>
          <p:spPr>
            <a:xfrm>
              <a:off x="6073" y="2449"/>
              <a:ext cx="1412" cy="883"/>
            </a:xfrm>
            <a:prstGeom prst="parallelogram">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lIns="90000" rtlCol="0" anchor="ctr"/>
            <a:p>
              <a:pPr algn="ctr"/>
              <a:r>
                <a:rPr lang="en-US" altLang="zh-CN" sz="2400" b="1" dirty="0">
                  <a:solidFill>
                    <a:schemeClr val="bg1"/>
                  </a:solidFill>
                </a:rPr>
                <a:t>02</a:t>
              </a:r>
              <a:endParaRPr lang="en-US" altLang="zh-CN" sz="2400" b="1" dirty="0">
                <a:solidFill>
                  <a:schemeClr val="bg1"/>
                </a:solidFill>
              </a:endParaRPr>
            </a:p>
          </p:txBody>
        </p:sp>
        <p:sp>
          <p:nvSpPr>
            <p:cNvPr id="10" name="文本框 9"/>
            <p:cNvSpPr txBox="1"/>
            <p:nvPr>
              <p:custDataLst>
                <p:tags r:id="rId4"/>
              </p:custDataLst>
            </p:nvPr>
          </p:nvSpPr>
          <p:spPr>
            <a:xfrm>
              <a:off x="7866" y="2327"/>
              <a:ext cx="6400" cy="1126"/>
            </a:xfrm>
            <a:prstGeom prst="rect">
              <a:avLst/>
            </a:prstGeom>
          </p:spPr>
          <p:txBody>
            <a:bodyPr vert="horz" wrap="square" lIns="91440" tIns="45720" rIns="91440" bIns="45720" rtlCol="0" anchor="ctr">
              <a:normAutofit/>
            </a:bodyPr>
            <a:p>
              <a:pPr algn="l"/>
              <a:r>
                <a:rPr kumimoji="1" lang="en-US" altLang="zh-CN" sz="2400" b="1" dirty="0">
                  <a:solidFill>
                    <a:schemeClr val="accent1"/>
                  </a:solidFill>
                </a:rPr>
                <a:t>System model</a:t>
              </a:r>
              <a:endParaRPr kumimoji="1" lang="en-US" altLang="zh-CN" sz="2400" b="1" dirty="0">
                <a:solidFill>
                  <a:schemeClr val="accent1"/>
                </a:solidFill>
              </a:endParaRPr>
            </a:p>
          </p:txBody>
        </p:sp>
      </p:grpSp>
      <p:grpSp>
        <p:nvGrpSpPr>
          <p:cNvPr id="11" name="组合 10"/>
          <p:cNvGrpSpPr/>
          <p:nvPr/>
        </p:nvGrpSpPr>
        <p:grpSpPr>
          <a:xfrm>
            <a:off x="3637280" y="3371215"/>
            <a:ext cx="7997825" cy="715010"/>
            <a:chOff x="6073" y="2327"/>
            <a:chExt cx="13021" cy="1126"/>
          </a:xfrm>
        </p:grpSpPr>
        <p:sp>
          <p:nvSpPr>
            <p:cNvPr id="12" name="平行四边形 11"/>
            <p:cNvSpPr/>
            <p:nvPr>
              <p:custDataLst>
                <p:tags r:id="rId5"/>
              </p:custDataLst>
            </p:nvPr>
          </p:nvSpPr>
          <p:spPr>
            <a:xfrm>
              <a:off x="6073" y="2449"/>
              <a:ext cx="1412" cy="883"/>
            </a:xfrm>
            <a:prstGeom prst="parallelogram">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lIns="90000" rtlCol="0" anchor="ctr"/>
            <a:p>
              <a:pPr algn="ctr"/>
              <a:r>
                <a:rPr lang="en-US" altLang="zh-CN" sz="3200" b="1" dirty="0">
                  <a:solidFill>
                    <a:schemeClr val="bg1"/>
                  </a:solidFill>
                </a:rPr>
                <a:t>03</a:t>
              </a:r>
              <a:endParaRPr lang="en-US" altLang="zh-CN" sz="3200" b="1" dirty="0">
                <a:solidFill>
                  <a:schemeClr val="bg1"/>
                </a:solidFill>
              </a:endParaRPr>
            </a:p>
          </p:txBody>
        </p:sp>
        <p:sp>
          <p:nvSpPr>
            <p:cNvPr id="13" name="文本框 12"/>
            <p:cNvSpPr txBox="1"/>
            <p:nvPr>
              <p:custDataLst>
                <p:tags r:id="rId6"/>
              </p:custDataLst>
            </p:nvPr>
          </p:nvSpPr>
          <p:spPr>
            <a:xfrm>
              <a:off x="7866" y="2327"/>
              <a:ext cx="11228" cy="1126"/>
            </a:xfrm>
            <a:prstGeom prst="rect">
              <a:avLst/>
            </a:prstGeom>
          </p:spPr>
          <p:txBody>
            <a:bodyPr vert="horz" wrap="square" lIns="91440" tIns="45720" rIns="91440" bIns="45720" rtlCol="0" anchor="ctr">
              <a:noAutofit/>
            </a:bodyPr>
            <a:p>
              <a:pPr algn="l"/>
              <a:r>
                <a:rPr kumimoji="1" lang="en-US" altLang="zh-CN" sz="2400" b="1" dirty="0">
                  <a:solidFill>
                    <a:schemeClr val="accent1"/>
                  </a:solidFill>
                </a:rPr>
                <a:t>DMA </a:t>
              </a:r>
              <a:r>
                <a:rPr kumimoji="1" lang="en-US" altLang="zh-CN" sz="2400" b="1" dirty="0">
                  <a:solidFill>
                    <a:schemeClr val="accent1"/>
                  </a:solidFill>
                </a:rPr>
                <a:t>weights matrix and precoding matrix alternating optimization strategy</a:t>
              </a:r>
              <a:endParaRPr kumimoji="1" lang="en-US" altLang="zh-CN" sz="2400" b="1" dirty="0">
                <a:solidFill>
                  <a:schemeClr val="accent1"/>
                </a:solidFill>
              </a:endParaRPr>
            </a:p>
          </p:txBody>
        </p:sp>
      </p:grpSp>
      <p:grpSp>
        <p:nvGrpSpPr>
          <p:cNvPr id="14" name="组合 13"/>
          <p:cNvGrpSpPr/>
          <p:nvPr/>
        </p:nvGrpSpPr>
        <p:grpSpPr>
          <a:xfrm>
            <a:off x="3637280" y="4358005"/>
            <a:ext cx="8268335" cy="715010"/>
            <a:chOff x="6073" y="2327"/>
            <a:chExt cx="13021" cy="1126"/>
          </a:xfrm>
        </p:grpSpPr>
        <p:sp>
          <p:nvSpPr>
            <p:cNvPr id="15" name="平行四边形 14"/>
            <p:cNvSpPr/>
            <p:nvPr>
              <p:custDataLst>
                <p:tags r:id="rId7"/>
              </p:custDataLst>
            </p:nvPr>
          </p:nvSpPr>
          <p:spPr>
            <a:xfrm>
              <a:off x="6073" y="2449"/>
              <a:ext cx="1412" cy="883"/>
            </a:xfrm>
            <a:prstGeom prst="parallelogram">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lIns="90000" rtlCol="0" anchor="ctr"/>
            <a:p>
              <a:pPr algn="ctr"/>
              <a:r>
                <a:rPr lang="en-US" altLang="zh-CN" sz="2400" b="1" dirty="0">
                  <a:solidFill>
                    <a:schemeClr val="bg1"/>
                  </a:solidFill>
                </a:rPr>
                <a:t>04</a:t>
              </a:r>
              <a:endParaRPr lang="en-US" altLang="zh-CN" sz="2400" b="1" dirty="0">
                <a:solidFill>
                  <a:schemeClr val="bg1"/>
                </a:solidFill>
              </a:endParaRPr>
            </a:p>
          </p:txBody>
        </p:sp>
        <p:sp>
          <p:nvSpPr>
            <p:cNvPr id="16" name="文本框 15"/>
            <p:cNvSpPr txBox="1"/>
            <p:nvPr>
              <p:custDataLst>
                <p:tags r:id="rId8"/>
              </p:custDataLst>
            </p:nvPr>
          </p:nvSpPr>
          <p:spPr>
            <a:xfrm>
              <a:off x="7866" y="2327"/>
              <a:ext cx="11228" cy="1126"/>
            </a:xfrm>
            <a:prstGeom prst="rect">
              <a:avLst/>
            </a:prstGeom>
          </p:spPr>
          <p:txBody>
            <a:bodyPr vert="horz" wrap="square" lIns="91440" tIns="45720" rIns="91440" bIns="45720" rtlCol="0" anchor="ctr">
              <a:noAutofit/>
            </a:bodyPr>
            <a:p>
              <a:pPr algn="l"/>
              <a:r>
                <a:rPr kumimoji="1" lang="en-US" altLang="zh-CN" sz="2400" b="1" dirty="0">
                  <a:solidFill>
                    <a:schemeClr val="accent1"/>
                  </a:solidFill>
                  <a:sym typeface="+mn-ea"/>
                </a:rPr>
                <a:t>DMA weights matrix and precoding matrix decoupling optimization strategy</a:t>
              </a:r>
              <a:endParaRPr kumimoji="1" lang="en-US" altLang="zh-CN" sz="2400" b="1" dirty="0">
                <a:solidFill>
                  <a:schemeClr val="accent1"/>
                </a:solidFill>
              </a:endParaRPr>
            </a:p>
          </p:txBody>
        </p:sp>
      </p:grpSp>
      <p:grpSp>
        <p:nvGrpSpPr>
          <p:cNvPr id="17" name="组合 16"/>
          <p:cNvGrpSpPr/>
          <p:nvPr/>
        </p:nvGrpSpPr>
        <p:grpSpPr>
          <a:xfrm>
            <a:off x="3637280" y="5344795"/>
            <a:ext cx="8268335" cy="715010"/>
            <a:chOff x="6073" y="2327"/>
            <a:chExt cx="13021" cy="1126"/>
          </a:xfrm>
        </p:grpSpPr>
        <p:sp>
          <p:nvSpPr>
            <p:cNvPr id="18" name="平行四边形 17"/>
            <p:cNvSpPr/>
            <p:nvPr>
              <p:custDataLst>
                <p:tags r:id="rId9"/>
              </p:custDataLst>
            </p:nvPr>
          </p:nvSpPr>
          <p:spPr>
            <a:xfrm>
              <a:off x="6073" y="2449"/>
              <a:ext cx="1412" cy="883"/>
            </a:xfrm>
            <a:prstGeom prst="parallelogram">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lIns="90000" rtlCol="0" anchor="ctr"/>
            <a:p>
              <a:pPr algn="ctr"/>
              <a:r>
                <a:rPr lang="en-US" altLang="zh-CN" sz="2400" b="1" dirty="0">
                  <a:solidFill>
                    <a:schemeClr val="bg1"/>
                  </a:solidFill>
                </a:rPr>
                <a:t>05</a:t>
              </a:r>
              <a:endParaRPr lang="en-US" altLang="zh-CN" sz="2400" b="1" dirty="0">
                <a:solidFill>
                  <a:schemeClr val="bg1"/>
                </a:solidFill>
              </a:endParaRPr>
            </a:p>
          </p:txBody>
        </p:sp>
        <p:sp>
          <p:nvSpPr>
            <p:cNvPr id="20" name="文本框 19"/>
            <p:cNvSpPr txBox="1"/>
            <p:nvPr>
              <p:custDataLst>
                <p:tags r:id="rId10"/>
              </p:custDataLst>
            </p:nvPr>
          </p:nvSpPr>
          <p:spPr>
            <a:xfrm>
              <a:off x="7866" y="2327"/>
              <a:ext cx="11228" cy="1126"/>
            </a:xfrm>
            <a:prstGeom prst="rect">
              <a:avLst/>
            </a:prstGeom>
          </p:spPr>
          <p:txBody>
            <a:bodyPr vert="horz" wrap="square" lIns="91440" tIns="45720" rIns="91440" bIns="45720" rtlCol="0" anchor="ctr">
              <a:noAutofit/>
            </a:bodyPr>
            <a:p>
              <a:pPr algn="l"/>
              <a:r>
                <a:rPr kumimoji="1" lang="en-US" altLang="zh-CN" sz="2400" b="1" dirty="0">
                  <a:solidFill>
                    <a:schemeClr val="accent1"/>
                  </a:solidFill>
                </a:rPr>
                <a:t>S</a:t>
              </a:r>
              <a:r>
                <a:rPr kumimoji="1" lang="en-US" altLang="zh-CN" sz="2400" b="1" dirty="0">
                  <a:solidFill>
                    <a:schemeClr val="accent1"/>
                  </a:solidFill>
                </a:rPr>
                <a:t>imulations</a:t>
              </a:r>
              <a:endParaRPr kumimoji="1" lang="en-US" altLang="zh-CN" sz="2400" b="1" dirty="0">
                <a:solidFill>
                  <a:schemeClr val="accent1"/>
                </a:solidFill>
              </a:endParaRPr>
            </a:p>
          </p:txBody>
        </p:sp>
      </p:grpSp>
      <p:pic>
        <p:nvPicPr>
          <p:cNvPr id="22" name="图片 21"/>
          <p:cNvPicPr>
            <a:picLocks noChangeAspect="1"/>
          </p:cNvPicPr>
          <p:nvPr>
            <p:custDataLst>
              <p:tags r:id="rId11"/>
            </p:custDataLst>
          </p:nvPr>
        </p:nvPicPr>
        <p:blipFill>
          <a:blip r:embed="rId12" cstate="email"/>
          <a:stretch>
            <a:fillRect/>
          </a:stretch>
        </p:blipFill>
        <p:spPr>
          <a:xfrm>
            <a:off x="11168380" y="96520"/>
            <a:ext cx="756920" cy="756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496570" y="3312795"/>
            <a:ext cx="11098530" cy="2710815"/>
          </a:xfrm>
          <a:prstGeom prst="rect">
            <a:avLst/>
          </a:prstGeom>
          <a:ln w="19050">
            <a:solidFill>
              <a:schemeClr val="accent1"/>
            </a:solidFill>
            <a:prstDash val="dashDot"/>
          </a:ln>
        </p:spPr>
        <p:txBody>
          <a:bodyPr vert="horz" wrap="square" lIns="91440" tIns="45720" rIns="91440" bIns="45720" rtlCol="0" anchor="ctr">
            <a:normAutofit lnSpcReduction="20000"/>
          </a:bodyPr>
          <a:p>
            <a:pPr marL="285750" indent="-285750" algn="l">
              <a:buFont typeface="Wingdings" panose="05000000000000000000" charset="0"/>
              <a:buChar char="Ø"/>
            </a:pPr>
            <a:endParaRPr kumimoji="1" lang="en-US" altLang="zh-CN" dirty="0"/>
          </a:p>
          <a:p>
            <a:pPr marL="285750" indent="-285750" algn="l">
              <a:buFont typeface="Wingdings" panose="05000000000000000000" charset="0"/>
              <a:buChar char="Ø"/>
            </a:pPr>
            <a:endParaRPr kumimoji="1" lang="en-US" altLang="zh-CN" dirty="0"/>
          </a:p>
          <a:p>
            <a:pPr marL="285750" indent="-285750" algn="l">
              <a:buFont typeface="Wingdings" panose="05000000000000000000" charset="0"/>
              <a:buChar char="Ø"/>
            </a:pPr>
            <a:r>
              <a:rPr kumimoji="1" lang="en-US" altLang="zh-CN" sz="2000" dirty="0">
                <a:solidFill>
                  <a:srgbClr val="00B050"/>
                </a:solidFill>
                <a:latin typeface="Times New Roman" panose="02020603050405020304" charset="0"/>
                <a:cs typeface="Times New Roman" panose="02020603050405020304" charset="0"/>
              </a:rPr>
              <a:t>T</a:t>
            </a:r>
            <a:r>
              <a:rPr kumimoji="1" lang="zh-CN" altLang="en-US" sz="2000" dirty="0">
                <a:solidFill>
                  <a:srgbClr val="00B050"/>
                </a:solidFill>
                <a:latin typeface="Times New Roman" panose="02020603050405020304" charset="0"/>
                <a:cs typeface="Times New Roman" panose="02020603050405020304" charset="0"/>
              </a:rPr>
              <a:t>he Lorentzian constraint</a:t>
            </a:r>
            <a:r>
              <a:rPr kumimoji="1" lang="en-US" altLang="zh-CN" sz="2000" dirty="0">
                <a:latin typeface="Times New Roman" panose="02020603050405020304" charset="0"/>
                <a:cs typeface="Times New Roman" panose="02020603050405020304" charset="0"/>
              </a:rPr>
              <a:t> for DMA element is non-convex constraint.</a:t>
            </a:r>
            <a:endParaRPr kumimoji="1" lang="en-US" altLang="zh-CN" sz="2000" dirty="0">
              <a:latin typeface="Times New Roman" panose="02020603050405020304" charset="0"/>
              <a:cs typeface="Times New Roman" panose="02020603050405020304" charset="0"/>
            </a:endParaRPr>
          </a:p>
          <a:p>
            <a:pPr marL="285750" indent="-285750" algn="l">
              <a:buFont typeface="Wingdings" panose="05000000000000000000" charset="0"/>
              <a:buChar char="Ø"/>
            </a:pPr>
            <a:endParaRPr kumimoji="1" lang="en-US" altLang="zh-CN" sz="2000" dirty="0">
              <a:latin typeface="Times New Roman" panose="02020603050405020304" charset="0"/>
              <a:cs typeface="Times New Roman" panose="02020603050405020304" charset="0"/>
            </a:endParaRPr>
          </a:p>
          <a:p>
            <a:pPr marL="285750" indent="-285750" algn="l">
              <a:buFont typeface="Wingdings" panose="05000000000000000000" charset="0"/>
              <a:buChar char="Ø"/>
            </a:pPr>
            <a:r>
              <a:rPr kumimoji="1" lang="en-US" altLang="zh-CN" sz="2000" dirty="0">
                <a:solidFill>
                  <a:srgbClr val="00B050"/>
                </a:solidFill>
                <a:latin typeface="Times New Roman" panose="02020603050405020304" charset="0"/>
                <a:cs typeface="Times New Roman" panose="02020603050405020304" charset="0"/>
              </a:rPr>
              <a:t>T</a:t>
            </a:r>
            <a:r>
              <a:rPr kumimoji="1" lang="zh-CN" altLang="en-US" sz="2000" dirty="0">
                <a:solidFill>
                  <a:srgbClr val="00B050"/>
                </a:solidFill>
                <a:latin typeface="Times New Roman" panose="02020603050405020304" charset="0"/>
                <a:cs typeface="Times New Roman" panose="02020603050405020304" charset="0"/>
              </a:rPr>
              <a:t>he </a:t>
            </a:r>
            <a:r>
              <a:rPr kumimoji="1" lang="en-US" altLang="zh-CN" sz="2000" dirty="0">
                <a:solidFill>
                  <a:srgbClr val="00B050"/>
                </a:solidFill>
                <a:latin typeface="Times New Roman" panose="02020603050405020304" charset="0"/>
                <a:cs typeface="Times New Roman" panose="02020603050405020304" charset="0"/>
              </a:rPr>
              <a:t>baseband </a:t>
            </a:r>
            <a:r>
              <a:rPr kumimoji="1" lang="en-US" sz="2000" dirty="0">
                <a:solidFill>
                  <a:srgbClr val="00B050"/>
                </a:solidFill>
                <a:latin typeface="Times New Roman" panose="02020603050405020304" charset="0"/>
                <a:cs typeface="Times New Roman" panose="02020603050405020304" charset="0"/>
              </a:rPr>
              <a:t>precoding matrix</a:t>
            </a:r>
            <a:r>
              <a:rPr kumimoji="1" lang="en-US" altLang="zh-CN" sz="2000" dirty="0">
                <a:latin typeface="Times New Roman" panose="02020603050405020304" charset="0"/>
                <a:cs typeface="Times New Roman" panose="02020603050405020304" charset="0"/>
                <a:sym typeface="+mn-ea"/>
              </a:rPr>
              <a:t> needs to be optimized</a:t>
            </a:r>
            <a:r>
              <a:rPr kumimoji="1" lang="en-US" altLang="zh-CN" sz="2000" dirty="0">
                <a:latin typeface="Times New Roman" panose="02020603050405020304" charset="0"/>
                <a:cs typeface="Times New Roman" panose="02020603050405020304" charset="0"/>
              </a:rPr>
              <a:t>.</a:t>
            </a:r>
            <a:endParaRPr kumimoji="1" lang="en-US" altLang="zh-CN" sz="2000" dirty="0">
              <a:latin typeface="Times New Roman" panose="02020603050405020304" charset="0"/>
              <a:cs typeface="Times New Roman" panose="02020603050405020304" charset="0"/>
            </a:endParaRPr>
          </a:p>
          <a:p>
            <a:pPr marL="285750" indent="-285750" algn="l">
              <a:buFont typeface="Wingdings" panose="05000000000000000000" charset="0"/>
              <a:buChar char="Ø"/>
            </a:pPr>
            <a:endParaRPr kumimoji="1" lang="en-US" altLang="zh-CN" sz="2000" dirty="0">
              <a:latin typeface="Times New Roman" panose="02020603050405020304" charset="0"/>
              <a:cs typeface="Times New Roman" panose="02020603050405020304" charset="0"/>
            </a:endParaRPr>
          </a:p>
          <a:p>
            <a:pPr marL="285750" indent="-285750" algn="l">
              <a:buFont typeface="Wingdings" panose="05000000000000000000" charset="0"/>
              <a:buChar char="Ø"/>
            </a:pPr>
            <a:r>
              <a:rPr kumimoji="1" lang="en-US" altLang="zh-CN" sz="2000" dirty="0">
                <a:latin typeface="Times New Roman" panose="02020603050405020304" charset="0"/>
                <a:cs typeface="Times New Roman" panose="02020603050405020304" charset="0"/>
                <a:sym typeface="+mn-ea"/>
              </a:rPr>
              <a:t>T</a:t>
            </a:r>
            <a:r>
              <a:rPr kumimoji="1" lang="zh-CN" altLang="en-US" sz="2000" dirty="0">
                <a:latin typeface="Times New Roman" panose="02020603050405020304" charset="0"/>
                <a:cs typeface="Times New Roman" panose="02020603050405020304" charset="0"/>
                <a:sym typeface="+mn-ea"/>
              </a:rPr>
              <a:t>he </a:t>
            </a:r>
            <a:r>
              <a:rPr kumimoji="1" lang="zh-CN" altLang="en-US" sz="2000" dirty="0">
                <a:latin typeface="Times New Roman" panose="02020603050405020304" charset="0"/>
                <a:cs typeface="Times New Roman" panose="02020603050405020304" charset="0"/>
                <a:sym typeface="+mn-ea"/>
              </a:rPr>
              <a:t>algorithm</a:t>
            </a:r>
            <a:r>
              <a:rPr kumimoji="1" lang="en-US" altLang="zh-CN" sz="2000" dirty="0">
                <a:latin typeface="Times New Roman" panose="02020603050405020304" charset="0"/>
                <a:cs typeface="Times New Roman" panose="02020603050405020304" charset="0"/>
                <a:sym typeface="+mn-ea"/>
              </a:rPr>
              <a:t> </a:t>
            </a:r>
            <a:r>
              <a:rPr kumimoji="1" lang="en-US" altLang="zh-CN" sz="2000" dirty="0">
                <a:latin typeface="Times New Roman" panose="02020603050405020304" charset="0"/>
                <a:cs typeface="Times New Roman" panose="02020603050405020304" charset="0"/>
              </a:rPr>
              <a:t>take </a:t>
            </a:r>
            <a:r>
              <a:rPr kumimoji="1" lang="en-US" altLang="zh-CN" sz="2000" dirty="0">
                <a:solidFill>
                  <a:srgbClr val="00B050"/>
                </a:solidFill>
                <a:latin typeface="Times New Roman" panose="02020603050405020304" charset="0"/>
                <a:cs typeface="Times New Roman" panose="02020603050405020304" charset="0"/>
              </a:rPr>
              <a:t>inter-user interference </a:t>
            </a:r>
            <a:r>
              <a:rPr kumimoji="1" lang="en-US" altLang="zh-CN" sz="2000" dirty="0">
                <a:solidFill>
                  <a:schemeClr val="tx1"/>
                </a:solidFill>
                <a:latin typeface="Times New Roman" panose="02020603050405020304" charset="0"/>
                <a:cs typeface="Times New Roman" panose="02020603050405020304" charset="0"/>
              </a:rPr>
              <a:t>into consideration.</a:t>
            </a:r>
            <a:endParaRPr kumimoji="1" lang="en-US" altLang="zh-CN" sz="2000" dirty="0">
              <a:solidFill>
                <a:schemeClr val="tx1"/>
              </a:solidFill>
              <a:latin typeface="Times New Roman" panose="02020603050405020304" charset="0"/>
              <a:cs typeface="Times New Roman" panose="02020603050405020304" charset="0"/>
            </a:endParaRPr>
          </a:p>
          <a:p>
            <a:pPr marL="285750" indent="-285750" algn="l">
              <a:buFont typeface="Wingdings" panose="05000000000000000000" charset="0"/>
              <a:buChar char="Ø"/>
            </a:pPr>
            <a:endParaRPr kumimoji="1" lang="zh-CN" altLang="en-US" sz="2000" dirty="0">
              <a:latin typeface="Times New Roman" panose="02020603050405020304" charset="0"/>
              <a:cs typeface="Times New Roman" panose="02020603050405020304" charset="0"/>
            </a:endParaRPr>
          </a:p>
          <a:p>
            <a:pPr marL="285750" indent="-285750" algn="l">
              <a:buFont typeface="Wingdings" panose="05000000000000000000" charset="0"/>
              <a:buChar char="Ø"/>
            </a:pPr>
            <a:r>
              <a:rPr kumimoji="1" lang="en-US" altLang="zh-CN" sz="2000" dirty="0">
                <a:latin typeface="Times New Roman" panose="02020603050405020304" charset="0"/>
                <a:cs typeface="Times New Roman" panose="02020603050405020304" charset="0"/>
                <a:sym typeface="+mn-ea"/>
              </a:rPr>
              <a:t>T</a:t>
            </a:r>
            <a:r>
              <a:rPr kumimoji="1" lang="zh-CN" altLang="en-US" sz="2000" dirty="0">
                <a:latin typeface="Times New Roman" panose="02020603050405020304" charset="0"/>
                <a:cs typeface="Times New Roman" panose="02020603050405020304" charset="0"/>
                <a:sym typeface="+mn-ea"/>
              </a:rPr>
              <a:t>he algorithm</a:t>
            </a:r>
            <a:r>
              <a:rPr kumimoji="1" lang="en-US" altLang="zh-CN" sz="2000" dirty="0">
                <a:latin typeface="Times New Roman" panose="02020603050405020304" charset="0"/>
                <a:cs typeface="Times New Roman" panose="02020603050405020304" charset="0"/>
                <a:sym typeface="+mn-ea"/>
              </a:rPr>
              <a:t> needs to improve </a:t>
            </a:r>
            <a:r>
              <a:rPr kumimoji="1" lang="en-US" altLang="zh-CN" sz="2000" dirty="0">
                <a:solidFill>
                  <a:srgbClr val="00B050"/>
                </a:solidFill>
                <a:latin typeface="Times New Roman" panose="02020603050405020304" charset="0"/>
                <a:cs typeface="Times New Roman" panose="02020603050405020304" charset="0"/>
                <a:sym typeface="+mn-ea"/>
              </a:rPr>
              <a:t>sum-rate</a:t>
            </a:r>
            <a:r>
              <a:rPr kumimoji="1" lang="en-US" altLang="zh-CN" sz="2000" dirty="0">
                <a:latin typeface="Times New Roman" panose="02020603050405020304" charset="0"/>
                <a:cs typeface="Times New Roman" panose="02020603050405020304" charset="0"/>
                <a:sym typeface="+mn-ea"/>
              </a:rPr>
              <a:t> with low </a:t>
            </a:r>
            <a:r>
              <a:rPr kumimoji="1" lang="en-US" altLang="zh-CN" sz="2000" dirty="0">
                <a:solidFill>
                  <a:srgbClr val="00B050"/>
                </a:solidFill>
                <a:latin typeface="Times New Roman" panose="02020603050405020304" charset="0"/>
                <a:cs typeface="Times New Roman" panose="02020603050405020304" charset="0"/>
                <a:sym typeface="+mn-ea"/>
              </a:rPr>
              <a:t>computational complexity</a:t>
            </a:r>
            <a:r>
              <a:rPr kumimoji="1" lang="en-US" altLang="zh-CN" sz="2000" dirty="0">
                <a:latin typeface="Times New Roman" panose="02020603050405020304" charset="0"/>
                <a:cs typeface="Times New Roman" panose="02020603050405020304" charset="0"/>
                <a:sym typeface="+mn-ea"/>
              </a:rPr>
              <a:t>.</a:t>
            </a:r>
            <a:endParaRPr kumimoji="1" lang="en-US" sz="2000" dirty="0">
              <a:latin typeface="Times New Roman" panose="02020603050405020304" charset="0"/>
              <a:cs typeface="Times New Roman" panose="02020603050405020304" charset="0"/>
            </a:endParaRPr>
          </a:p>
          <a:p>
            <a:pPr marL="285750" indent="-285750" algn="l">
              <a:buFont typeface="Wingdings" panose="05000000000000000000" charset="0"/>
              <a:buChar char="Ø"/>
            </a:pPr>
            <a:endParaRPr kumimoji="1" lang="en-US" dirty="0"/>
          </a:p>
          <a:p>
            <a:pPr marL="285750" indent="-285750" algn="l">
              <a:buFont typeface="Wingdings" panose="05000000000000000000" charset="0"/>
              <a:buChar char="Ø"/>
            </a:pPr>
            <a:endParaRPr kumimoji="1" lang="en-US" dirty="0"/>
          </a:p>
        </p:txBody>
      </p:sp>
      <p:sp>
        <p:nvSpPr>
          <p:cNvPr id="2" name="标题 1"/>
          <p:cNvSpPr>
            <a:spLocks noGrp="1"/>
          </p:cNvSpPr>
          <p:nvPr>
            <p:ph type="title"/>
          </p:nvPr>
        </p:nvSpPr>
        <p:spPr>
          <a:xfrm>
            <a:off x="582930" y="76200"/>
            <a:ext cx="2856230" cy="845185"/>
          </a:xfrm>
        </p:spPr>
        <p:txBody>
          <a:bodyPr/>
          <a:lstStyle/>
          <a:p>
            <a:r>
              <a:rPr kumimoji="1" lang="en-US" altLang="zh-CN" sz="3200" b="1" dirty="0">
                <a:solidFill>
                  <a:schemeClr val="bg1"/>
                </a:solidFill>
                <a:latin typeface="+mn-lt"/>
                <a:ea typeface="+mn-ea"/>
                <a:cs typeface="+mn-cs"/>
                <a:sym typeface="+mn-ea"/>
              </a:rPr>
              <a:t>1 Background</a:t>
            </a:r>
            <a:endParaRPr kumimoji="1" lang="en-US" altLang="zh-CN" sz="3200" b="1" dirty="0">
              <a:solidFill>
                <a:schemeClr val="bg1"/>
              </a:solidFill>
              <a:latin typeface="+mn-lt"/>
              <a:ea typeface="+mn-ea"/>
              <a:cs typeface="+mn-cs"/>
              <a:sym typeface="+mn-ea"/>
            </a:endParaRPr>
          </a:p>
        </p:txBody>
      </p:sp>
      <p:pic>
        <p:nvPicPr>
          <p:cNvPr id="20" name="图片 19"/>
          <p:cNvPicPr>
            <a:picLocks noChangeAspect="1"/>
          </p:cNvPicPr>
          <p:nvPr>
            <p:custDataLst>
              <p:tags r:id="rId1"/>
            </p:custDataLst>
          </p:nvPr>
        </p:nvPicPr>
        <p:blipFill>
          <a:blip r:embed="rId2" cstate="email"/>
          <a:stretch>
            <a:fillRect/>
          </a:stretch>
        </p:blipFill>
        <p:spPr>
          <a:xfrm>
            <a:off x="11168380" y="96520"/>
            <a:ext cx="756920" cy="756920"/>
          </a:xfrm>
          <a:prstGeom prst="rect">
            <a:avLst/>
          </a:prstGeom>
        </p:spPr>
      </p:pic>
      <p:grpSp>
        <p:nvGrpSpPr>
          <p:cNvPr id="10" name="组合 9"/>
          <p:cNvGrpSpPr/>
          <p:nvPr/>
        </p:nvGrpSpPr>
        <p:grpSpPr>
          <a:xfrm>
            <a:off x="411480" y="1233805"/>
            <a:ext cx="7453630" cy="1547708"/>
            <a:chOff x="1476" y="2270"/>
            <a:chExt cx="8494" cy="2801"/>
          </a:xfrm>
        </p:grpSpPr>
        <p:grpSp>
          <p:nvGrpSpPr>
            <p:cNvPr id="9" name="组合 8"/>
            <p:cNvGrpSpPr/>
            <p:nvPr/>
          </p:nvGrpSpPr>
          <p:grpSpPr>
            <a:xfrm>
              <a:off x="1476" y="2270"/>
              <a:ext cx="8494" cy="945"/>
              <a:chOff x="3027" y="2611"/>
              <a:chExt cx="6029" cy="945"/>
            </a:xfrm>
          </p:grpSpPr>
          <p:sp>
            <p:nvSpPr>
              <p:cNvPr id="7" name="文本框 6"/>
              <p:cNvSpPr txBox="1"/>
              <p:nvPr/>
            </p:nvSpPr>
            <p:spPr>
              <a:xfrm>
                <a:off x="3096" y="2611"/>
                <a:ext cx="5958" cy="945"/>
              </a:xfrm>
              <a:prstGeom prst="rect">
                <a:avLst/>
              </a:prstGeom>
              <a:solidFill>
                <a:srgbClr val="356115"/>
              </a:solidFill>
            </p:spPr>
            <p:txBody>
              <a:bodyPr vert="horz" wrap="square" lIns="91440" tIns="45720" rIns="91440" bIns="45720" rtlCol="0" anchor="ctr">
                <a:normAutofit/>
              </a:bodyPr>
              <a:p>
                <a:pPr algn="l"/>
                <a:endParaRPr kumimoji="1" lang="zh-CN" altLang="en-US" dirty="0"/>
              </a:p>
            </p:txBody>
          </p:sp>
          <p:sp>
            <p:nvSpPr>
              <p:cNvPr id="4" name="文本框 3"/>
              <p:cNvSpPr txBox="1"/>
              <p:nvPr/>
            </p:nvSpPr>
            <p:spPr>
              <a:xfrm>
                <a:off x="3027" y="2790"/>
                <a:ext cx="6029" cy="588"/>
              </a:xfrm>
              <a:prstGeom prst="rect">
                <a:avLst/>
              </a:prstGeom>
            </p:spPr>
            <p:txBody>
              <a:bodyPr vert="horz" wrap="square" lIns="91440" tIns="45720" rIns="91440" bIns="45720" rtlCol="0" anchor="ctr">
                <a:noAutofit/>
              </a:bodyPr>
              <a:p>
                <a:pPr algn="ctr"/>
                <a:r>
                  <a:rPr kumimoji="1" lang="en-US" altLang="zh-CN" sz="2400" b="1" dirty="0">
                    <a:solidFill>
                      <a:srgbClr val="FFCC00"/>
                    </a:solidFill>
                    <a:sym typeface="+mn-ea"/>
                  </a:rPr>
                  <a:t>DMA-based beamforming for HMIMO</a:t>
                </a:r>
                <a:endParaRPr kumimoji="1" lang="en-US" altLang="zh-CN" sz="2400" b="1" dirty="0">
                  <a:solidFill>
                    <a:srgbClr val="FFCC00"/>
                  </a:solidFill>
                </a:endParaRPr>
              </a:p>
            </p:txBody>
          </p:sp>
        </p:grpSp>
        <p:sp>
          <p:nvSpPr>
            <p:cNvPr id="8" name="文本框 7"/>
            <p:cNvSpPr txBox="1"/>
            <p:nvPr/>
          </p:nvSpPr>
          <p:spPr>
            <a:xfrm>
              <a:off x="1599" y="3215"/>
              <a:ext cx="8352" cy="1856"/>
            </a:xfrm>
            <a:prstGeom prst="rect">
              <a:avLst/>
            </a:prstGeom>
            <a:ln w="19050"/>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p>
              <a:pPr marL="285750" indent="-285750" algn="l" fontAlgn="auto">
                <a:lnSpc>
                  <a:spcPct val="125000"/>
                </a:lnSpc>
                <a:buFont typeface="Wingdings" panose="05000000000000000000" charset="0"/>
                <a:buChar char="Ø"/>
              </a:pPr>
              <a:r>
                <a:rPr kumimoji="1" lang="en-US" sz="2000" dirty="0"/>
                <a:t>Role: An alternative to </a:t>
              </a:r>
              <a:r>
                <a:rPr kumimoji="1" sz="2000" dirty="0"/>
                <a:t>traditional </a:t>
              </a:r>
              <a:r>
                <a:rPr kumimoji="1" lang="en-US" sz="2000" dirty="0"/>
                <a:t>antenna </a:t>
              </a:r>
              <a:endParaRPr kumimoji="1" lang="en-US" sz="2000" dirty="0"/>
            </a:p>
            <a:p>
              <a:pPr marL="285750" indent="-285750" algn="l" fontAlgn="auto">
                <a:lnSpc>
                  <a:spcPct val="125000"/>
                </a:lnSpc>
                <a:buFont typeface="Wingdings" panose="05000000000000000000" charset="0"/>
                <a:buChar char="Ø"/>
              </a:pPr>
              <a:r>
                <a:rPr kumimoji="1" lang="en-US" sz="2000" dirty="0"/>
                <a:t>Target: Improve the sum-rate</a:t>
              </a:r>
              <a:endParaRPr kumimoji="1" lang="zh-CN" altLang="en-US" sz="2000" dirty="0">
                <a:ea typeface="宋体" panose="02010600030101010101" pitchFamily="2" charset="-122"/>
              </a:endParaRPr>
            </a:p>
          </p:txBody>
        </p:sp>
      </p:grpSp>
      <p:sp>
        <p:nvSpPr>
          <p:cNvPr id="17" name="文本框 16"/>
          <p:cNvSpPr txBox="1"/>
          <p:nvPr/>
        </p:nvSpPr>
        <p:spPr>
          <a:xfrm>
            <a:off x="3292475" y="3051810"/>
            <a:ext cx="5985510" cy="510185"/>
          </a:xfrm>
          <a:prstGeom prst="roundRect">
            <a:avLst/>
          </a:prstGeom>
          <a:solidFill>
            <a:srgbClr val="EEBD4A"/>
          </a:solidFill>
        </p:spPr>
        <p:txBody>
          <a:bodyPr vert="horz" wrap="square" lIns="91440" tIns="45720" rIns="91440" bIns="45720" rtlCol="0" anchor="t">
            <a:spAutoFit/>
          </a:bodyPr>
          <a:p>
            <a:pPr algn="l"/>
            <a:r>
              <a:rPr kumimoji="1" lang="en-US" altLang="zh-CN" sz="2400" b="1" dirty="0">
                <a:solidFill>
                  <a:schemeClr val="bg1"/>
                </a:solidFill>
                <a:sym typeface="+mn-ea"/>
              </a:rPr>
              <a:t>Challenge </a:t>
            </a:r>
            <a:r>
              <a:rPr kumimoji="1" lang="en-US" altLang="zh-CN" sz="2400" b="1" dirty="0">
                <a:solidFill>
                  <a:srgbClr val="356115"/>
                </a:solidFill>
                <a:sym typeface="+mn-ea"/>
              </a:rPr>
              <a:t>upon </a:t>
            </a:r>
            <a:r>
              <a:rPr kumimoji="1" lang="en-US" altLang="zh-CN" sz="2400" b="1" dirty="0">
                <a:solidFill>
                  <a:schemeClr val="accent6">
                    <a:lumMod val="50000"/>
                  </a:schemeClr>
                </a:solidFill>
                <a:sym typeface="+mn-ea"/>
              </a:rPr>
              <a:t>DMA-based beamforming</a:t>
            </a:r>
            <a:endParaRPr kumimoji="1" lang="en-US" altLang="zh-CN" sz="2400" b="1" u="sng" dirty="0">
              <a:solidFill>
                <a:schemeClr val="accent6">
                  <a:lumMod val="50000"/>
                </a:schemeClr>
              </a:solidFill>
              <a:sym typeface="+mn-ea"/>
            </a:endParaRPr>
          </a:p>
        </p:txBody>
      </p:sp>
      <p:sp>
        <p:nvSpPr>
          <p:cNvPr id="39" name="椭圆 38"/>
          <p:cNvSpPr/>
          <p:nvPr>
            <p:custDataLst>
              <p:tags r:id="rId3"/>
            </p:custDataLst>
          </p:nvPr>
        </p:nvSpPr>
        <p:spPr>
          <a:xfrm>
            <a:off x="5505450" y="1124585"/>
            <a:ext cx="1253490" cy="713740"/>
          </a:xfrm>
          <a:prstGeom prst="ellipse">
            <a:avLst/>
          </a:prstGeom>
          <a:noFill/>
          <a:ln w="19050">
            <a:solidFill>
              <a:schemeClr val="accent2"/>
            </a:solidFill>
          </a:ln>
          <a:extLst>
            <a:ext uri="{909E8E84-426E-40DD-AFC4-6F175D3DCCD1}">
              <a14:hiddenFill xmlns:a14="http://schemas.microsoft.com/office/drawing/2010/main">
                <a:solidFill>
                  <a:schemeClr val="accent2"/>
                </a:solidFill>
              </a14:hiddenFill>
            </a:ext>
          </a:extLst>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cxnSp>
        <p:nvCxnSpPr>
          <p:cNvPr id="3" name="曲线连接符 2"/>
          <p:cNvCxnSpPr>
            <a:stCxn id="39" idx="6"/>
            <a:endCxn id="16" idx="1"/>
          </p:cNvCxnSpPr>
          <p:nvPr/>
        </p:nvCxnSpPr>
        <p:spPr>
          <a:xfrm>
            <a:off x="6758940" y="1481455"/>
            <a:ext cx="1820545" cy="493395"/>
          </a:xfrm>
          <a:prstGeom prst="curvedConnector3">
            <a:avLst>
              <a:gd name="adj1" fmla="val 50017"/>
            </a:avLst>
          </a:prstGeom>
          <a:ln w="28575">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6" name="矩形 15"/>
          <p:cNvSpPr/>
          <p:nvPr>
            <p:custDataLst>
              <p:tags r:id="rId4"/>
            </p:custDataLst>
          </p:nvPr>
        </p:nvSpPr>
        <p:spPr>
          <a:xfrm>
            <a:off x="8579485" y="1432560"/>
            <a:ext cx="2962275" cy="1084580"/>
          </a:xfrm>
          <a:prstGeom prst="rect">
            <a:avLst/>
          </a:prstGeom>
          <a:noFill/>
          <a:ln w="28575" cmpd="sng">
            <a:solidFill>
              <a:schemeClr val="accent1">
                <a:shade val="50000"/>
              </a:schemeClr>
            </a:solidFill>
            <a:prstDash val="dash"/>
          </a:ln>
          <a:effectLst/>
          <a:extLst>
            <a:ext uri="{909E8E84-426E-40DD-AFC4-6F175D3DCCD1}">
              <a14:hiddenFill xmlns:a14="http://schemas.microsoft.com/office/drawing/2010/main">
                <a:gradFill flip="none" rotWithShape="1">
                  <a:gsLst>
                    <a:gs pos="40000">
                      <a:schemeClr val="accent2"/>
                    </a:gs>
                    <a:gs pos="13000">
                      <a:schemeClr val="accent2"/>
                    </a:gs>
                    <a:gs pos="0">
                      <a:srgbClr val="F6ECE2"/>
                    </a:gs>
                  </a:gsLst>
                  <a:lin ang="16200000" scaled="0"/>
                  <a:tileRect/>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kumimoji="1" lang="en-US" altLang="zh-CN" b="1" dirty="0">
                <a:solidFill>
                  <a:schemeClr val="accent6">
                    <a:lumMod val="50000"/>
                  </a:schemeClr>
                </a:solidFill>
              </a:rPr>
              <a:t>MIMO with nearly spatially continuous aperture</a:t>
            </a:r>
            <a:endParaRPr kumimoji="1" lang="en-US" altLang="zh-CN" b="1" dirty="0">
              <a:solidFill>
                <a:schemeClr val="accent6">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2930" y="76200"/>
            <a:ext cx="2856230" cy="845185"/>
          </a:xfrm>
        </p:spPr>
        <p:txBody>
          <a:bodyPr/>
          <a:lstStyle/>
          <a:p>
            <a:r>
              <a:rPr kumimoji="1" lang="en-US" altLang="zh-CN" sz="3200" b="1" dirty="0">
                <a:solidFill>
                  <a:schemeClr val="bg1"/>
                </a:solidFill>
                <a:latin typeface="+mn-lt"/>
                <a:ea typeface="+mn-ea"/>
                <a:cs typeface="+mn-cs"/>
                <a:sym typeface="+mn-ea"/>
              </a:rPr>
              <a:t>1 Background</a:t>
            </a:r>
            <a:endParaRPr kumimoji="1" lang="en-US" altLang="zh-CN" sz="3200" b="1" dirty="0">
              <a:solidFill>
                <a:schemeClr val="bg1"/>
              </a:solidFill>
              <a:latin typeface="+mn-lt"/>
              <a:ea typeface="+mn-ea"/>
              <a:cs typeface="+mn-cs"/>
              <a:sym typeface="+mn-ea"/>
            </a:endParaRPr>
          </a:p>
        </p:txBody>
      </p:sp>
      <p:pic>
        <p:nvPicPr>
          <p:cNvPr id="20" name="图片 19"/>
          <p:cNvPicPr>
            <a:picLocks noChangeAspect="1"/>
          </p:cNvPicPr>
          <p:nvPr>
            <p:custDataLst>
              <p:tags r:id="rId1"/>
            </p:custDataLst>
          </p:nvPr>
        </p:nvPicPr>
        <p:blipFill>
          <a:blip r:embed="rId2" cstate="email"/>
          <a:stretch>
            <a:fillRect/>
          </a:stretch>
        </p:blipFill>
        <p:spPr>
          <a:xfrm>
            <a:off x="11168380" y="96520"/>
            <a:ext cx="756920" cy="756920"/>
          </a:xfrm>
          <a:prstGeom prst="rect">
            <a:avLst/>
          </a:prstGeom>
        </p:spPr>
      </p:pic>
      <p:grpSp>
        <p:nvGrpSpPr>
          <p:cNvPr id="10" name="组合 9"/>
          <p:cNvGrpSpPr/>
          <p:nvPr/>
        </p:nvGrpSpPr>
        <p:grpSpPr>
          <a:xfrm>
            <a:off x="200660" y="3284220"/>
            <a:ext cx="5652770" cy="1741805"/>
            <a:chOff x="1476" y="2270"/>
            <a:chExt cx="8494" cy="3752"/>
          </a:xfrm>
        </p:grpSpPr>
        <p:grpSp>
          <p:nvGrpSpPr>
            <p:cNvPr id="9" name="组合 8"/>
            <p:cNvGrpSpPr/>
            <p:nvPr/>
          </p:nvGrpSpPr>
          <p:grpSpPr>
            <a:xfrm>
              <a:off x="1476" y="2270"/>
              <a:ext cx="8494" cy="945"/>
              <a:chOff x="3027" y="2611"/>
              <a:chExt cx="6029" cy="945"/>
            </a:xfrm>
          </p:grpSpPr>
          <p:sp>
            <p:nvSpPr>
              <p:cNvPr id="7" name="文本框 6"/>
              <p:cNvSpPr txBox="1"/>
              <p:nvPr>
                <p:custDataLst>
                  <p:tags r:id="rId3"/>
                </p:custDataLst>
              </p:nvPr>
            </p:nvSpPr>
            <p:spPr>
              <a:xfrm>
                <a:off x="3096" y="2611"/>
                <a:ext cx="5958" cy="945"/>
              </a:xfrm>
              <a:prstGeom prst="rect">
                <a:avLst/>
              </a:prstGeom>
              <a:solidFill>
                <a:srgbClr val="356115"/>
              </a:solidFill>
            </p:spPr>
            <p:txBody>
              <a:bodyPr vert="horz" wrap="square" lIns="91440" tIns="45720" rIns="91440" bIns="45720" rtlCol="0" anchor="ctr">
                <a:normAutofit/>
              </a:bodyPr>
              <a:p>
                <a:pPr algn="l"/>
                <a:endParaRPr kumimoji="1" lang="zh-CN" altLang="en-US" dirty="0"/>
              </a:p>
            </p:txBody>
          </p:sp>
          <p:sp>
            <p:nvSpPr>
              <p:cNvPr id="4" name="文本框 3"/>
              <p:cNvSpPr txBox="1"/>
              <p:nvPr>
                <p:custDataLst>
                  <p:tags r:id="rId4"/>
                </p:custDataLst>
              </p:nvPr>
            </p:nvSpPr>
            <p:spPr>
              <a:xfrm>
                <a:off x="3027" y="2790"/>
                <a:ext cx="6029" cy="588"/>
              </a:xfrm>
              <a:prstGeom prst="rect">
                <a:avLst/>
              </a:prstGeom>
            </p:spPr>
            <p:txBody>
              <a:bodyPr vert="horz" wrap="square" lIns="91440" tIns="45720" rIns="91440" bIns="45720" rtlCol="0" anchor="ctr">
                <a:noAutofit/>
              </a:bodyPr>
              <a:p>
                <a:pPr algn="ctr"/>
                <a:r>
                  <a:rPr kumimoji="1" lang="en-US" altLang="zh-CN" sz="2000" b="1" dirty="0">
                    <a:solidFill>
                      <a:srgbClr val="FFCC00"/>
                    </a:solidFill>
                  </a:rPr>
                  <a:t>in the DMA weights matrix design </a:t>
                </a:r>
                <a:endParaRPr kumimoji="1" lang="en-US" altLang="zh-CN" sz="2000" b="1" dirty="0">
                  <a:solidFill>
                    <a:srgbClr val="FFCC00"/>
                  </a:solidFill>
                </a:endParaRPr>
              </a:p>
            </p:txBody>
          </p:sp>
        </p:grpSp>
        <mc:AlternateContent xmlns:mc="http://schemas.openxmlformats.org/markup-compatibility/2006">
          <mc:Choice xmlns:a14="http://schemas.microsoft.com/office/drawing/2010/main" Requires="a14">
            <p:sp>
              <p:nvSpPr>
                <p:cNvPr id="8" name="文本框 7"/>
                <p:cNvSpPr txBox="1"/>
                <p:nvPr>
                  <p:custDataLst>
                    <p:tags r:id="rId5"/>
                  </p:custDataLst>
                </p:nvPr>
              </p:nvSpPr>
              <p:spPr>
                <a:xfrm>
                  <a:off x="1585" y="3215"/>
                  <a:ext cx="8373" cy="2807"/>
                </a:xfrm>
                <a:prstGeom prst="rect">
                  <a:avLst/>
                </a:prstGeom>
                <a:ln w="19050"/>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p>
                  <a:pPr indent="0" algn="ctr" fontAlgn="auto">
                    <a:lnSpc>
                      <a:spcPct val="125000"/>
                    </a:lnSpc>
                    <a:buFont typeface="Wingdings" panose="05000000000000000000" charset="0"/>
                    <a:buNone/>
                  </a:pPr>
                  <a:r>
                    <a:rPr kumimoji="1" lang="en-US" sz="2000" b="1" dirty="0">
                      <a:sym typeface="+mn-ea"/>
                    </a:rPr>
                    <a:t>Computing </a:t>
                  </a:r>
                  <a:r>
                    <a:rPr kumimoji="1" lang="en-US" sz="2000" b="1" dirty="0">
                      <a:solidFill>
                        <a:schemeClr val="accent4"/>
                      </a:solidFill>
                      <a:sym typeface="+mn-ea"/>
                    </a:rPr>
                    <a:t>the gradient of the sum rate</a:t>
                  </a:r>
                  <a:r>
                    <a:rPr kumimoji="1" lang="en-US" sz="2000" b="1" dirty="0">
                      <a:sym typeface="+mn-ea"/>
                    </a:rPr>
                    <a:t> costs </a:t>
                  </a:r>
                  <a:r>
                    <a:rPr kumimoji="1" lang="en-US" sz="2000" b="1" dirty="0">
                      <a:solidFill>
                        <a:srgbClr val="00B050"/>
                      </a:solidFill>
                      <a:sym typeface="+mn-ea"/>
                    </a:rPr>
                    <a:t>O(</a:t>
                  </a:r>
                  <a14:m>
                    <m:oMath xmlns:m="http://schemas.openxmlformats.org/officeDocument/2006/math">
                      <m:sSup>
                        <m:sSupPr>
                          <m:ctrlPr>
                            <a:rPr kumimoji="1" lang="en-US" sz="2000" b="1" i="1" dirty="0">
                              <a:solidFill>
                                <a:srgbClr val="00B050"/>
                              </a:solidFill>
                              <a:latin typeface="Cambria Math" panose="02040503050406030204" charset="0"/>
                              <a:cs typeface="Cambria Math" panose="02040503050406030204" charset="0"/>
                              <a:sym typeface="+mn-ea"/>
                            </a:rPr>
                          </m:ctrlPr>
                        </m:sSupPr>
                        <m:e>
                          <m:r>
                            <a:rPr kumimoji="1" lang="en-US" sz="2000" b="1" i="1" dirty="0">
                              <a:solidFill>
                                <a:srgbClr val="00B050"/>
                              </a:solidFill>
                              <a:latin typeface="Cambria Math" panose="02040503050406030204" charset="0"/>
                              <a:cs typeface="Cambria Math" panose="02040503050406030204" charset="0"/>
                              <a:sym typeface="+mn-ea"/>
                            </a:rPr>
                            <m:t>𝑵𝑲</m:t>
                          </m:r>
                        </m:e>
                        <m:sup>
                          <m:r>
                            <a:rPr kumimoji="1" lang="en-US" sz="2000" b="1" i="1" dirty="0">
                              <a:solidFill>
                                <a:srgbClr val="00B050"/>
                              </a:solidFill>
                              <a:latin typeface="Cambria Math" panose="02040503050406030204" charset="0"/>
                              <a:cs typeface="Cambria Math" panose="02040503050406030204" charset="0"/>
                              <a:sym typeface="+mn-ea"/>
                            </a:rPr>
                            <m:t>𝟐</m:t>
                          </m:r>
                        </m:sup>
                      </m:sSup>
                    </m:oMath>
                  </a14:m>
                  <a:r>
                    <a:rPr kumimoji="1" lang="en-US" sz="2000" b="1" dirty="0">
                      <a:solidFill>
                        <a:srgbClr val="00B050"/>
                      </a:solidFill>
                      <a:sym typeface="+mn-ea"/>
                    </a:rPr>
                    <a:t>)</a:t>
                  </a:r>
                  <a:r>
                    <a:rPr kumimoji="1" lang="en-US" sz="2000" b="1" dirty="0">
                      <a:sym typeface="+mn-ea"/>
                    </a:rPr>
                    <a:t> computational complexity.</a:t>
                  </a:r>
                  <a:endParaRPr kumimoji="1" lang="en-US" sz="2000" dirty="0"/>
                </a:p>
              </p:txBody>
            </p:sp>
          </mc:Choice>
          <mc:Fallback>
            <p:sp>
              <p:nvSpPr>
                <p:cNvPr id="8" name="文本框 7"/>
                <p:cNvSpPr txBox="1">
                  <a:spLocks noRot="1" noChangeAspect="1" noMove="1" noResize="1" noEditPoints="1" noAdjustHandles="1" noChangeArrowheads="1" noChangeShapeType="1" noTextEdit="1"/>
                </p:cNvSpPr>
                <p:nvPr>
                  <p:custDataLst>
                    <p:tags r:id="rId6"/>
                  </p:custDataLst>
                </p:nvPr>
              </p:nvSpPr>
              <p:spPr>
                <a:xfrm>
                  <a:off x="1585" y="3215"/>
                  <a:ext cx="8373" cy="2807"/>
                </a:xfrm>
                <a:prstGeom prst="rect">
                  <a:avLst/>
                </a:prstGeom>
                <a:blipFill rotWithShape="1">
                  <a:blip r:embed="rId7"/>
                </a:blipFill>
                <a:ln w="19050"/>
              </p:spPr>
              <p:style>
                <a:lnRef idx="2">
                  <a:schemeClr val="accent1"/>
                </a:lnRef>
                <a:fillRef idx="1">
                  <a:schemeClr val="lt1"/>
                </a:fillRef>
                <a:effectRef idx="0">
                  <a:schemeClr val="accent1"/>
                </a:effectRef>
                <a:fontRef idx="minor">
                  <a:schemeClr val="dk1"/>
                </a:fontRef>
              </p:style>
              <p:txBody>
                <a:bodyPr/>
                <a:lstStyle/>
                <a:p>
                  <a:r>
                    <a:rPr lang="zh-CN" altLang="en-US">
                      <a:noFill/>
                    </a:rPr>
                    <a:t> </a:t>
                  </a:r>
                </a:p>
              </p:txBody>
            </p:sp>
          </mc:Fallback>
        </mc:AlternateContent>
      </p:grpSp>
      <p:sp>
        <p:nvSpPr>
          <p:cNvPr id="56" name="矩形: 圆角 55"/>
          <p:cNvSpPr/>
          <p:nvPr>
            <p:custDataLst>
              <p:tags r:id="rId8"/>
            </p:custDataLst>
          </p:nvPr>
        </p:nvSpPr>
        <p:spPr>
          <a:xfrm>
            <a:off x="-18415" y="5457825"/>
            <a:ext cx="12211685" cy="1059815"/>
          </a:xfrm>
          <a:prstGeom prst="rect">
            <a:avLst/>
          </a:prstGeom>
          <a:solidFill>
            <a:srgbClr val="EEBD4A"/>
          </a:solidFill>
          <a:ln>
            <a:noFill/>
          </a:ln>
        </p:spPr>
        <p:style>
          <a:lnRef idx="3">
            <a:schemeClr val="lt1"/>
          </a:lnRef>
          <a:fillRef idx="1">
            <a:schemeClr val="accent6"/>
          </a:fillRef>
          <a:effectRef idx="1">
            <a:schemeClr val="accent6"/>
          </a:effectRef>
          <a:fontRef idx="minor">
            <a:schemeClr val="lt1"/>
          </a:fontRef>
        </p:style>
        <p:txBody>
          <a:bodyPr rtlCol="0" anchor="ctr"/>
          <a:p>
            <a:pPr algn="ctr"/>
            <a:r>
              <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AO/DO for DMA weights matrix and precoding matrix design.</a:t>
            </a:r>
            <a:endParaRPr lang="en-US" altLang="zh-CN" sz="24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endParaRPr>
          </a:p>
        </p:txBody>
      </p:sp>
      <p:grpSp>
        <p:nvGrpSpPr>
          <p:cNvPr id="11" name="组合 10"/>
          <p:cNvGrpSpPr/>
          <p:nvPr/>
        </p:nvGrpSpPr>
        <p:grpSpPr>
          <a:xfrm>
            <a:off x="6177915" y="3286760"/>
            <a:ext cx="5720715" cy="1743075"/>
            <a:chOff x="1476" y="2270"/>
            <a:chExt cx="8494" cy="3755"/>
          </a:xfrm>
        </p:grpSpPr>
        <p:grpSp>
          <p:nvGrpSpPr>
            <p:cNvPr id="12" name="组合 11"/>
            <p:cNvGrpSpPr/>
            <p:nvPr/>
          </p:nvGrpSpPr>
          <p:grpSpPr>
            <a:xfrm>
              <a:off x="1476" y="2270"/>
              <a:ext cx="8494" cy="945"/>
              <a:chOff x="3027" y="2611"/>
              <a:chExt cx="6029" cy="945"/>
            </a:xfrm>
          </p:grpSpPr>
          <p:sp>
            <p:nvSpPr>
              <p:cNvPr id="13" name="文本框 12"/>
              <p:cNvSpPr txBox="1"/>
              <p:nvPr>
                <p:custDataLst>
                  <p:tags r:id="rId9"/>
                </p:custDataLst>
              </p:nvPr>
            </p:nvSpPr>
            <p:spPr>
              <a:xfrm>
                <a:off x="3096" y="2611"/>
                <a:ext cx="5958" cy="945"/>
              </a:xfrm>
              <a:prstGeom prst="rect">
                <a:avLst/>
              </a:prstGeom>
              <a:solidFill>
                <a:srgbClr val="356115"/>
              </a:solidFill>
            </p:spPr>
            <p:txBody>
              <a:bodyPr vert="horz" wrap="square" lIns="91440" tIns="45720" rIns="91440" bIns="45720" rtlCol="0" anchor="ctr">
                <a:normAutofit/>
              </a:bodyPr>
              <a:p>
                <a:pPr algn="l"/>
                <a:endParaRPr kumimoji="1" lang="zh-CN" altLang="en-US" dirty="0"/>
              </a:p>
            </p:txBody>
          </p:sp>
          <p:sp>
            <p:nvSpPr>
              <p:cNvPr id="14" name="文本框 13"/>
              <p:cNvSpPr txBox="1"/>
              <p:nvPr>
                <p:custDataLst>
                  <p:tags r:id="rId10"/>
                </p:custDataLst>
              </p:nvPr>
            </p:nvSpPr>
            <p:spPr>
              <a:xfrm>
                <a:off x="3027" y="2790"/>
                <a:ext cx="6029" cy="588"/>
              </a:xfrm>
              <a:prstGeom prst="rect">
                <a:avLst/>
              </a:prstGeom>
            </p:spPr>
            <p:txBody>
              <a:bodyPr vert="horz" wrap="square" lIns="91440" tIns="45720" rIns="91440" bIns="45720" rtlCol="0" anchor="ctr">
                <a:noAutofit/>
              </a:bodyPr>
              <a:p>
                <a:pPr algn="ctr"/>
                <a:r>
                  <a:rPr kumimoji="1" lang="en-US" altLang="zh-CN" sz="2000" b="1" dirty="0">
                    <a:solidFill>
                      <a:srgbClr val="FFCC00"/>
                    </a:solidFill>
                    <a:sym typeface="+mn-ea"/>
                  </a:rPr>
                  <a:t>in multiple times of  WMMSE convergence</a:t>
                </a:r>
                <a:endParaRPr kumimoji="1" lang="en-US" altLang="zh-CN" sz="2000" b="1" dirty="0">
                  <a:solidFill>
                    <a:srgbClr val="FFCC00"/>
                  </a:solidFill>
                </a:endParaRPr>
              </a:p>
            </p:txBody>
          </p:sp>
        </p:grpSp>
        <mc:AlternateContent xmlns:mc="http://schemas.openxmlformats.org/markup-compatibility/2006">
          <mc:Choice xmlns:a14="http://schemas.microsoft.com/office/drawing/2010/main" Requires="a14">
            <p:sp>
              <p:nvSpPr>
                <p:cNvPr id="15" name="文本框 14"/>
                <p:cNvSpPr txBox="1"/>
                <p:nvPr>
                  <p:custDataLst>
                    <p:tags r:id="rId11"/>
                  </p:custDataLst>
                </p:nvPr>
              </p:nvSpPr>
              <p:spPr>
                <a:xfrm>
                  <a:off x="1585" y="3215"/>
                  <a:ext cx="8373" cy="2810"/>
                </a:xfrm>
                <a:prstGeom prst="rect">
                  <a:avLst/>
                </a:prstGeom>
                <a:ln w="19050"/>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nchor="ctr"/>
                <a:p>
                  <a:pPr indent="0" algn="ctr" fontAlgn="auto">
                    <a:lnSpc>
                      <a:spcPct val="125000"/>
                    </a:lnSpc>
                    <a:buFont typeface="Wingdings" panose="05000000000000000000" charset="0"/>
                    <a:buNone/>
                  </a:pPr>
                  <a:r>
                    <a:rPr kumimoji="1" lang="en-US" altLang="zh-CN" sz="2000" dirty="0">
                      <a:sym typeface="+mn-ea"/>
                    </a:rPr>
                    <a:t>  </a:t>
                  </a:r>
                  <a:r>
                    <a:rPr kumimoji="1" lang="en-US" altLang="zh-CN" sz="2000" b="1" dirty="0">
                      <a:sym typeface="+mn-ea"/>
                    </a:rPr>
                    <a:t>The </a:t>
                  </a:r>
                  <a:r>
                    <a:rPr kumimoji="1" lang="en-US" altLang="zh-CN" sz="2000" b="1" dirty="0">
                      <a:solidFill>
                        <a:schemeClr val="accent4"/>
                      </a:solidFill>
                      <a:sym typeface="+mn-ea"/>
                    </a:rPr>
                    <a:t>WMMSE convergence</a:t>
                  </a:r>
                  <a:r>
                    <a:rPr kumimoji="1" lang="en-US" altLang="zh-CN" sz="2000" b="1" dirty="0">
                      <a:solidFill>
                        <a:schemeClr val="tx1"/>
                      </a:solidFill>
                      <a:sym typeface="+mn-ea"/>
                    </a:rPr>
                    <a:t> costs</a:t>
                  </a:r>
                  <a:endParaRPr kumimoji="1" lang="en-US" altLang="zh-CN" sz="2000" b="1" dirty="0">
                    <a:solidFill>
                      <a:schemeClr val="tx1"/>
                    </a:solidFill>
                    <a:sym typeface="+mn-ea"/>
                  </a:endParaRPr>
                </a:p>
                <a:p>
                  <a:pPr indent="0" algn="ctr" fontAlgn="auto">
                    <a:lnSpc>
                      <a:spcPct val="125000"/>
                    </a:lnSpc>
                    <a:buFont typeface="Wingdings" panose="05000000000000000000" charset="0"/>
                    <a:buNone/>
                  </a:pPr>
                  <a:r>
                    <a:rPr kumimoji="1" lang="en-US" sz="2000" b="1" dirty="0">
                      <a:sym typeface="+mn-ea"/>
                    </a:rPr>
                    <a:t>   </a:t>
                  </a:r>
                  <a:r>
                    <a:rPr kumimoji="1" lang="en-US" sz="2000" b="1" dirty="0">
                      <a:solidFill>
                        <a:srgbClr val="00B050"/>
                      </a:solidFill>
                      <a:sym typeface="+mn-ea"/>
                    </a:rPr>
                    <a:t>O(</a:t>
                  </a:r>
                  <a14:m>
                    <m:oMath xmlns:m="http://schemas.openxmlformats.org/officeDocument/2006/math">
                      <m:sSubSup>
                        <m:sSubSupPr>
                          <m:ctrlPr>
                            <a:rPr kumimoji="1" lang="en-US" sz="2000" b="1" i="1" dirty="0">
                              <a:solidFill>
                                <a:srgbClr val="00B050"/>
                              </a:solidFill>
                              <a:latin typeface="Cambria Math" panose="02040503050406030204" charset="0"/>
                              <a:cs typeface="Cambria Math" panose="02040503050406030204" charset="0"/>
                              <a:sym typeface="+mn-ea"/>
                            </a:rPr>
                          </m:ctrlPr>
                        </m:sSubSupPr>
                        <m:e>
                          <m:r>
                            <a:rPr kumimoji="1" lang="en-US" sz="2000" b="1" i="1" dirty="0">
                              <a:solidFill>
                                <a:srgbClr val="00B050"/>
                              </a:solidFill>
                              <a:latin typeface="Cambria Math" panose="02040503050406030204" charset="0"/>
                              <a:cs typeface="Cambria Math" panose="02040503050406030204" charset="0"/>
                              <a:sym typeface="+mn-ea"/>
                            </a:rPr>
                            <m:t>𝑵</m:t>
                          </m:r>
                        </m:e>
                        <m:sub>
                          <m:r>
                            <a:rPr kumimoji="1" lang="en-US" sz="2000" b="1" i="1" dirty="0">
                              <a:solidFill>
                                <a:srgbClr val="00B050"/>
                              </a:solidFill>
                              <a:latin typeface="Cambria Math" panose="02040503050406030204" charset="0"/>
                              <a:cs typeface="Cambria Math" panose="02040503050406030204" charset="0"/>
                              <a:sym typeface="+mn-ea"/>
                            </a:rPr>
                            <m:t>𝒅</m:t>
                          </m:r>
                        </m:sub>
                        <m:sup>
                          <m:r>
                            <a:rPr kumimoji="1" lang="en-US" sz="2000" b="1" i="1" dirty="0">
                              <a:solidFill>
                                <a:srgbClr val="00B050"/>
                              </a:solidFill>
                              <a:latin typeface="Cambria Math" panose="02040503050406030204" charset="0"/>
                              <a:cs typeface="Cambria Math" panose="02040503050406030204" charset="0"/>
                              <a:sym typeface="+mn-ea"/>
                            </a:rPr>
                            <m:t>𝟑</m:t>
                          </m:r>
                        </m:sup>
                      </m:sSubSup>
                      <m:r>
                        <a:rPr kumimoji="1" lang="en-US" sz="2000" b="1" i="1" dirty="0">
                          <a:solidFill>
                            <a:srgbClr val="00B050"/>
                          </a:solidFill>
                          <a:latin typeface="Cambria Math" panose="02040503050406030204" charset="0"/>
                          <a:cs typeface="Cambria Math" panose="02040503050406030204" charset="0"/>
                          <a:sym typeface="+mn-ea"/>
                        </a:rPr>
                        <m:t>𝑲</m:t>
                      </m:r>
                    </m:oMath>
                  </a14:m>
                  <a:r>
                    <a:rPr kumimoji="1" lang="en-US" sz="2000" b="1" dirty="0">
                      <a:solidFill>
                        <a:srgbClr val="00B050"/>
                      </a:solidFill>
                      <a:sym typeface="+mn-ea"/>
                    </a:rPr>
                    <a:t>)</a:t>
                  </a:r>
                  <a:r>
                    <a:rPr kumimoji="1" lang="en-US" sz="2000" b="1" dirty="0">
                      <a:sym typeface="+mn-ea"/>
                    </a:rPr>
                    <a:t> computational complexity</a:t>
                  </a:r>
                  <a:r>
                    <a:rPr kumimoji="1" lang="en-US" altLang="zh-CN" sz="2000" b="1" dirty="0">
                      <a:sym typeface="+mn-ea"/>
                    </a:rPr>
                    <a:t>.</a:t>
                  </a:r>
                  <a:endParaRPr kumimoji="1" lang="en-US" altLang="zh-CN" sz="2000" b="1" dirty="0">
                    <a:sym typeface="+mn-ea"/>
                  </a:endParaRPr>
                </a:p>
              </p:txBody>
            </p:sp>
          </mc:Choice>
          <mc:Fallback>
            <p:sp>
              <p:nvSpPr>
                <p:cNvPr id="15" name="文本框 14"/>
                <p:cNvSpPr txBox="1">
                  <a:spLocks noRot="1" noChangeAspect="1" noMove="1" noResize="1" noEditPoints="1" noAdjustHandles="1" noChangeArrowheads="1" noChangeShapeType="1" noTextEdit="1"/>
                </p:cNvSpPr>
                <p:nvPr>
                  <p:custDataLst>
                    <p:tags r:id="rId12"/>
                  </p:custDataLst>
                </p:nvPr>
              </p:nvSpPr>
              <p:spPr>
                <a:xfrm>
                  <a:off x="1585" y="3215"/>
                  <a:ext cx="8373" cy="2810"/>
                </a:xfrm>
                <a:prstGeom prst="rect">
                  <a:avLst/>
                </a:prstGeom>
                <a:blipFill rotWithShape="1">
                  <a:blip r:embed="rId13"/>
                </a:blipFill>
                <a:ln w="19050"/>
              </p:spPr>
              <p:style>
                <a:lnRef idx="2">
                  <a:schemeClr val="accent1"/>
                </a:lnRef>
                <a:fillRef idx="1">
                  <a:schemeClr val="lt1"/>
                </a:fillRef>
                <a:effectRef idx="0">
                  <a:schemeClr val="accent1"/>
                </a:effectRef>
                <a:fontRef idx="minor">
                  <a:schemeClr val="dk1"/>
                </a:fontRef>
              </p:style>
              <p:txBody>
                <a:bodyPr/>
                <a:lstStyle/>
                <a:p>
                  <a:r>
                    <a:rPr lang="zh-CN" altLang="en-US">
                      <a:noFill/>
                    </a:rPr>
                    <a:t> </a:t>
                  </a:r>
                </a:p>
              </p:txBody>
            </p:sp>
          </mc:Fallback>
        </mc:AlternateContent>
      </p:grpSp>
      <p:grpSp>
        <p:nvGrpSpPr>
          <p:cNvPr id="3" name="组合 2"/>
          <p:cNvGrpSpPr/>
          <p:nvPr/>
        </p:nvGrpSpPr>
        <p:grpSpPr>
          <a:xfrm>
            <a:off x="0" y="1200785"/>
            <a:ext cx="12192635" cy="1410970"/>
            <a:chOff x="0" y="2078"/>
            <a:chExt cx="19610" cy="2734"/>
          </a:xfrm>
        </p:grpSpPr>
        <p:sp>
          <p:nvSpPr>
            <p:cNvPr id="5" name="文本框 4"/>
            <p:cNvSpPr txBox="1"/>
            <p:nvPr>
              <p:custDataLst>
                <p:tags r:id="rId14"/>
              </p:custDataLst>
            </p:nvPr>
          </p:nvSpPr>
          <p:spPr>
            <a:xfrm>
              <a:off x="0" y="2078"/>
              <a:ext cx="19610" cy="2734"/>
            </a:xfrm>
            <a:prstGeom prst="rect">
              <a:avLst/>
            </a:prstGeom>
            <a:solidFill>
              <a:srgbClr val="FBE44F">
                <a:alpha val="65000"/>
              </a:srgbClr>
            </a:solidFill>
            <a:effectLst>
              <a:reflection blurRad="6350" stA="52000" endA="300" endPos="20000" dir="5400000" sy="-100000" algn="bl" rotWithShape="0"/>
            </a:effectLst>
          </p:spPr>
          <p:txBody>
            <a:bodyPr vert="horz" wrap="square" lIns="91440" tIns="45720" rIns="91440" bIns="45720" rtlCol="0" anchor="ctr">
              <a:normAutofit/>
            </a:bodyPr>
            <a:p>
              <a:endParaRPr kumimoji="1" lang="zh-CN" altLang="en-US" dirty="0"/>
            </a:p>
          </p:txBody>
        </p:sp>
        <p:sp>
          <p:nvSpPr>
            <p:cNvPr id="17" name="矩形: 圆角 55"/>
            <p:cNvSpPr/>
            <p:nvPr>
              <p:custDataLst>
                <p:tags r:id="rId15"/>
              </p:custDataLst>
            </p:nvPr>
          </p:nvSpPr>
          <p:spPr>
            <a:xfrm>
              <a:off x="481" y="2295"/>
              <a:ext cx="18276" cy="2135"/>
            </a:xfrm>
            <a:prstGeom prst="rect">
              <a:avLst/>
            </a:prstGeom>
            <a:noFill/>
            <a:ln>
              <a:noFill/>
            </a:ln>
          </p:spPr>
          <p:style>
            <a:lnRef idx="3">
              <a:schemeClr val="lt1"/>
            </a:lnRef>
            <a:fillRef idx="1">
              <a:schemeClr val="accent6"/>
            </a:fillRef>
            <a:effectRef idx="1">
              <a:schemeClr val="accent6"/>
            </a:effectRef>
            <a:fontRef idx="minor">
              <a:schemeClr val="lt1"/>
            </a:fontRef>
          </p:style>
          <p:txBody>
            <a:bodyPr rtlCol="0" anchor="ctr"/>
            <a:p>
              <a:pPr algn="ctr"/>
              <a:r>
                <a:rPr lang="en-US" sz="3200" b="1" dirty="0">
                  <a:solidFill>
                    <a:schemeClr val="accent6">
                      <a:lumMod val="75000"/>
                    </a:schemeClr>
                  </a:solidFill>
                  <a:latin typeface="微软雅黑" panose="020B0503020204020204" pitchFamily="34" charset="-122"/>
                  <a:ea typeface="微软雅黑" panose="020B0503020204020204" pitchFamily="34" charset="-122"/>
                  <a:cs typeface="Times New Roman" panose="02020603050405020304" charset="0"/>
                  <a:sym typeface="+mn-ea"/>
                </a:rPr>
                <a:t>High Complexity Burden!</a:t>
              </a:r>
              <a:endParaRPr lang="en-US" sz="3200" b="1" dirty="0">
                <a:solidFill>
                  <a:schemeClr val="accent6">
                    <a:lumMod val="75000"/>
                  </a:schemeClr>
                </a:solidFill>
                <a:latin typeface="微软雅黑" panose="020B0503020204020204" pitchFamily="34" charset="-122"/>
                <a:ea typeface="微软雅黑" panose="020B0503020204020204" pitchFamily="34" charset="-122"/>
                <a:cs typeface="Times New Roman" panose="02020603050405020304" charset="0"/>
                <a:sym typeface="+mn-ea"/>
              </a:endParaRPr>
            </a:p>
          </p:txBody>
        </p:sp>
      </p:grpSp>
      <p:sp>
        <p:nvSpPr>
          <p:cNvPr id="50" name="下箭头 49"/>
          <p:cNvSpPr/>
          <p:nvPr/>
        </p:nvSpPr>
        <p:spPr>
          <a:xfrm>
            <a:off x="5911850" y="2303780"/>
            <a:ext cx="266065" cy="831215"/>
          </a:xfrm>
          <a:prstGeom prst="downArrow">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下箭头 17"/>
          <p:cNvSpPr/>
          <p:nvPr/>
        </p:nvSpPr>
        <p:spPr>
          <a:xfrm>
            <a:off x="5911850" y="5026025"/>
            <a:ext cx="266065" cy="450215"/>
          </a:xfrm>
          <a:prstGeom prst="downArrow">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2930" y="76200"/>
            <a:ext cx="3213735" cy="845185"/>
          </a:xfrm>
        </p:spPr>
        <p:txBody>
          <a:bodyPr>
            <a:noAutofit/>
          </a:bodyPr>
          <a:lstStyle/>
          <a:p>
            <a:r>
              <a:rPr kumimoji="1" lang="en-US" altLang="zh-CN" sz="3200" b="1" dirty="0">
                <a:solidFill>
                  <a:schemeClr val="bg1"/>
                </a:solidFill>
                <a:latin typeface="+mn-lt"/>
                <a:ea typeface="+mn-ea"/>
                <a:cs typeface="+mn-cs"/>
                <a:sym typeface="+mn-ea"/>
              </a:rPr>
              <a:t>2 System model</a:t>
            </a:r>
            <a:endParaRPr kumimoji="1" lang="en-US" altLang="zh-CN" sz="3200" b="1" dirty="0">
              <a:solidFill>
                <a:schemeClr val="bg1"/>
              </a:solidFill>
              <a:latin typeface="+mn-lt"/>
              <a:ea typeface="+mn-ea"/>
              <a:cs typeface="+mn-cs"/>
              <a:sym typeface="+mn-ea"/>
            </a:endParaRPr>
          </a:p>
        </p:txBody>
      </p:sp>
      <p:pic>
        <p:nvPicPr>
          <p:cNvPr id="20" name="图片 19"/>
          <p:cNvPicPr>
            <a:picLocks noChangeAspect="1"/>
          </p:cNvPicPr>
          <p:nvPr>
            <p:custDataLst>
              <p:tags r:id="rId1"/>
            </p:custDataLst>
          </p:nvPr>
        </p:nvPicPr>
        <p:blipFill>
          <a:blip r:embed="rId2" cstate="email"/>
          <a:stretch>
            <a:fillRect/>
          </a:stretch>
        </p:blipFill>
        <p:spPr>
          <a:xfrm>
            <a:off x="11168380" y="96520"/>
            <a:ext cx="756920" cy="756920"/>
          </a:xfrm>
          <a:prstGeom prst="rect">
            <a:avLst/>
          </a:prstGeom>
        </p:spPr>
      </p:pic>
      <p:sp>
        <p:nvSpPr>
          <p:cNvPr id="45" name="矩形 44"/>
          <p:cNvSpPr/>
          <p:nvPr/>
        </p:nvSpPr>
        <p:spPr>
          <a:xfrm>
            <a:off x="3796665" y="1156970"/>
            <a:ext cx="4420870" cy="5607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kumimoji="1" lang="en-US" altLang="zh-CN" dirty="0">
                <a:solidFill>
                  <a:schemeClr val="bg1"/>
                </a:solidFill>
                <a:latin typeface="微软雅黑" panose="020B0503020204020204" pitchFamily="34" charset="-122"/>
                <a:ea typeface="微软雅黑" panose="020B0503020204020204" pitchFamily="34" charset="-122"/>
                <a:sym typeface="+mn-ea"/>
              </a:rPr>
              <a:t>A</a:t>
            </a:r>
            <a:r>
              <a:rPr kumimoji="1" lang="zh-CN" altLang="en-US" dirty="0">
                <a:solidFill>
                  <a:schemeClr val="bg1"/>
                </a:solidFill>
                <a:latin typeface="微软雅黑" panose="020B0503020204020204" pitchFamily="34" charset="-122"/>
                <a:ea typeface="微软雅黑" panose="020B0503020204020204" pitchFamily="34" charset="-122"/>
                <a:sym typeface="+mn-ea"/>
              </a:rPr>
              <a:t> multi-user</a:t>
            </a:r>
            <a:r>
              <a:rPr kumimoji="1" lang="en-US" altLang="zh-CN" dirty="0">
                <a:solidFill>
                  <a:schemeClr val="bg1"/>
                </a:solidFill>
                <a:latin typeface="微软雅黑" panose="020B0503020204020204" pitchFamily="34" charset="-122"/>
                <a:ea typeface="微软雅黑" panose="020B0503020204020204" pitchFamily="34" charset="-122"/>
                <a:sym typeface="+mn-ea"/>
              </a:rPr>
              <a:t> H</a:t>
            </a:r>
            <a:r>
              <a:rPr kumimoji="1" lang="zh-CN" altLang="en-US" dirty="0">
                <a:solidFill>
                  <a:schemeClr val="bg1"/>
                </a:solidFill>
                <a:latin typeface="微软雅黑" panose="020B0503020204020204" pitchFamily="34" charset="-122"/>
                <a:ea typeface="微软雅黑" panose="020B0503020204020204" pitchFamily="34" charset="-122"/>
                <a:sym typeface="+mn-ea"/>
              </a:rPr>
              <a:t>MIMO downlink system</a:t>
            </a:r>
            <a:endParaRPr kumimoji="1"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46" name="矩形 45"/>
          <p:cNvSpPr/>
          <p:nvPr/>
        </p:nvSpPr>
        <p:spPr>
          <a:xfrm>
            <a:off x="894715" y="4671695"/>
            <a:ext cx="4801870" cy="1546860"/>
          </a:xfrm>
          <a:prstGeom prst="rect">
            <a:avLst/>
          </a:prstGeom>
          <a:ln w="28575" cmpd="sng">
            <a:solidFill>
              <a:schemeClr val="accent1">
                <a:shade val="50000"/>
              </a:schemeClr>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r>
              <a:rPr kumimoji="1" lang="en-US" sz="2400" b="1" dirty="0">
                <a:solidFill>
                  <a:schemeClr val="accent4"/>
                </a:solidFill>
                <a:sym typeface="+mn-ea"/>
              </a:rPr>
              <a:t>System</a:t>
            </a:r>
            <a:endParaRPr kumimoji="1" lang="en-US" sz="2400" b="1" dirty="0">
              <a:sym typeface="+mn-ea"/>
            </a:endParaRPr>
          </a:p>
          <a:p>
            <a:pPr algn="ctr"/>
            <a:r>
              <a:rPr kumimoji="1" lang="en-US" b="1" dirty="0">
                <a:sym typeface="+mn-ea"/>
              </a:rPr>
              <a:t>The BS is equipped with N DMA elements to serve K single-antenna users</a:t>
            </a:r>
            <a:endParaRPr kumimoji="1" lang="en-US" b="1" dirty="0">
              <a:sym typeface="+mn-ea"/>
            </a:endParaRPr>
          </a:p>
        </p:txBody>
      </p:sp>
      <p:pic>
        <p:nvPicPr>
          <p:cNvPr id="4" name="图片 3" descr="QQ_1758541114329"/>
          <p:cNvPicPr>
            <a:picLocks noChangeAspect="1"/>
          </p:cNvPicPr>
          <p:nvPr/>
        </p:nvPicPr>
        <p:blipFill>
          <a:blip r:embed="rId3"/>
          <a:stretch>
            <a:fillRect/>
          </a:stretch>
        </p:blipFill>
        <p:spPr>
          <a:xfrm>
            <a:off x="2663825" y="1780540"/>
            <a:ext cx="6637655" cy="2839085"/>
          </a:xfrm>
          <a:prstGeom prst="rect">
            <a:avLst/>
          </a:prstGeom>
        </p:spPr>
      </p:pic>
      <p:pic>
        <p:nvPicPr>
          <p:cNvPr id="6" name="图片 5" descr="QQ_1758541253961"/>
          <p:cNvPicPr>
            <a:picLocks noChangeAspect="1"/>
          </p:cNvPicPr>
          <p:nvPr/>
        </p:nvPicPr>
        <p:blipFill>
          <a:blip r:embed="rId4"/>
          <a:stretch>
            <a:fillRect/>
          </a:stretch>
        </p:blipFill>
        <p:spPr>
          <a:xfrm>
            <a:off x="6708775" y="5392420"/>
            <a:ext cx="2911475" cy="552450"/>
          </a:xfrm>
          <a:prstGeom prst="rect">
            <a:avLst/>
          </a:prstGeom>
        </p:spPr>
      </p:pic>
      <p:pic>
        <p:nvPicPr>
          <p:cNvPr id="7" name="图片 6" descr="QQ_1758541263460"/>
          <p:cNvPicPr>
            <a:picLocks noChangeAspect="1"/>
          </p:cNvPicPr>
          <p:nvPr/>
        </p:nvPicPr>
        <p:blipFill>
          <a:blip r:embed="rId5"/>
          <a:stretch>
            <a:fillRect/>
          </a:stretch>
        </p:blipFill>
        <p:spPr>
          <a:xfrm>
            <a:off x="9893300" y="5392420"/>
            <a:ext cx="1158240" cy="484505"/>
          </a:xfrm>
          <a:prstGeom prst="rect">
            <a:avLst/>
          </a:prstGeom>
        </p:spPr>
      </p:pic>
      <p:sp>
        <p:nvSpPr>
          <p:cNvPr id="9" name="文本框 8"/>
          <p:cNvSpPr txBox="1"/>
          <p:nvPr/>
        </p:nvSpPr>
        <p:spPr>
          <a:xfrm>
            <a:off x="11288395" y="5253355"/>
            <a:ext cx="4064000" cy="914400"/>
          </a:xfrm>
          <a:prstGeom prst="rect">
            <a:avLst/>
          </a:prstGeom>
        </p:spPr>
        <p:txBody>
          <a:bodyPr vert="horz" wrap="square" lIns="91440" tIns="45720" rIns="91440" bIns="45720" rtlCol="0" anchor="ctr">
            <a:normAutofit/>
          </a:bodyPr>
          <a:p>
            <a:pPr algn="l"/>
            <a:endParaRPr kumimoji="1" lang="zh-CN" altLang="en-US" dirty="0"/>
          </a:p>
        </p:txBody>
      </p:sp>
      <p:sp>
        <p:nvSpPr>
          <p:cNvPr id="11" name="矩形 10"/>
          <p:cNvSpPr/>
          <p:nvPr/>
        </p:nvSpPr>
        <p:spPr>
          <a:xfrm>
            <a:off x="6523355" y="4671695"/>
            <a:ext cx="4801870" cy="1544955"/>
          </a:xfrm>
          <a:prstGeom prst="rect">
            <a:avLst/>
          </a:prstGeom>
          <a:ln w="28575" cmpd="sng">
            <a:solidFill>
              <a:schemeClr val="accent1">
                <a:shade val="50000"/>
              </a:schemeClr>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r>
              <a:rPr kumimoji="1" lang="en-US" sz="2400" b="1" dirty="0">
                <a:solidFill>
                  <a:schemeClr val="accent4"/>
                </a:solidFill>
                <a:sym typeface="+mn-ea"/>
              </a:rPr>
              <a:t>Constraint</a:t>
            </a:r>
            <a:endParaRPr kumimoji="1" lang="en-US" sz="2400" b="1" dirty="0">
              <a:solidFill>
                <a:schemeClr val="accent4"/>
              </a:solidFill>
              <a:sym typeface="+mn-ea"/>
            </a:endParaRPr>
          </a:p>
          <a:p>
            <a:pPr algn="ctr"/>
            <a:endParaRPr kumimoji="1" lang="en-US" b="1" dirty="0">
              <a:sym typeface="+mn-ea"/>
            </a:endParaRPr>
          </a:p>
          <a:p>
            <a:pPr algn="ctr"/>
            <a:endParaRPr kumimoji="1" lang="en-US" b="1" dirty="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2930" y="76200"/>
            <a:ext cx="3084830" cy="845185"/>
          </a:xfrm>
        </p:spPr>
        <p:txBody>
          <a:bodyPr>
            <a:normAutofit fontScale="90000"/>
          </a:bodyPr>
          <a:lstStyle/>
          <a:p>
            <a:r>
              <a:rPr kumimoji="1" lang="en-US" altLang="zh-CN" sz="3555" b="1" dirty="0">
                <a:latin typeface="+mn-lt"/>
                <a:ea typeface="+mn-ea"/>
                <a:cs typeface="+mn-cs"/>
                <a:sym typeface="+mn-ea"/>
              </a:rPr>
              <a:t>2 System model</a:t>
            </a:r>
            <a:endParaRPr kumimoji="1" lang="en-US" altLang="zh-CN" sz="3555" b="1" dirty="0">
              <a:solidFill>
                <a:schemeClr val="bg1"/>
              </a:solidFill>
              <a:latin typeface="+mn-lt"/>
              <a:ea typeface="+mn-ea"/>
              <a:cs typeface="+mn-cs"/>
              <a:sym typeface="+mn-ea"/>
            </a:endParaRPr>
          </a:p>
        </p:txBody>
      </p:sp>
      <p:pic>
        <p:nvPicPr>
          <p:cNvPr id="20" name="图片 19"/>
          <p:cNvPicPr>
            <a:picLocks noChangeAspect="1"/>
          </p:cNvPicPr>
          <p:nvPr>
            <p:custDataLst>
              <p:tags r:id="rId1"/>
            </p:custDataLst>
          </p:nvPr>
        </p:nvPicPr>
        <p:blipFill>
          <a:blip r:embed="rId2" cstate="email"/>
          <a:stretch>
            <a:fillRect/>
          </a:stretch>
        </p:blipFill>
        <p:spPr>
          <a:xfrm>
            <a:off x="11168380" y="96520"/>
            <a:ext cx="756920" cy="756920"/>
          </a:xfrm>
          <a:prstGeom prst="rect">
            <a:avLst/>
          </a:prstGeom>
        </p:spPr>
      </p:pic>
      <p:sp>
        <p:nvSpPr>
          <p:cNvPr id="25" name="矩形 24"/>
          <p:cNvSpPr/>
          <p:nvPr/>
        </p:nvSpPr>
        <p:spPr>
          <a:xfrm>
            <a:off x="448945" y="1073785"/>
            <a:ext cx="11369675" cy="5121275"/>
          </a:xfrm>
          <a:prstGeom prst="rect">
            <a:avLst/>
          </a:prstGeom>
          <a:ln>
            <a:prstDash val="sysDot"/>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矩形 27"/>
          <p:cNvSpPr/>
          <p:nvPr/>
        </p:nvSpPr>
        <p:spPr>
          <a:xfrm>
            <a:off x="768985" y="1762760"/>
            <a:ext cx="4866005" cy="772795"/>
          </a:xfrm>
          <a:prstGeom prst="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 </a:t>
            </a:r>
            <a:r>
              <a:rPr lang="en-US" altLang="zh-CN">
                <a:solidFill>
                  <a:schemeClr val="tx1"/>
                </a:solidFill>
              </a:rPr>
              <a:t>T</a:t>
            </a:r>
            <a:r>
              <a:rPr lang="zh-CN" altLang="en-US">
                <a:solidFill>
                  <a:schemeClr val="tx1"/>
                </a:solidFill>
              </a:rPr>
              <a:t>he </a:t>
            </a:r>
            <a:r>
              <a:rPr>
                <a:solidFill>
                  <a:srgbClr val="FFFF00"/>
                </a:solidFill>
                <a:sym typeface="+mn-ea"/>
              </a:rPr>
              <a:t>sum</a:t>
            </a:r>
            <a:r>
              <a:rPr lang="en-US">
                <a:solidFill>
                  <a:srgbClr val="FFFF00"/>
                </a:solidFill>
                <a:sym typeface="+mn-ea"/>
              </a:rPr>
              <a:t>-rate</a:t>
            </a:r>
            <a:r>
              <a:rPr lang="zh-CN" altLang="en-US">
                <a:solidFill>
                  <a:schemeClr val="tx1"/>
                </a:solidFill>
              </a:rPr>
              <a:t> is given by</a:t>
            </a:r>
            <a:r>
              <a:rPr lang="en-US" altLang="zh-CN">
                <a:solidFill>
                  <a:schemeClr val="tx1"/>
                </a:solidFill>
              </a:rPr>
              <a:t>:</a:t>
            </a:r>
            <a:endParaRPr lang="en-US" altLang="zh-CN">
              <a:solidFill>
                <a:schemeClr val="tx1"/>
              </a:solidFill>
            </a:endParaRPr>
          </a:p>
        </p:txBody>
      </p:sp>
      <p:sp>
        <p:nvSpPr>
          <p:cNvPr id="46" name="矩形 45"/>
          <p:cNvSpPr/>
          <p:nvPr/>
        </p:nvSpPr>
        <p:spPr>
          <a:xfrm>
            <a:off x="756920" y="3366770"/>
            <a:ext cx="4866005" cy="772795"/>
          </a:xfrm>
          <a:prstGeom prst="rect">
            <a:avLst/>
          </a:prstGeom>
        </p:spPr>
        <p:style>
          <a:lnRef idx="0">
            <a:srgbClr val="FFFFFF"/>
          </a:lnRef>
          <a:fillRef idx="2">
            <a:schemeClr val="accent1"/>
          </a:fillRef>
          <a:effectRef idx="0">
            <a:srgbClr val="FFFFFF"/>
          </a:effectRef>
          <a:fontRef idx="minor">
            <a:schemeClr val="lt1"/>
          </a:fontRef>
        </p:style>
        <p:txBody>
          <a:bodyPr rtlCol="0" anchor="ctr"/>
          <a:p>
            <a:pPr algn="ctr"/>
            <a:r>
              <a:rPr lang="en-US">
                <a:solidFill>
                  <a:schemeClr val="tx1"/>
                </a:solidFill>
              </a:rPr>
              <a:t>WMMSE algorithm for </a:t>
            </a:r>
            <a:r>
              <a:rPr lang="en-US">
                <a:solidFill>
                  <a:srgbClr val="FFFF00"/>
                </a:solidFill>
              </a:rPr>
              <a:t>precoding matrix </a:t>
            </a:r>
            <a:r>
              <a:rPr lang="en-US">
                <a:solidFill>
                  <a:schemeClr val="tx1"/>
                </a:solidFill>
              </a:rPr>
              <a:t>in AO</a:t>
            </a:r>
            <a:endParaRPr lang="en-US">
              <a:solidFill>
                <a:schemeClr val="tx1"/>
              </a:solidFill>
            </a:endParaRPr>
          </a:p>
        </p:txBody>
      </p:sp>
      <p:sp>
        <p:nvSpPr>
          <p:cNvPr id="52" name="矩形 51"/>
          <p:cNvSpPr/>
          <p:nvPr/>
        </p:nvSpPr>
        <p:spPr>
          <a:xfrm>
            <a:off x="768985" y="4970145"/>
            <a:ext cx="4866005" cy="772795"/>
          </a:xfrm>
          <a:prstGeom prst="rect">
            <a:avLst/>
          </a:prstGeom>
        </p:spPr>
        <p:style>
          <a:lnRef idx="0">
            <a:srgbClr val="FFFFFF"/>
          </a:lnRef>
          <a:fillRef idx="2">
            <a:schemeClr val="accent1"/>
          </a:fillRef>
          <a:effectRef idx="0">
            <a:srgbClr val="FFFFFF"/>
          </a:effectRef>
          <a:fontRef idx="minor">
            <a:schemeClr val="lt1"/>
          </a:fontRef>
        </p:style>
        <p:txBody>
          <a:bodyPr rtlCol="0" anchor="ctr"/>
          <a:p>
            <a:pPr algn="ctr"/>
            <a:r>
              <a:rPr lang="en-US">
                <a:solidFill>
                  <a:schemeClr val="tx1"/>
                </a:solidFill>
                <a:sym typeface="+mn-ea"/>
              </a:rPr>
              <a:t>The cost function of </a:t>
            </a:r>
            <a:r>
              <a:rPr lang="en-US">
                <a:solidFill>
                  <a:srgbClr val="FFFF00"/>
                </a:solidFill>
                <a:sym typeface="+mn-ea"/>
              </a:rPr>
              <a:t>DMA weights matrix </a:t>
            </a:r>
            <a:r>
              <a:rPr lang="en-US">
                <a:solidFill>
                  <a:schemeClr val="tx1"/>
                </a:solidFill>
                <a:sym typeface="+mn-ea"/>
              </a:rPr>
              <a:t>in AO</a:t>
            </a:r>
            <a:endParaRPr>
              <a:solidFill>
                <a:schemeClr val="tx1"/>
              </a:solidFill>
            </a:endParaRPr>
          </a:p>
        </p:txBody>
      </p:sp>
      <p:sp>
        <p:nvSpPr>
          <p:cNvPr id="57" name="矩形 56"/>
          <p:cNvSpPr/>
          <p:nvPr/>
        </p:nvSpPr>
        <p:spPr>
          <a:xfrm>
            <a:off x="6336665" y="4739005"/>
            <a:ext cx="4114165" cy="1203960"/>
          </a:xfrm>
          <a:prstGeom prst="rect">
            <a:avLst/>
          </a:prstGeom>
          <a:ln>
            <a:prstDash val="lg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8" name="矩形 57"/>
          <p:cNvSpPr/>
          <p:nvPr/>
        </p:nvSpPr>
        <p:spPr>
          <a:xfrm>
            <a:off x="6336665" y="2778125"/>
            <a:ext cx="4114165" cy="1746250"/>
          </a:xfrm>
          <a:prstGeom prst="rect">
            <a:avLst/>
          </a:prstGeom>
          <a:ln>
            <a:prstDash val="lg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0" name="矩形 59"/>
          <p:cNvSpPr/>
          <p:nvPr/>
        </p:nvSpPr>
        <p:spPr>
          <a:xfrm>
            <a:off x="6336665" y="1263650"/>
            <a:ext cx="4114165" cy="1371600"/>
          </a:xfrm>
          <a:prstGeom prst="rect">
            <a:avLst/>
          </a:prstGeom>
          <a:ln>
            <a:prstDash val="lg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3" name="图片 2" descr="QQ_1758541395431"/>
          <p:cNvPicPr>
            <a:picLocks noChangeAspect="1"/>
          </p:cNvPicPr>
          <p:nvPr/>
        </p:nvPicPr>
        <p:blipFill>
          <a:blip r:embed="rId3"/>
          <a:srcRect t="13688"/>
          <a:stretch>
            <a:fillRect/>
          </a:stretch>
        </p:blipFill>
        <p:spPr>
          <a:xfrm>
            <a:off x="7137400" y="1324610"/>
            <a:ext cx="2487295" cy="605790"/>
          </a:xfrm>
          <a:prstGeom prst="rect">
            <a:avLst/>
          </a:prstGeom>
        </p:spPr>
      </p:pic>
      <p:pic>
        <p:nvPicPr>
          <p:cNvPr id="4" name="图片 3" descr="QQ_1758541401964"/>
          <p:cNvPicPr>
            <a:picLocks noChangeAspect="1"/>
          </p:cNvPicPr>
          <p:nvPr/>
        </p:nvPicPr>
        <p:blipFill>
          <a:blip r:embed="rId4"/>
          <a:stretch>
            <a:fillRect/>
          </a:stretch>
        </p:blipFill>
        <p:spPr>
          <a:xfrm>
            <a:off x="7061200" y="1930400"/>
            <a:ext cx="2760345" cy="648970"/>
          </a:xfrm>
          <a:prstGeom prst="rect">
            <a:avLst/>
          </a:prstGeom>
        </p:spPr>
      </p:pic>
      <p:pic>
        <p:nvPicPr>
          <p:cNvPr id="5" name="图片 4" descr="QQ_1758541634835"/>
          <p:cNvPicPr>
            <a:picLocks noChangeAspect="1"/>
          </p:cNvPicPr>
          <p:nvPr/>
        </p:nvPicPr>
        <p:blipFill>
          <a:blip r:embed="rId5"/>
          <a:stretch>
            <a:fillRect/>
          </a:stretch>
        </p:blipFill>
        <p:spPr>
          <a:xfrm>
            <a:off x="7475220" y="2900045"/>
            <a:ext cx="2014855" cy="869315"/>
          </a:xfrm>
          <a:prstGeom prst="rect">
            <a:avLst/>
          </a:prstGeom>
        </p:spPr>
      </p:pic>
      <p:pic>
        <p:nvPicPr>
          <p:cNvPr id="6" name="图片 5" descr="QQ_1758541643302"/>
          <p:cNvPicPr>
            <a:picLocks noChangeAspect="1"/>
          </p:cNvPicPr>
          <p:nvPr/>
        </p:nvPicPr>
        <p:blipFill>
          <a:blip r:embed="rId6"/>
          <a:srcRect l="3423" t="1229" r="297" b="4246"/>
          <a:stretch>
            <a:fillRect/>
          </a:stretch>
        </p:blipFill>
        <p:spPr>
          <a:xfrm>
            <a:off x="6436360" y="3769360"/>
            <a:ext cx="3910965" cy="537210"/>
          </a:xfrm>
          <a:prstGeom prst="rect">
            <a:avLst/>
          </a:prstGeom>
        </p:spPr>
      </p:pic>
      <p:pic>
        <p:nvPicPr>
          <p:cNvPr id="7" name="图片 6" descr="QQ_1758541993325"/>
          <p:cNvPicPr>
            <a:picLocks noChangeAspect="1"/>
          </p:cNvPicPr>
          <p:nvPr/>
        </p:nvPicPr>
        <p:blipFill>
          <a:blip r:embed="rId7"/>
          <a:stretch>
            <a:fillRect/>
          </a:stretch>
        </p:blipFill>
        <p:spPr>
          <a:xfrm>
            <a:off x="6612255" y="5034280"/>
            <a:ext cx="3658870" cy="612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5310" y="57785"/>
            <a:ext cx="10965180" cy="845185"/>
          </a:xfrm>
        </p:spPr>
        <p:txBody>
          <a:bodyPr>
            <a:noAutofit/>
          </a:bodyPr>
          <a:lstStyle/>
          <a:p>
            <a:r>
              <a:rPr kumimoji="1" lang="en-US" altLang="zh-CN" sz="3200" b="1" dirty="0">
                <a:latin typeface="+mn-lt"/>
                <a:ea typeface="+mn-ea"/>
                <a:cs typeface="+mn-cs"/>
                <a:sym typeface="+mn-ea"/>
              </a:rPr>
              <a:t>3 </a:t>
            </a:r>
            <a:r>
              <a:rPr kumimoji="1" lang="en-US" altLang="zh-CN" sz="3200" b="1" dirty="0">
                <a:sym typeface="+mn-ea"/>
              </a:rPr>
              <a:t>DMA weights matrix and precoding matrix AO strategy</a:t>
            </a:r>
            <a:endParaRPr kumimoji="1" lang="en-US" altLang="zh-CN" sz="3200" b="1" dirty="0">
              <a:solidFill>
                <a:schemeClr val="bg1"/>
              </a:solidFill>
              <a:latin typeface="+mn-lt"/>
              <a:ea typeface="+mn-ea"/>
              <a:cs typeface="+mn-cs"/>
              <a:sym typeface="+mn-ea"/>
            </a:endParaRPr>
          </a:p>
        </p:txBody>
      </p:sp>
      <p:pic>
        <p:nvPicPr>
          <p:cNvPr id="20" name="图片 19"/>
          <p:cNvPicPr>
            <a:picLocks noChangeAspect="1"/>
          </p:cNvPicPr>
          <p:nvPr>
            <p:custDataLst>
              <p:tags r:id="rId1"/>
            </p:custDataLst>
          </p:nvPr>
        </p:nvPicPr>
        <p:blipFill>
          <a:blip r:embed="rId2" cstate="email"/>
          <a:stretch>
            <a:fillRect/>
          </a:stretch>
        </p:blipFill>
        <p:spPr>
          <a:xfrm>
            <a:off x="11168380" y="96520"/>
            <a:ext cx="756920" cy="756920"/>
          </a:xfrm>
          <a:prstGeom prst="rect">
            <a:avLst/>
          </a:prstGeom>
        </p:spPr>
      </p:pic>
      <p:sp>
        <p:nvSpPr>
          <p:cNvPr id="17" name="文本框 16"/>
          <p:cNvSpPr txBox="1"/>
          <p:nvPr/>
        </p:nvSpPr>
        <p:spPr>
          <a:xfrm>
            <a:off x="2675890" y="1015365"/>
            <a:ext cx="4426585" cy="396000"/>
          </a:xfrm>
          <a:prstGeom prst="roundRect">
            <a:avLst/>
          </a:prstGeom>
          <a:solidFill>
            <a:schemeClr val="accent4">
              <a:lumMod val="20000"/>
              <a:lumOff val="80000"/>
            </a:schemeClr>
          </a:solidFill>
        </p:spPr>
        <p:txBody>
          <a:bodyPr vert="horz" wrap="square" lIns="91440" tIns="45720" rIns="91440" bIns="45720" rtlCol="0" anchor="t">
            <a:noAutofit/>
          </a:bodyPr>
          <a:p>
            <a:pPr algn="ctr"/>
            <a:r>
              <a:rPr kumimoji="1" lang="en-US" altLang="zh-CN" b="1" i="1" dirty="0">
                <a:solidFill>
                  <a:srgbClr val="00B050"/>
                </a:solidFill>
                <a:sym typeface="+mn-ea"/>
              </a:rPr>
              <a:t>For lower complexity cost</a:t>
            </a:r>
            <a:endParaRPr kumimoji="1" lang="en-US" altLang="zh-CN" b="1" i="1" dirty="0">
              <a:solidFill>
                <a:srgbClr val="00B050"/>
              </a:solidFill>
              <a:sym typeface="+mn-ea"/>
            </a:endParaRPr>
          </a:p>
        </p:txBody>
      </p:sp>
      <p:sp>
        <p:nvSpPr>
          <p:cNvPr id="15" name="矩形 14"/>
          <p:cNvSpPr/>
          <p:nvPr/>
        </p:nvSpPr>
        <p:spPr>
          <a:xfrm>
            <a:off x="2675890" y="1404620"/>
            <a:ext cx="4425950" cy="507619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文本框 18"/>
          <p:cNvSpPr txBox="1"/>
          <p:nvPr/>
        </p:nvSpPr>
        <p:spPr>
          <a:xfrm>
            <a:off x="7230745" y="1015365"/>
            <a:ext cx="4446270" cy="396000"/>
          </a:xfrm>
          <a:prstGeom prst="roundRect">
            <a:avLst/>
          </a:prstGeom>
          <a:solidFill>
            <a:schemeClr val="accent4">
              <a:lumMod val="20000"/>
              <a:lumOff val="80000"/>
            </a:schemeClr>
          </a:solidFill>
        </p:spPr>
        <p:txBody>
          <a:bodyPr vert="horz" wrap="square" lIns="91440" tIns="45720" rIns="91440" bIns="45720" rtlCol="0" anchor="t">
            <a:noAutofit/>
          </a:bodyPr>
          <a:p>
            <a:pPr algn="ctr"/>
            <a:r>
              <a:rPr kumimoji="1" lang="en-US" altLang="zh-CN" b="1" dirty="0">
                <a:sym typeface="+mn-ea"/>
              </a:rPr>
              <a:t>  </a:t>
            </a:r>
            <a:r>
              <a:rPr kumimoji="1" lang="en-US" altLang="zh-CN" b="1" i="1" dirty="0">
                <a:solidFill>
                  <a:srgbClr val="00B050"/>
                </a:solidFill>
                <a:sym typeface="+mn-ea"/>
              </a:rPr>
              <a:t>For better DMA weights matrix</a:t>
            </a:r>
            <a:endParaRPr kumimoji="1" lang="en-US" altLang="zh-CN" b="1" i="1" dirty="0">
              <a:solidFill>
                <a:srgbClr val="00B050"/>
              </a:solidFill>
              <a:sym typeface="+mn-ea"/>
            </a:endParaRPr>
          </a:p>
        </p:txBody>
      </p:sp>
      <p:sp>
        <p:nvSpPr>
          <p:cNvPr id="23" name="矩形 22"/>
          <p:cNvSpPr/>
          <p:nvPr/>
        </p:nvSpPr>
        <p:spPr>
          <a:xfrm>
            <a:off x="7249160" y="1404620"/>
            <a:ext cx="4425950" cy="506285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圆角矩形 25"/>
          <p:cNvSpPr/>
          <p:nvPr/>
        </p:nvSpPr>
        <p:spPr>
          <a:xfrm>
            <a:off x="334645" y="2961005"/>
            <a:ext cx="2212340" cy="1489710"/>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en-US" altLang="zh-CN" b="1" i="1">
                <a:solidFill>
                  <a:schemeClr val="tx1"/>
                </a:solidFill>
                <a:effectLst/>
              </a:rPr>
              <a:t>How to</a:t>
            </a:r>
            <a:r>
              <a:rPr lang="en-US" altLang="zh-CN" b="1" i="1">
                <a:solidFill>
                  <a:schemeClr val="tx1"/>
                </a:solidFill>
                <a:effectLst>
                  <a:outerShdw blurRad="38100" dist="19050" dir="2700000" algn="tl" rotWithShape="0">
                    <a:schemeClr val="dk1">
                      <a:alpha val="40000"/>
                    </a:schemeClr>
                  </a:outerShdw>
                </a:effectLst>
              </a:rPr>
              <a:t> </a:t>
            </a:r>
            <a:r>
              <a:rPr kumimoji="1" lang="en-US" altLang="zh-CN" b="1" i="1" dirty="0">
                <a:solidFill>
                  <a:schemeClr val="tx1"/>
                </a:solidFill>
                <a:sym typeface="+mn-ea"/>
              </a:rPr>
              <a:t>seek for </a:t>
            </a:r>
            <a:r>
              <a:rPr kumimoji="1" lang="en-US" altLang="zh-CN" b="1" i="1" dirty="0">
                <a:solidFill>
                  <a:schemeClr val="accent4"/>
                </a:solidFill>
                <a:sym typeface="+mn-ea"/>
              </a:rPr>
              <a:t>better Q</a:t>
            </a:r>
            <a:r>
              <a:rPr kumimoji="1" lang="en-US" altLang="zh-CN" b="1" i="1" dirty="0">
                <a:solidFill>
                  <a:schemeClr val="tx1"/>
                </a:solidFill>
                <a:sym typeface="+mn-ea"/>
              </a:rPr>
              <a:t> with </a:t>
            </a:r>
            <a:r>
              <a:rPr kumimoji="1" lang="en-US" altLang="zh-CN" b="1" i="1" dirty="0">
                <a:solidFill>
                  <a:schemeClr val="accent4"/>
                </a:solidFill>
                <a:sym typeface="+mn-ea"/>
              </a:rPr>
              <a:t>lower complexity cost</a:t>
            </a:r>
            <a:r>
              <a:rPr lang="en-US" altLang="zh-CN" b="1" i="1">
                <a:solidFill>
                  <a:schemeClr val="tx1"/>
                </a:solidFill>
                <a:effectLst>
                  <a:outerShdw blurRad="38100" dist="19050" dir="2700000" algn="tl" rotWithShape="0">
                    <a:schemeClr val="dk1">
                      <a:alpha val="40000"/>
                    </a:schemeClr>
                  </a:outerShdw>
                </a:effectLst>
              </a:rPr>
              <a:t>?</a:t>
            </a:r>
            <a:endParaRPr lang="en-US" altLang="zh-CN" b="1" i="1">
              <a:solidFill>
                <a:schemeClr val="tx1"/>
              </a:solidFill>
              <a:effectLst>
                <a:outerShdw blurRad="38100" dist="19050" dir="2700000" algn="tl" rotWithShape="0">
                  <a:schemeClr val="dk1">
                    <a:alpha val="40000"/>
                  </a:schemeClr>
                </a:outerShdw>
              </a:effectLst>
            </a:endParaRPr>
          </a:p>
        </p:txBody>
      </p:sp>
      <p:sp>
        <p:nvSpPr>
          <p:cNvPr id="29" name="文本框 28"/>
          <p:cNvSpPr txBox="1"/>
          <p:nvPr/>
        </p:nvSpPr>
        <p:spPr>
          <a:xfrm>
            <a:off x="2958465" y="1466215"/>
            <a:ext cx="4064000" cy="914400"/>
          </a:xfrm>
          <a:prstGeom prst="rect">
            <a:avLst/>
          </a:prstGeom>
        </p:spPr>
        <p:txBody>
          <a:bodyPr vert="horz" wrap="square" lIns="91440" tIns="45720" rIns="91440" bIns="45720" rtlCol="0" anchor="ctr">
            <a:normAutofit/>
          </a:bodyPr>
          <a:p>
            <a:pPr algn="l"/>
            <a:r>
              <a:rPr kumimoji="1" lang="en-US" altLang="zh-CN" sz="1400" b="1" dirty="0">
                <a:solidFill>
                  <a:srgbClr val="00B050"/>
                </a:solidFill>
              </a:rPr>
              <a:t>G</a:t>
            </a:r>
            <a:r>
              <a:rPr kumimoji="1" lang="zh-CN" altLang="en-US" sz="1400" b="1" dirty="0">
                <a:solidFill>
                  <a:srgbClr val="00B050"/>
                </a:solidFill>
              </a:rPr>
              <a:t>et rid of the inter-user</a:t>
            </a:r>
            <a:r>
              <a:rPr kumimoji="1" lang="en-US" altLang="zh-CN" sz="1400" b="1" dirty="0">
                <a:solidFill>
                  <a:srgbClr val="00B050"/>
                </a:solidFill>
              </a:rPr>
              <a:t> </a:t>
            </a:r>
            <a:r>
              <a:rPr kumimoji="1" lang="zh-CN" altLang="en-US" sz="1400" b="1" dirty="0">
                <a:solidFill>
                  <a:srgbClr val="00B050"/>
                </a:solidFill>
              </a:rPr>
              <a:t>interference</a:t>
            </a:r>
            <a:r>
              <a:rPr kumimoji="1" lang="zh-CN" altLang="en-US" sz="1400" dirty="0"/>
              <a:t> in DMA weights matrix design</a:t>
            </a:r>
            <a:endParaRPr kumimoji="1" lang="zh-CN" altLang="en-US" sz="1400" dirty="0"/>
          </a:p>
        </p:txBody>
      </p:sp>
      <p:pic>
        <p:nvPicPr>
          <p:cNvPr id="30" name="图片 29" descr="QQ_1758543019178"/>
          <p:cNvPicPr>
            <a:picLocks noChangeAspect="1"/>
          </p:cNvPicPr>
          <p:nvPr/>
        </p:nvPicPr>
        <p:blipFill>
          <a:blip r:embed="rId3"/>
          <a:stretch>
            <a:fillRect/>
          </a:stretch>
        </p:blipFill>
        <p:spPr>
          <a:xfrm>
            <a:off x="3520440" y="2230120"/>
            <a:ext cx="2809875" cy="584200"/>
          </a:xfrm>
          <a:prstGeom prst="rect">
            <a:avLst/>
          </a:prstGeom>
        </p:spPr>
      </p:pic>
      <p:sp>
        <p:nvSpPr>
          <p:cNvPr id="31" name="文本框 30"/>
          <p:cNvSpPr txBox="1"/>
          <p:nvPr/>
        </p:nvSpPr>
        <p:spPr>
          <a:xfrm>
            <a:off x="2947670" y="2922270"/>
            <a:ext cx="4072890" cy="335915"/>
          </a:xfrm>
          <a:prstGeom prst="rect">
            <a:avLst/>
          </a:prstGeom>
        </p:spPr>
        <p:txBody>
          <a:bodyPr vert="horz" wrap="square" lIns="91440" tIns="45720" rIns="91440" bIns="45720" rtlCol="0" anchor="ctr">
            <a:normAutofit/>
          </a:bodyPr>
          <a:p>
            <a:pPr algn="l"/>
            <a:r>
              <a:rPr kumimoji="1" lang="zh-CN" altLang="en-US" sz="1400" dirty="0"/>
              <a:t> </a:t>
            </a:r>
            <a:r>
              <a:rPr kumimoji="1" lang="en-US" altLang="zh-CN" sz="1400" dirty="0"/>
              <a:t>B</a:t>
            </a:r>
            <a:r>
              <a:rPr kumimoji="1" lang="zh-CN" altLang="en-US" sz="1400" dirty="0"/>
              <a:t>y dividing the Lorentzian constraint of </a:t>
            </a:r>
            <a:r>
              <a:rPr kumimoji="1" lang="en-US" altLang="zh-CN" sz="1400" b="1" i="1" dirty="0"/>
              <a:t>Q</a:t>
            </a:r>
            <a:endParaRPr kumimoji="1" lang="en-US" altLang="zh-CN" sz="1400" b="1" i="1" dirty="0">
              <a:latin typeface="Cambria Math" panose="02040503050406030204" charset="0"/>
              <a:cs typeface="Cambria Math" panose="02040503050406030204" charset="0"/>
            </a:endParaRPr>
          </a:p>
        </p:txBody>
      </p:sp>
      <p:sp>
        <p:nvSpPr>
          <p:cNvPr id="32" name="文本框 31"/>
          <p:cNvSpPr txBox="1"/>
          <p:nvPr/>
        </p:nvSpPr>
        <p:spPr>
          <a:xfrm>
            <a:off x="2985135" y="3663950"/>
            <a:ext cx="4064000" cy="549275"/>
          </a:xfrm>
          <a:prstGeom prst="rect">
            <a:avLst/>
          </a:prstGeom>
        </p:spPr>
        <p:txBody>
          <a:bodyPr vert="horz" wrap="square" lIns="91440" tIns="45720" rIns="91440" bIns="45720" rtlCol="0" anchor="ctr">
            <a:normAutofit/>
          </a:bodyPr>
          <a:p>
            <a:pPr algn="l"/>
            <a:r>
              <a:rPr kumimoji="1" lang="zh-CN" altLang="en-US" sz="1400" dirty="0"/>
              <a:t>into the</a:t>
            </a:r>
            <a:r>
              <a:rPr kumimoji="1" lang="en-US" altLang="zh-CN" sz="1400" dirty="0"/>
              <a:t> </a:t>
            </a:r>
            <a:r>
              <a:rPr kumimoji="1" lang="zh-CN" altLang="en-US" sz="1400" b="1" dirty="0">
                <a:solidFill>
                  <a:srgbClr val="00B050"/>
                </a:solidFill>
              </a:rPr>
              <a:t>unit-modulus constraint</a:t>
            </a:r>
            <a:endParaRPr kumimoji="1" lang="zh-CN" altLang="en-US" sz="1400" b="1" dirty="0">
              <a:solidFill>
                <a:srgbClr val="00B050"/>
              </a:solidFill>
            </a:endParaRPr>
          </a:p>
        </p:txBody>
      </p:sp>
      <p:pic>
        <p:nvPicPr>
          <p:cNvPr id="33" name="图片 32" descr="QQ_1758543198831"/>
          <p:cNvPicPr>
            <a:picLocks noChangeAspect="1"/>
          </p:cNvPicPr>
          <p:nvPr/>
        </p:nvPicPr>
        <p:blipFill>
          <a:blip r:embed="rId4"/>
          <a:stretch>
            <a:fillRect/>
          </a:stretch>
        </p:blipFill>
        <p:spPr>
          <a:xfrm>
            <a:off x="4264660" y="3401060"/>
            <a:ext cx="510540" cy="219075"/>
          </a:xfrm>
          <a:prstGeom prst="rect">
            <a:avLst/>
          </a:prstGeom>
        </p:spPr>
      </p:pic>
      <p:pic>
        <p:nvPicPr>
          <p:cNvPr id="34" name="图片 33" descr="QQ_1758543207415"/>
          <p:cNvPicPr>
            <a:picLocks noChangeAspect="1"/>
          </p:cNvPicPr>
          <p:nvPr/>
        </p:nvPicPr>
        <p:blipFill>
          <a:blip r:embed="rId5"/>
          <a:stretch>
            <a:fillRect/>
          </a:stretch>
        </p:blipFill>
        <p:spPr>
          <a:xfrm>
            <a:off x="4775200" y="3338195"/>
            <a:ext cx="521335" cy="283845"/>
          </a:xfrm>
          <a:prstGeom prst="rect">
            <a:avLst/>
          </a:prstGeom>
        </p:spPr>
      </p:pic>
      <p:pic>
        <p:nvPicPr>
          <p:cNvPr id="35" name="图片 34" descr="QQ_1758543294869"/>
          <p:cNvPicPr>
            <a:picLocks noChangeAspect="1"/>
          </p:cNvPicPr>
          <p:nvPr/>
        </p:nvPicPr>
        <p:blipFill>
          <a:blip r:embed="rId6"/>
          <a:stretch>
            <a:fillRect/>
          </a:stretch>
        </p:blipFill>
        <p:spPr>
          <a:xfrm>
            <a:off x="4617085" y="4255135"/>
            <a:ext cx="1802130" cy="300355"/>
          </a:xfrm>
          <a:prstGeom prst="rect">
            <a:avLst/>
          </a:prstGeom>
        </p:spPr>
      </p:pic>
      <p:pic>
        <p:nvPicPr>
          <p:cNvPr id="36" name="图片 35" descr="QQ_1758543288600"/>
          <p:cNvPicPr>
            <a:picLocks noChangeAspect="1"/>
          </p:cNvPicPr>
          <p:nvPr/>
        </p:nvPicPr>
        <p:blipFill>
          <a:blip r:embed="rId7"/>
          <a:stretch>
            <a:fillRect/>
          </a:stretch>
        </p:blipFill>
        <p:spPr>
          <a:xfrm>
            <a:off x="3241040" y="4295140"/>
            <a:ext cx="1376045" cy="222885"/>
          </a:xfrm>
          <a:prstGeom prst="rect">
            <a:avLst/>
          </a:prstGeom>
        </p:spPr>
      </p:pic>
      <p:pic>
        <p:nvPicPr>
          <p:cNvPr id="37" name="图片 36" descr="QQ_1758543306601"/>
          <p:cNvPicPr>
            <a:picLocks noChangeAspect="1"/>
          </p:cNvPicPr>
          <p:nvPr/>
        </p:nvPicPr>
        <p:blipFill>
          <a:blip r:embed="rId8"/>
          <a:stretch>
            <a:fillRect/>
          </a:stretch>
        </p:blipFill>
        <p:spPr>
          <a:xfrm>
            <a:off x="3576955" y="5083175"/>
            <a:ext cx="2696845" cy="1312545"/>
          </a:xfrm>
          <a:prstGeom prst="rect">
            <a:avLst/>
          </a:prstGeom>
        </p:spPr>
      </p:pic>
      <p:sp>
        <p:nvSpPr>
          <p:cNvPr id="38" name="文本框 37"/>
          <p:cNvSpPr txBox="1"/>
          <p:nvPr/>
        </p:nvSpPr>
        <p:spPr>
          <a:xfrm>
            <a:off x="2947670" y="4629150"/>
            <a:ext cx="4050030" cy="381000"/>
          </a:xfrm>
          <a:prstGeom prst="rect">
            <a:avLst/>
          </a:prstGeom>
        </p:spPr>
        <p:txBody>
          <a:bodyPr vert="horz" wrap="square" lIns="91440" tIns="45720" rIns="91440" bIns="45720" rtlCol="0" anchor="ctr">
            <a:noAutofit/>
          </a:bodyPr>
          <a:p>
            <a:pPr algn="l"/>
            <a:r>
              <a:rPr kumimoji="1" lang="en-US" altLang="zh-CN" sz="1400" dirty="0"/>
              <a:t>The DMA </a:t>
            </a:r>
            <a:r>
              <a:rPr kumimoji="1" lang="en-US" altLang="zh-CN" sz="1400" dirty="0">
                <a:sym typeface="+mn-ea"/>
              </a:rPr>
              <a:t>weights matrix </a:t>
            </a:r>
            <a:r>
              <a:rPr kumimoji="1" lang="en-US" altLang="zh-CN" sz="1400" dirty="0"/>
              <a:t>design </a:t>
            </a:r>
            <a:r>
              <a:rPr kumimoji="1" lang="zh-CN" altLang="en-US" sz="1400" dirty="0"/>
              <a:t>can be formulated </a:t>
            </a:r>
            <a:r>
              <a:rPr kumimoji="1" lang="en-US" altLang="zh-CN" sz="1400" dirty="0"/>
              <a:t>as</a:t>
            </a:r>
            <a:endParaRPr kumimoji="1" lang="en-US" altLang="zh-CN" sz="1400" dirty="0">
              <a:solidFill>
                <a:schemeClr val="tx1"/>
              </a:solidFill>
            </a:endParaRPr>
          </a:p>
        </p:txBody>
      </p:sp>
      <mc:AlternateContent xmlns:mc="http://schemas.openxmlformats.org/markup-compatibility/2006">
        <mc:Choice xmlns:a14="http://schemas.microsoft.com/office/drawing/2010/main" Requires="a14">
          <p:sp>
            <p:nvSpPr>
              <p:cNvPr id="39" name="文本框 38"/>
              <p:cNvSpPr txBox="1"/>
              <p:nvPr/>
            </p:nvSpPr>
            <p:spPr>
              <a:xfrm>
                <a:off x="7421245" y="1375410"/>
                <a:ext cx="4064000" cy="2407285"/>
              </a:xfrm>
              <a:prstGeom prst="rect">
                <a:avLst/>
              </a:prstGeom>
            </p:spPr>
            <p:txBody>
              <a:bodyPr vert="horz" wrap="square" lIns="91440" tIns="45720" rIns="91440" bIns="45720" rtlCol="0" anchor="ctr">
                <a:noAutofit/>
              </a:bodyPr>
              <a:p>
                <a:pPr algn="l"/>
                <a:r>
                  <a:rPr kumimoji="1" lang="en-US" sz="1400" dirty="0"/>
                  <a:t>B</a:t>
                </a:r>
                <a:r>
                  <a:rPr kumimoji="1" sz="1400" dirty="0"/>
                  <a:t>ased on the </a:t>
                </a:r>
                <a:r>
                  <a:rPr kumimoji="1" sz="1400" b="1" dirty="0">
                    <a:solidFill>
                      <a:srgbClr val="00B050"/>
                    </a:solidFill>
                  </a:rPr>
                  <a:t>equal</a:t>
                </a:r>
                <a:r>
                  <a:rPr kumimoji="1" lang="en-US" sz="1400" b="1" dirty="0">
                    <a:solidFill>
                      <a:srgbClr val="00B050"/>
                    </a:solidFill>
                  </a:rPr>
                  <a:t> </a:t>
                </a:r>
                <a:r>
                  <a:rPr kumimoji="1" sz="1400" b="1" dirty="0">
                    <a:solidFill>
                      <a:srgbClr val="00B050"/>
                    </a:solidFill>
                  </a:rPr>
                  <a:t>gain transmission</a:t>
                </a:r>
                <a:r>
                  <a:rPr kumimoji="1" sz="1400" dirty="0"/>
                  <a:t> (EGT) method, </a:t>
                </a:r>
                <a:endParaRPr kumimoji="1" lang="en-US" sz="1400" dirty="0"/>
              </a:p>
              <a:p>
                <a:pPr algn="l"/>
                <a14:m>
                  <m:oMath xmlns:m="http://schemas.openxmlformats.org/officeDocument/2006/math">
                    <m:sSup>
                      <m:sSupPr>
                        <m:ctrlPr>
                          <a:rPr kumimoji="1" lang="en-US" sz="1400" i="1" dirty="0">
                            <a:latin typeface="Cambria Math" panose="02040503050406030204" charset="0"/>
                            <a:cs typeface="Cambria Math" panose="02040503050406030204" charset="0"/>
                          </a:rPr>
                        </m:ctrlPr>
                      </m:sSupPr>
                      <m:e>
                        <m:r>
                          <a:rPr kumimoji="1" lang="en-US" sz="1400" i="1" dirty="0">
                            <a:latin typeface="Cambria Math" panose="02040503050406030204" charset="0"/>
                            <a:cs typeface="Cambria Math" panose="02040503050406030204" charset="0"/>
                          </a:rPr>
                          <m:t>|</m:t>
                        </m:r>
                        <m:sSub>
                          <m:sSubPr>
                            <m:ctrlPr>
                              <a:rPr kumimoji="1" lang="en-US" sz="1400" i="1" dirty="0">
                                <a:latin typeface="Cambria Math" panose="02040503050406030204" charset="0"/>
                                <a:cs typeface="Cambria Math" panose="02040503050406030204" charset="0"/>
                              </a:rPr>
                            </m:ctrlPr>
                          </m:sSubPr>
                          <m:e>
                            <m:r>
                              <a:rPr kumimoji="1" lang="en-US" sz="1400" i="1" dirty="0">
                                <a:latin typeface="Cambria Math" panose="02040503050406030204" charset="0"/>
                                <a:cs typeface="Cambria Math" panose="02040503050406030204" charset="0"/>
                              </a:rPr>
                              <m:t>𝑎</m:t>
                            </m:r>
                          </m:e>
                          <m:sub>
                            <m:r>
                              <a:rPr kumimoji="1" lang="en-US" sz="1400" i="1" dirty="0">
                                <a:latin typeface="Cambria Math" panose="02040503050406030204" charset="0"/>
                                <a:cs typeface="Cambria Math" panose="02040503050406030204" charset="0"/>
                              </a:rPr>
                              <m:t>𝑘</m:t>
                            </m:r>
                          </m:sub>
                        </m:sSub>
                        <m:r>
                          <a:rPr kumimoji="1" lang="en-US" sz="1400" dirty="0">
                            <a:latin typeface="Cambria Math" panose="02040503050406030204" charset="0"/>
                            <a:cs typeface="Cambria Math" panose="02040503050406030204" charset="0"/>
                          </a:rPr>
                          <m:t>+</m:t>
                        </m:r>
                        <m:r>
                          <a:rPr kumimoji="1" lang="en-US" sz="1400" b="1" dirty="0">
                            <a:latin typeface="Cambria Math" panose="02040503050406030204" charset="0"/>
                            <a:cs typeface="Cambria Math" panose="02040503050406030204" charset="0"/>
                          </a:rPr>
                          <m:t>𝐬</m:t>
                        </m:r>
                        <m:sSub>
                          <m:sSubPr>
                            <m:ctrlPr>
                              <a:rPr kumimoji="1" lang="en-US" sz="1400" b="1" dirty="0">
                                <a:latin typeface="Cambria Math" panose="02040503050406030204" charset="0"/>
                                <a:cs typeface="Cambria Math" panose="02040503050406030204" charset="0"/>
                              </a:rPr>
                            </m:ctrlPr>
                          </m:sSubPr>
                          <m:e>
                            <m:r>
                              <a:rPr kumimoji="1" lang="en-US" sz="1400" b="1" dirty="0">
                                <a:latin typeface="Cambria Math" panose="02040503050406030204" charset="0"/>
                                <a:cs typeface="Cambria Math" panose="02040503050406030204" charset="0"/>
                              </a:rPr>
                              <m:t>𝐛</m:t>
                            </m:r>
                          </m:e>
                          <m:sub>
                            <m:r>
                              <a:rPr kumimoji="1" lang="en-US" sz="1400" b="1" i="1" dirty="0">
                                <a:latin typeface="Cambria Math" panose="02040503050406030204" charset="0"/>
                                <a:cs typeface="Cambria Math" panose="02040503050406030204" charset="0"/>
                              </a:rPr>
                              <m:t>𝒌</m:t>
                            </m:r>
                          </m:sub>
                        </m:sSub>
                        <m:r>
                          <a:rPr kumimoji="1" lang="en-US" sz="1400" i="1" dirty="0">
                            <a:latin typeface="Cambria Math" panose="02040503050406030204" charset="0"/>
                            <a:cs typeface="Cambria Math" panose="02040503050406030204" charset="0"/>
                          </a:rPr>
                          <m:t>|</m:t>
                        </m:r>
                      </m:e>
                      <m:sup>
                        <m:r>
                          <a:rPr kumimoji="1" lang="en-US" sz="1400" i="1" dirty="0">
                            <a:latin typeface="Cambria Math" panose="02040503050406030204" charset="0"/>
                            <a:cs typeface="Cambria Math" panose="02040503050406030204" charset="0"/>
                          </a:rPr>
                          <m:t>2</m:t>
                        </m:r>
                      </m:sup>
                    </m:sSup>
                  </m:oMath>
                </a14:m>
                <a:r>
                  <a:rPr kumimoji="1" lang="en-US" sz="1400" dirty="0"/>
                  <a:t>can be maximized when each term of </a:t>
                </a:r>
                <a:endParaRPr kumimoji="1" lang="en-US" sz="1400" dirty="0"/>
              </a:p>
              <a:p>
                <a:pPr algn="l"/>
                <a:endParaRPr kumimoji="1" lang="en-US" sz="1400" dirty="0"/>
              </a:p>
              <a:p>
                <a:pPr algn="l"/>
                <a:endParaRPr kumimoji="1" lang="en-US" sz="1400" dirty="0"/>
              </a:p>
              <a:p>
                <a:pPr algn="l"/>
                <a:endParaRPr kumimoji="1" lang="en-US" sz="1400" dirty="0"/>
              </a:p>
              <a:p>
                <a:pPr algn="l"/>
                <a:endParaRPr kumimoji="1" lang="en-US" sz="1400" dirty="0"/>
              </a:p>
              <a:p>
                <a:pPr algn="l"/>
                <a:endParaRPr kumimoji="1" lang="en-US" sz="1400" b="1" dirty="0">
                  <a:solidFill>
                    <a:srgbClr val="00B050"/>
                  </a:solidFill>
                </a:endParaRPr>
              </a:p>
              <a:p>
                <a:pPr algn="l"/>
                <a:r>
                  <a:rPr kumimoji="1" lang="en-US" sz="1400" b="1" dirty="0">
                    <a:solidFill>
                      <a:srgbClr val="00B050"/>
                    </a:solidFill>
                  </a:rPr>
                  <a:t>keeps the same phase</a:t>
                </a:r>
                <a:r>
                  <a:rPr kumimoji="1" lang="en-US" sz="1400" dirty="0"/>
                  <a:t> with </a:t>
                </a:r>
                <a14:m>
                  <m:oMath xmlns:m="http://schemas.openxmlformats.org/officeDocument/2006/math">
                    <m:sSub>
                      <m:sSubPr>
                        <m:ctrlPr>
                          <a:rPr kumimoji="1" lang="en-US" sz="1400" i="1" dirty="0">
                            <a:latin typeface="Cambria Math" panose="02040503050406030204" charset="0"/>
                            <a:cs typeface="Cambria Math" panose="02040503050406030204" charset="0"/>
                          </a:rPr>
                        </m:ctrlPr>
                      </m:sSubPr>
                      <m:e>
                        <m:r>
                          <a:rPr kumimoji="1" lang="en-US" sz="1400" i="1" dirty="0">
                            <a:latin typeface="Cambria Math" panose="02040503050406030204" charset="0"/>
                            <a:cs typeface="Cambria Math" panose="02040503050406030204" charset="0"/>
                          </a:rPr>
                          <m:t>𝑎</m:t>
                        </m:r>
                      </m:e>
                      <m:sub>
                        <m:r>
                          <a:rPr kumimoji="1" lang="en-US" sz="1400" i="1" dirty="0">
                            <a:latin typeface="Cambria Math" panose="02040503050406030204" charset="0"/>
                            <a:cs typeface="Cambria Math" panose="02040503050406030204" charset="0"/>
                          </a:rPr>
                          <m:t>𝑘</m:t>
                        </m:r>
                      </m:sub>
                    </m:sSub>
                  </m:oMath>
                </a14:m>
                <a:r>
                  <a:rPr kumimoji="1" lang="en-US" sz="1400" dirty="0"/>
                  <a:t>:</a:t>
                </a:r>
                <a:endParaRPr kumimoji="1" lang="en-US" sz="1400" dirty="0"/>
              </a:p>
            </p:txBody>
          </p:sp>
        </mc:Choice>
        <mc:Fallback>
          <p:sp>
            <p:nvSpPr>
              <p:cNvPr id="39" name="文本框 38"/>
              <p:cNvSpPr txBox="1">
                <a:spLocks noRot="1" noChangeAspect="1" noMove="1" noResize="1" noEditPoints="1" noAdjustHandles="1" noChangeArrowheads="1" noChangeShapeType="1" noTextEdit="1"/>
              </p:cNvSpPr>
              <p:nvPr/>
            </p:nvSpPr>
            <p:spPr>
              <a:xfrm>
                <a:off x="7421245" y="1375410"/>
                <a:ext cx="4064000" cy="2407285"/>
              </a:xfrm>
              <a:prstGeom prst="rect">
                <a:avLst/>
              </a:prstGeom>
              <a:blipFill rotWithShape="1">
                <a:blip r:embed="rId9"/>
                <a:stretch>
                  <a:fillRect/>
                </a:stretch>
              </a:blipFill>
            </p:spPr>
            <p:txBody>
              <a:bodyPr/>
              <a:lstStyle/>
              <a:p>
                <a:r>
                  <a:rPr lang="zh-CN" altLang="en-US">
                    <a:noFill/>
                  </a:rPr>
                  <a:t> </a:t>
                </a:r>
              </a:p>
            </p:txBody>
          </p:sp>
        </mc:Fallback>
      </mc:AlternateContent>
      <p:pic>
        <p:nvPicPr>
          <p:cNvPr id="40" name="图片 39" descr="QQ_1758706336822"/>
          <p:cNvPicPr>
            <a:picLocks noChangeAspect="1"/>
          </p:cNvPicPr>
          <p:nvPr/>
        </p:nvPicPr>
        <p:blipFill>
          <a:blip r:embed="rId10"/>
          <a:stretch>
            <a:fillRect/>
          </a:stretch>
        </p:blipFill>
        <p:spPr>
          <a:xfrm>
            <a:off x="7886065" y="2437130"/>
            <a:ext cx="3134995" cy="560070"/>
          </a:xfrm>
          <a:prstGeom prst="rect">
            <a:avLst/>
          </a:prstGeom>
        </p:spPr>
      </p:pic>
      <p:pic>
        <p:nvPicPr>
          <p:cNvPr id="41" name="图片 40" descr="QQ_1758706370640"/>
          <p:cNvPicPr>
            <a:picLocks noChangeAspect="1"/>
          </p:cNvPicPr>
          <p:nvPr/>
        </p:nvPicPr>
        <p:blipFill>
          <a:blip r:embed="rId11"/>
          <a:stretch>
            <a:fillRect/>
          </a:stretch>
        </p:blipFill>
        <p:spPr>
          <a:xfrm>
            <a:off x="7487285" y="4053840"/>
            <a:ext cx="2770505" cy="578485"/>
          </a:xfrm>
          <a:prstGeom prst="rect">
            <a:avLst/>
          </a:prstGeom>
        </p:spPr>
      </p:pic>
      <p:pic>
        <p:nvPicPr>
          <p:cNvPr id="42" name="图片 41" descr="QQ_1758706376357"/>
          <p:cNvPicPr>
            <a:picLocks noChangeAspect="1"/>
          </p:cNvPicPr>
          <p:nvPr/>
        </p:nvPicPr>
        <p:blipFill>
          <a:blip r:embed="rId12"/>
          <a:stretch>
            <a:fillRect/>
          </a:stretch>
        </p:blipFill>
        <p:spPr>
          <a:xfrm>
            <a:off x="10534650" y="4255135"/>
            <a:ext cx="950595" cy="224155"/>
          </a:xfrm>
          <a:prstGeom prst="rect">
            <a:avLst/>
          </a:prstGeom>
        </p:spPr>
      </p:pic>
      <mc:AlternateContent xmlns:mc="http://schemas.openxmlformats.org/markup-compatibility/2006">
        <mc:Choice xmlns:a14="http://schemas.microsoft.com/office/drawing/2010/main" Requires="a14">
          <p:sp>
            <p:nvSpPr>
              <p:cNvPr id="43" name="文本框 42"/>
              <p:cNvSpPr txBox="1"/>
              <p:nvPr/>
            </p:nvSpPr>
            <p:spPr>
              <a:xfrm>
                <a:off x="7421245" y="3620770"/>
                <a:ext cx="4064000" cy="422910"/>
              </a:xfrm>
              <a:prstGeom prst="rect">
                <a:avLst/>
              </a:prstGeom>
            </p:spPr>
            <p:txBody>
              <a:bodyPr vert="horz" wrap="square" lIns="91440" tIns="45720" rIns="91440" bIns="45720" rtlCol="0" anchor="ctr">
                <a:normAutofit/>
              </a:bodyPr>
              <a:p>
                <a:pPr algn="l"/>
                <a:r>
                  <a:rPr kumimoji="1" lang="zh-CN" altLang="en-US" sz="1400" dirty="0"/>
                  <a:t>To be more</a:t>
                </a:r>
                <a:r>
                  <a:rPr kumimoji="1" lang="en-US" altLang="zh-CN" sz="1400" dirty="0"/>
                  <a:t> </a:t>
                </a:r>
                <a:r>
                  <a:rPr kumimoji="1" lang="zh-CN" altLang="en-US" sz="1400" dirty="0"/>
                  <a:t>specific, </a:t>
                </a:r>
                <a14:m>
                  <m:oMath xmlns:m="http://schemas.openxmlformats.org/officeDocument/2006/math">
                    <m:r>
                      <a:rPr kumimoji="1" lang="en-US" sz="1400" b="1" dirty="0">
                        <a:latin typeface="Cambria Math" panose="02040503050406030204" charset="0"/>
                        <a:cs typeface="Cambria Math" panose="02040503050406030204" charset="0"/>
                      </a:rPr>
                      <m:t>𝐬</m:t>
                    </m:r>
                    <m:sSub>
                      <m:sSubPr>
                        <m:ctrlPr>
                          <a:rPr kumimoji="1" lang="en-US" sz="1400" b="1" dirty="0">
                            <a:latin typeface="Cambria Math" panose="02040503050406030204" charset="0"/>
                            <a:cs typeface="Cambria Math" panose="02040503050406030204" charset="0"/>
                          </a:rPr>
                        </m:ctrlPr>
                      </m:sSubPr>
                      <m:e>
                        <m:r>
                          <a:rPr kumimoji="1" lang="en-US" sz="1400" b="1" dirty="0">
                            <a:latin typeface="Cambria Math" panose="02040503050406030204" charset="0"/>
                            <a:cs typeface="Cambria Math" panose="02040503050406030204" charset="0"/>
                          </a:rPr>
                          <m:t>𝐛</m:t>
                        </m:r>
                      </m:e>
                      <m:sub>
                        <m:r>
                          <a:rPr kumimoji="1" lang="en-US" sz="1400" b="1" i="1" dirty="0">
                            <a:latin typeface="Cambria Math" panose="02040503050406030204" charset="0"/>
                            <a:cs typeface="Cambria Math" panose="02040503050406030204" charset="0"/>
                          </a:rPr>
                          <m:t>𝒌</m:t>
                        </m:r>
                      </m:sub>
                    </m:sSub>
                  </m:oMath>
                </a14:m>
                <a:r>
                  <a:rPr kumimoji="1" lang="zh-CN" altLang="en-US" sz="1400" dirty="0"/>
                  <a:t> aims to be</a:t>
                </a:r>
                <a:endParaRPr kumimoji="1" lang="zh-CN" altLang="en-US" sz="1400" dirty="0"/>
              </a:p>
            </p:txBody>
          </p:sp>
        </mc:Choice>
        <mc:Fallback>
          <p:sp>
            <p:nvSpPr>
              <p:cNvPr id="43" name="文本框 42"/>
              <p:cNvSpPr txBox="1">
                <a:spLocks noRot="1" noChangeAspect="1" noMove="1" noResize="1" noEditPoints="1" noAdjustHandles="1" noChangeArrowheads="1" noChangeShapeType="1" noTextEdit="1"/>
              </p:cNvSpPr>
              <p:nvPr/>
            </p:nvSpPr>
            <p:spPr>
              <a:xfrm>
                <a:off x="7421245" y="3620770"/>
                <a:ext cx="4064000" cy="422910"/>
              </a:xfrm>
              <a:prstGeom prst="rect">
                <a:avLst/>
              </a:prstGeom>
              <a:blipFill rotWithShape="1">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文本框 44"/>
              <p:cNvSpPr txBox="1"/>
              <p:nvPr/>
            </p:nvSpPr>
            <p:spPr>
              <a:xfrm>
                <a:off x="7421245" y="4702175"/>
                <a:ext cx="4236085" cy="727075"/>
              </a:xfrm>
              <a:prstGeom prst="rect">
                <a:avLst/>
              </a:prstGeom>
            </p:spPr>
            <p:txBody>
              <a:bodyPr vert="horz" wrap="square" lIns="91440" tIns="45720" rIns="91440" bIns="45720" rtlCol="0" anchor="ctr">
                <a:normAutofit lnSpcReduction="10000"/>
              </a:bodyPr>
              <a:p>
                <a:pPr algn="l"/>
                <a:r>
                  <a:rPr kumimoji="1" lang="en-US" altLang="zh-CN" sz="1400" dirty="0"/>
                  <a:t>T</a:t>
                </a:r>
                <a:r>
                  <a:rPr kumimoji="1" lang="zh-CN" altLang="en-US" sz="1400" dirty="0"/>
                  <a:t>o </a:t>
                </a:r>
                <a:r>
                  <a:rPr kumimoji="1" lang="zh-CN" altLang="en-US" sz="1400" b="1" dirty="0">
                    <a:solidFill>
                      <a:srgbClr val="00B050"/>
                    </a:solidFill>
                  </a:rPr>
                  <a:t>minimize the</a:t>
                </a:r>
                <a:r>
                  <a:rPr kumimoji="1" lang="en-US" altLang="zh-CN" sz="1400" b="1" dirty="0">
                    <a:solidFill>
                      <a:srgbClr val="00B050"/>
                    </a:solidFill>
                  </a:rPr>
                  <a:t> </a:t>
                </a:r>
                <a:r>
                  <a:rPr kumimoji="1" lang="zh-CN" altLang="en-US" sz="1400" b="1" dirty="0">
                    <a:solidFill>
                      <a:srgbClr val="00B050"/>
                    </a:solidFill>
                  </a:rPr>
                  <a:t>difference between </a:t>
                </a:r>
                <a14:m>
                  <m:oMath xmlns:m="http://schemas.openxmlformats.org/officeDocument/2006/math">
                    <m:r>
                      <a:rPr kumimoji="1" lang="en-US" sz="1400" b="1" dirty="0">
                        <a:solidFill>
                          <a:srgbClr val="00B050"/>
                        </a:solidFill>
                        <a:latin typeface="Cambria Math" panose="02040503050406030204" charset="0"/>
                        <a:cs typeface="Cambria Math" panose="02040503050406030204" charset="0"/>
                      </a:rPr>
                      <m:t>𝐬</m:t>
                    </m:r>
                    <m:sSub>
                      <m:sSubPr>
                        <m:ctrlPr>
                          <a:rPr kumimoji="1" lang="en-US" sz="1400" b="1" dirty="0">
                            <a:solidFill>
                              <a:srgbClr val="00B050"/>
                            </a:solidFill>
                            <a:latin typeface="Cambria Math" panose="02040503050406030204" charset="0"/>
                            <a:cs typeface="Cambria Math" panose="02040503050406030204" charset="0"/>
                          </a:rPr>
                        </m:ctrlPr>
                      </m:sSubPr>
                      <m:e>
                        <m:r>
                          <a:rPr kumimoji="1" lang="en-US" sz="1400" b="1" dirty="0">
                            <a:solidFill>
                              <a:srgbClr val="00B050"/>
                            </a:solidFill>
                            <a:latin typeface="Cambria Math" panose="02040503050406030204" charset="0"/>
                            <a:cs typeface="Cambria Math" panose="02040503050406030204" charset="0"/>
                          </a:rPr>
                          <m:t>𝐛</m:t>
                        </m:r>
                      </m:e>
                      <m:sub>
                        <m:r>
                          <a:rPr kumimoji="1" lang="en-US" sz="1400" i="1" dirty="0">
                            <a:solidFill>
                              <a:srgbClr val="00B050"/>
                            </a:solidFill>
                            <a:latin typeface="Cambria Math" panose="02040503050406030204" charset="0"/>
                            <a:cs typeface="Cambria Math" panose="02040503050406030204" charset="0"/>
                          </a:rPr>
                          <m:t>𝑘</m:t>
                        </m:r>
                      </m:sub>
                    </m:sSub>
                  </m:oMath>
                </a14:m>
                <a:r>
                  <a:rPr kumimoji="1" lang="zh-CN" altLang="en-US" sz="1400" b="1" dirty="0">
                    <a:solidFill>
                      <a:srgbClr val="00B050"/>
                    </a:solidFill>
                  </a:rPr>
                  <a:t> and </a:t>
                </a:r>
                <a14:m>
                  <m:oMath xmlns:m="http://schemas.openxmlformats.org/officeDocument/2006/math">
                    <m:sSub>
                      <m:sSubPr>
                        <m:ctrlPr>
                          <a:rPr kumimoji="1" lang="en-US" sz="1400" i="1" dirty="0">
                            <a:solidFill>
                              <a:srgbClr val="00B050"/>
                            </a:solidFill>
                            <a:latin typeface="Cambria Math" panose="02040503050406030204" charset="0"/>
                            <a:cs typeface="Cambria Math" panose="02040503050406030204" charset="0"/>
                          </a:rPr>
                        </m:ctrlPr>
                      </m:sSubPr>
                      <m:e>
                        <m:r>
                          <a:rPr kumimoji="1" lang="en-US" sz="1400" i="1" dirty="0">
                            <a:solidFill>
                              <a:srgbClr val="00B050"/>
                            </a:solidFill>
                            <a:latin typeface="Cambria Math" panose="02040503050406030204" charset="0"/>
                            <a:cs typeface="Cambria Math" panose="02040503050406030204" charset="0"/>
                          </a:rPr>
                          <m:t>𝑡</m:t>
                        </m:r>
                      </m:e>
                      <m:sub>
                        <m:r>
                          <a:rPr kumimoji="1" lang="en-US" sz="1400" i="1" dirty="0">
                            <a:solidFill>
                              <a:srgbClr val="00B050"/>
                            </a:solidFill>
                            <a:latin typeface="Cambria Math" panose="02040503050406030204" charset="0"/>
                            <a:cs typeface="Cambria Math" panose="02040503050406030204" charset="0"/>
                          </a:rPr>
                          <m:t>𝑘</m:t>
                        </m:r>
                      </m:sub>
                    </m:sSub>
                  </m:oMath>
                </a14:m>
                <a:r>
                  <a:rPr kumimoji="1" lang="zh-CN" altLang="en-US" sz="1400" dirty="0"/>
                  <a:t> for </a:t>
                </a:r>
                <a:r>
                  <a:rPr kumimoji="1" lang="en-US" altLang="zh-CN" sz="1400" dirty="0"/>
                  <a:t>all </a:t>
                </a:r>
                <a:r>
                  <a:rPr kumimoji="1" lang="zh-CN" altLang="en-US" sz="1400" i="1" dirty="0"/>
                  <a:t>k</a:t>
                </a:r>
                <a:r>
                  <a:rPr kumimoji="1" lang="zh-CN" altLang="en-US" sz="1400" dirty="0"/>
                  <a:t>, we </a:t>
                </a:r>
                <a:r>
                  <a:rPr kumimoji="1" lang="en-US" sz="1400" dirty="0"/>
                  <a:t>put forward</a:t>
                </a:r>
                <a:r>
                  <a:rPr kumimoji="1" lang="zh-CN" altLang="en-US" sz="1400" dirty="0"/>
                  <a:t>:</a:t>
                </a:r>
                <a:endParaRPr kumimoji="1" lang="zh-CN" altLang="en-US" sz="1400" dirty="0"/>
              </a:p>
            </p:txBody>
          </p:sp>
        </mc:Choice>
        <mc:Fallback>
          <p:sp>
            <p:nvSpPr>
              <p:cNvPr id="45" name="文本框 44"/>
              <p:cNvSpPr txBox="1">
                <a:spLocks noRot="1" noChangeAspect="1" noMove="1" noResize="1" noEditPoints="1" noAdjustHandles="1" noChangeArrowheads="1" noChangeShapeType="1" noTextEdit="1"/>
              </p:cNvSpPr>
              <p:nvPr/>
            </p:nvSpPr>
            <p:spPr>
              <a:xfrm>
                <a:off x="7421245" y="4702175"/>
                <a:ext cx="4236085" cy="727075"/>
              </a:xfrm>
              <a:prstGeom prst="rect">
                <a:avLst/>
              </a:prstGeom>
              <a:blipFill rotWithShape="1">
                <a:blip r:embed="rId14"/>
                <a:stretch>
                  <a:fillRect/>
                </a:stretch>
              </a:blipFill>
            </p:spPr>
            <p:txBody>
              <a:bodyPr/>
              <a:lstStyle/>
              <a:p>
                <a:r>
                  <a:rPr lang="zh-CN" altLang="en-US">
                    <a:noFill/>
                  </a:rPr>
                  <a:t> </a:t>
                </a:r>
              </a:p>
            </p:txBody>
          </p:sp>
        </mc:Fallback>
      </mc:AlternateContent>
      <p:pic>
        <p:nvPicPr>
          <p:cNvPr id="46" name="图片 45" descr="QQ_1758706630078"/>
          <p:cNvPicPr>
            <a:picLocks noChangeAspect="1"/>
          </p:cNvPicPr>
          <p:nvPr/>
        </p:nvPicPr>
        <p:blipFill>
          <a:blip r:embed="rId15"/>
          <a:stretch>
            <a:fillRect/>
          </a:stretch>
        </p:blipFill>
        <p:spPr>
          <a:xfrm>
            <a:off x="8067040" y="5507355"/>
            <a:ext cx="2573655" cy="561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5310" y="57785"/>
            <a:ext cx="10965180" cy="845185"/>
          </a:xfrm>
        </p:spPr>
        <p:txBody>
          <a:bodyPr>
            <a:noAutofit/>
          </a:bodyPr>
          <a:lstStyle/>
          <a:p>
            <a:r>
              <a:rPr kumimoji="1" lang="en-US" altLang="zh-CN" sz="3200" b="1" dirty="0">
                <a:latin typeface="+mn-lt"/>
                <a:ea typeface="+mn-ea"/>
                <a:cs typeface="+mn-cs"/>
                <a:sym typeface="+mn-ea"/>
              </a:rPr>
              <a:t>3 </a:t>
            </a:r>
            <a:r>
              <a:rPr kumimoji="1" lang="en-US" altLang="zh-CN" sz="3200" b="1" dirty="0">
                <a:sym typeface="+mn-ea"/>
              </a:rPr>
              <a:t>DMA weights matrix and precoding matrix AO strategy</a:t>
            </a:r>
            <a:endParaRPr kumimoji="1" lang="en-US" altLang="zh-CN" sz="3200" b="1" dirty="0">
              <a:solidFill>
                <a:schemeClr val="bg1"/>
              </a:solidFill>
              <a:latin typeface="+mn-lt"/>
              <a:ea typeface="+mn-ea"/>
              <a:cs typeface="+mn-cs"/>
              <a:sym typeface="+mn-ea"/>
            </a:endParaRPr>
          </a:p>
        </p:txBody>
      </p:sp>
      <p:pic>
        <p:nvPicPr>
          <p:cNvPr id="20" name="图片 19"/>
          <p:cNvPicPr>
            <a:picLocks noChangeAspect="1"/>
          </p:cNvPicPr>
          <p:nvPr>
            <p:custDataLst>
              <p:tags r:id="rId1"/>
            </p:custDataLst>
          </p:nvPr>
        </p:nvPicPr>
        <p:blipFill>
          <a:blip r:embed="rId2" cstate="email"/>
          <a:stretch>
            <a:fillRect/>
          </a:stretch>
        </p:blipFill>
        <p:spPr>
          <a:xfrm>
            <a:off x="11168380" y="96520"/>
            <a:ext cx="756920" cy="756920"/>
          </a:xfrm>
          <a:prstGeom prst="rect">
            <a:avLst/>
          </a:prstGeom>
        </p:spPr>
      </p:pic>
      <p:sp>
        <p:nvSpPr>
          <p:cNvPr id="29" name="文本框 28"/>
          <p:cNvSpPr txBox="1"/>
          <p:nvPr/>
        </p:nvSpPr>
        <p:spPr>
          <a:xfrm>
            <a:off x="2675890" y="1015365"/>
            <a:ext cx="4426585" cy="396000"/>
          </a:xfrm>
          <a:prstGeom prst="roundRect">
            <a:avLst/>
          </a:prstGeom>
          <a:solidFill>
            <a:schemeClr val="accent4">
              <a:lumMod val="20000"/>
              <a:lumOff val="80000"/>
            </a:schemeClr>
          </a:solidFill>
        </p:spPr>
        <p:txBody>
          <a:bodyPr vert="horz" wrap="square" lIns="91440" tIns="45720" rIns="91440" bIns="45720" rtlCol="0" anchor="t">
            <a:noAutofit/>
          </a:bodyPr>
          <a:p>
            <a:pPr algn="ctr"/>
            <a:r>
              <a:rPr kumimoji="1" lang="en-US" altLang="zh-CN" b="1" i="1" dirty="0">
                <a:solidFill>
                  <a:srgbClr val="00B050"/>
                </a:solidFill>
                <a:sym typeface="+mn-ea"/>
              </a:rPr>
              <a:t>GDP method for DMA weights matrix</a:t>
            </a:r>
            <a:endParaRPr kumimoji="1" lang="en-US" altLang="zh-CN" dirty="0">
              <a:solidFill>
                <a:srgbClr val="356115"/>
              </a:solidFill>
              <a:sym typeface="+mn-ea"/>
            </a:endParaRPr>
          </a:p>
        </p:txBody>
      </p:sp>
      <p:sp>
        <p:nvSpPr>
          <p:cNvPr id="30" name="矩形 29"/>
          <p:cNvSpPr/>
          <p:nvPr/>
        </p:nvSpPr>
        <p:spPr>
          <a:xfrm>
            <a:off x="2675890" y="1404620"/>
            <a:ext cx="4425950" cy="506285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3" name="文本框 32"/>
          <p:cNvSpPr txBox="1"/>
          <p:nvPr/>
        </p:nvSpPr>
        <p:spPr>
          <a:xfrm>
            <a:off x="7228840" y="1015365"/>
            <a:ext cx="4446270" cy="396000"/>
          </a:xfrm>
          <a:prstGeom prst="roundRect">
            <a:avLst/>
          </a:prstGeom>
          <a:solidFill>
            <a:schemeClr val="accent4">
              <a:lumMod val="20000"/>
              <a:lumOff val="80000"/>
            </a:schemeClr>
          </a:solidFill>
        </p:spPr>
        <p:txBody>
          <a:bodyPr vert="horz" wrap="square" lIns="91440" tIns="45720" rIns="91440" bIns="45720" rtlCol="0" anchor="t">
            <a:noAutofit/>
          </a:bodyPr>
          <a:p>
            <a:pPr algn="ctr"/>
            <a:r>
              <a:rPr kumimoji="1" lang="en-US" altLang="zh-CN" b="1" i="1" dirty="0">
                <a:solidFill>
                  <a:srgbClr val="00B050"/>
                </a:solidFill>
                <a:sym typeface="+mn-ea"/>
              </a:rPr>
              <a:t>Proposed algorithm based on AO strategy</a:t>
            </a:r>
            <a:endParaRPr kumimoji="1" lang="en-US" altLang="zh-CN" dirty="0">
              <a:solidFill>
                <a:srgbClr val="356115"/>
              </a:solidFill>
              <a:sym typeface="+mn-ea"/>
            </a:endParaRPr>
          </a:p>
        </p:txBody>
      </p:sp>
      <p:sp>
        <p:nvSpPr>
          <p:cNvPr id="41" name="矩形 40"/>
          <p:cNvSpPr/>
          <p:nvPr/>
        </p:nvSpPr>
        <p:spPr>
          <a:xfrm>
            <a:off x="7249160" y="1404620"/>
            <a:ext cx="4425950" cy="506285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圆角矩形 25"/>
          <p:cNvSpPr/>
          <p:nvPr/>
        </p:nvSpPr>
        <p:spPr>
          <a:xfrm>
            <a:off x="334645" y="2961005"/>
            <a:ext cx="2212340" cy="1489710"/>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en-US" altLang="zh-CN" b="1" i="1">
                <a:solidFill>
                  <a:schemeClr val="tx1"/>
                </a:solidFill>
                <a:effectLst/>
              </a:rPr>
              <a:t>How to</a:t>
            </a:r>
            <a:r>
              <a:rPr lang="en-US" altLang="zh-CN" b="1" i="1">
                <a:solidFill>
                  <a:schemeClr val="tx1"/>
                </a:solidFill>
                <a:effectLst>
                  <a:outerShdw blurRad="38100" dist="19050" dir="2700000" algn="tl" rotWithShape="0">
                    <a:schemeClr val="dk1">
                      <a:alpha val="40000"/>
                    </a:schemeClr>
                  </a:outerShdw>
                </a:effectLst>
              </a:rPr>
              <a:t> </a:t>
            </a:r>
            <a:r>
              <a:rPr kumimoji="1" lang="en-US" altLang="zh-CN" b="1" i="1" dirty="0">
                <a:solidFill>
                  <a:srgbClr val="FFC000"/>
                </a:solidFill>
                <a:sym typeface="+mn-ea"/>
              </a:rPr>
              <a:t>solve the novel formula</a:t>
            </a:r>
            <a:r>
              <a:rPr lang="en-US" altLang="zh-CN" b="1" i="1">
                <a:solidFill>
                  <a:schemeClr val="tx1"/>
                </a:solidFill>
                <a:effectLst>
                  <a:outerShdw blurRad="38100" dist="19050" dir="2700000" algn="tl" rotWithShape="0">
                    <a:schemeClr val="dk1">
                      <a:alpha val="40000"/>
                    </a:schemeClr>
                  </a:outerShdw>
                </a:effectLst>
              </a:rPr>
              <a:t>?</a:t>
            </a:r>
            <a:endParaRPr lang="en-US" altLang="zh-CN" b="1" i="1">
              <a:solidFill>
                <a:schemeClr val="tx1"/>
              </a:solidFill>
              <a:effectLst>
                <a:outerShdw blurRad="38100" dist="19050" dir="2700000" algn="tl" rotWithShape="0">
                  <a:schemeClr val="dk1">
                    <a:alpha val="40000"/>
                  </a:schemeClr>
                </a:outerShdw>
              </a:effectLst>
            </a:endParaRPr>
          </a:p>
        </p:txBody>
      </p:sp>
      <p:pic>
        <p:nvPicPr>
          <p:cNvPr id="4" name="图片 3" descr="QQ_1758707624148"/>
          <p:cNvPicPr>
            <a:picLocks noChangeAspect="1"/>
          </p:cNvPicPr>
          <p:nvPr/>
        </p:nvPicPr>
        <p:blipFill>
          <a:blip r:embed="rId3"/>
          <a:stretch>
            <a:fillRect/>
          </a:stretch>
        </p:blipFill>
        <p:spPr>
          <a:xfrm>
            <a:off x="3126740" y="2664460"/>
            <a:ext cx="3448685" cy="1033145"/>
          </a:xfrm>
          <a:prstGeom prst="rect">
            <a:avLst/>
          </a:prstGeom>
        </p:spPr>
      </p:pic>
      <p:sp>
        <p:nvSpPr>
          <p:cNvPr id="6" name="文本框 5"/>
          <p:cNvSpPr txBox="1"/>
          <p:nvPr/>
        </p:nvSpPr>
        <p:spPr>
          <a:xfrm>
            <a:off x="2958465" y="1920240"/>
            <a:ext cx="4064000" cy="914400"/>
          </a:xfrm>
          <a:prstGeom prst="rect">
            <a:avLst/>
          </a:prstGeom>
        </p:spPr>
        <p:txBody>
          <a:bodyPr vert="horz" wrap="square" lIns="91440" tIns="45720" rIns="91440" bIns="45720" rtlCol="0" anchor="ctr">
            <a:normAutofit/>
          </a:bodyPr>
          <a:p>
            <a:pPr algn="l"/>
            <a:r>
              <a:rPr kumimoji="1" lang="en-US" sz="1400" dirty="0"/>
              <a:t>T</a:t>
            </a:r>
            <a:r>
              <a:rPr kumimoji="1" sz="1400" dirty="0"/>
              <a:t>he </a:t>
            </a:r>
            <a:r>
              <a:rPr kumimoji="1" sz="1400" b="1" dirty="0">
                <a:solidFill>
                  <a:srgbClr val="00B050"/>
                </a:solidFill>
              </a:rPr>
              <a:t>computationally efficient GDP</a:t>
            </a:r>
            <a:r>
              <a:rPr kumimoji="1" sz="1400" dirty="0"/>
              <a:t> can be applied</a:t>
            </a:r>
            <a:endParaRPr kumimoji="1" sz="1400" dirty="0"/>
          </a:p>
          <a:p>
            <a:pPr algn="l"/>
            <a:endParaRPr kumimoji="1" sz="1400" dirty="0"/>
          </a:p>
        </p:txBody>
      </p:sp>
      <p:sp>
        <p:nvSpPr>
          <p:cNvPr id="9" name="文本框 8"/>
          <p:cNvSpPr txBox="1"/>
          <p:nvPr/>
        </p:nvSpPr>
        <p:spPr>
          <a:xfrm>
            <a:off x="2958465" y="3009265"/>
            <a:ext cx="4203065" cy="3338195"/>
          </a:xfrm>
          <a:prstGeom prst="rect">
            <a:avLst/>
          </a:prstGeom>
        </p:spPr>
        <p:txBody>
          <a:bodyPr vert="horz" wrap="square" lIns="91440" tIns="45720" rIns="91440" bIns="45720" rtlCol="0" anchor="ctr">
            <a:noAutofit/>
          </a:bodyPr>
          <a:p>
            <a:pPr algn="l"/>
            <a:r>
              <a:rPr kumimoji="1" lang="zh-CN" altLang="en-US" sz="1400" dirty="0"/>
              <a:t>Because the</a:t>
            </a:r>
            <a:r>
              <a:rPr kumimoji="1" lang="en-US" altLang="zh-CN" sz="1400" dirty="0"/>
              <a:t> cost</a:t>
            </a:r>
            <a:r>
              <a:rPr kumimoji="1" lang="zh-CN" altLang="en-US" sz="1400" dirty="0"/>
              <a:t> function has Lipschitz continuous gradient,</a:t>
            </a:r>
            <a:r>
              <a:rPr kumimoji="1" lang="en-US" altLang="zh-CN" sz="1400" dirty="0"/>
              <a:t> </a:t>
            </a:r>
            <a:r>
              <a:rPr kumimoji="1" lang="zh-CN" altLang="en-US" sz="1400" dirty="0"/>
              <a:t>the convergence</a:t>
            </a:r>
            <a:r>
              <a:rPr kumimoji="1" lang="en-US" altLang="zh-CN" sz="1400" dirty="0"/>
              <a:t> </a:t>
            </a:r>
            <a:r>
              <a:rPr kumimoji="1" lang="zh-CN" altLang="en-US" sz="1400" dirty="0"/>
              <a:t>can be guaranteed</a:t>
            </a:r>
            <a:r>
              <a:rPr kumimoji="1" lang="en-US" altLang="zh-CN" sz="1400" dirty="0"/>
              <a:t>.</a:t>
            </a:r>
            <a:endParaRPr kumimoji="1" lang="en-US" altLang="zh-CN" sz="1400" dirty="0"/>
          </a:p>
          <a:p>
            <a:pPr algn="l"/>
            <a:endParaRPr kumimoji="1" lang="en-US" altLang="zh-CN" sz="1400" dirty="0"/>
          </a:p>
          <a:p>
            <a:pPr algn="l"/>
            <a:endParaRPr kumimoji="1" lang="en-US" altLang="zh-CN" sz="1400" dirty="0"/>
          </a:p>
          <a:p>
            <a:pPr algn="l"/>
            <a:r>
              <a:rPr kumimoji="1" lang="en-US" altLang="zh-CN" sz="1400" dirty="0"/>
              <a:t>To speed up convergence, a better initial value is presented.</a:t>
            </a:r>
            <a:endParaRPr kumimoji="1" lang="en-US" altLang="zh-CN" sz="1400" dirty="0"/>
          </a:p>
        </p:txBody>
      </p:sp>
      <p:pic>
        <p:nvPicPr>
          <p:cNvPr id="10" name="图片 9" descr="QQ_1758708000437"/>
          <p:cNvPicPr>
            <a:picLocks noChangeAspect="1"/>
          </p:cNvPicPr>
          <p:nvPr/>
        </p:nvPicPr>
        <p:blipFill>
          <a:blip r:embed="rId4"/>
          <a:stretch>
            <a:fillRect/>
          </a:stretch>
        </p:blipFill>
        <p:spPr>
          <a:xfrm>
            <a:off x="3879215" y="5458460"/>
            <a:ext cx="1943735" cy="227965"/>
          </a:xfrm>
          <a:prstGeom prst="rect">
            <a:avLst/>
          </a:prstGeom>
        </p:spPr>
      </p:pic>
      <p:pic>
        <p:nvPicPr>
          <p:cNvPr id="11" name="图片 10" descr="QQ_1758708084949"/>
          <p:cNvPicPr>
            <a:picLocks noChangeAspect="1"/>
          </p:cNvPicPr>
          <p:nvPr/>
        </p:nvPicPr>
        <p:blipFill>
          <a:blip r:embed="rId5"/>
          <a:stretch>
            <a:fillRect/>
          </a:stretch>
        </p:blipFill>
        <p:spPr>
          <a:xfrm>
            <a:off x="7531100" y="2089150"/>
            <a:ext cx="3841750" cy="3022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5310" y="57785"/>
            <a:ext cx="10965180" cy="845185"/>
          </a:xfrm>
        </p:spPr>
        <p:txBody>
          <a:bodyPr>
            <a:noAutofit/>
          </a:bodyPr>
          <a:lstStyle/>
          <a:p>
            <a:r>
              <a:rPr kumimoji="1" lang="en-US" altLang="zh-CN" sz="3200" b="1" dirty="0">
                <a:latin typeface="+mn-lt"/>
                <a:ea typeface="+mn-ea"/>
                <a:cs typeface="+mn-cs"/>
                <a:sym typeface="+mn-ea"/>
              </a:rPr>
              <a:t>4 </a:t>
            </a:r>
            <a:r>
              <a:rPr kumimoji="1" lang="en-US" altLang="zh-CN" sz="3200" b="1" dirty="0">
                <a:sym typeface="+mn-ea"/>
              </a:rPr>
              <a:t>DMA weights matrix and precoding matrix DO strategy</a:t>
            </a:r>
            <a:endParaRPr kumimoji="1" lang="en-US" altLang="zh-CN" sz="3200" b="1" dirty="0">
              <a:solidFill>
                <a:schemeClr val="bg1"/>
              </a:solidFill>
              <a:latin typeface="+mn-lt"/>
              <a:ea typeface="+mn-ea"/>
              <a:cs typeface="+mn-cs"/>
              <a:sym typeface="+mn-ea"/>
            </a:endParaRPr>
          </a:p>
        </p:txBody>
      </p:sp>
      <p:pic>
        <p:nvPicPr>
          <p:cNvPr id="20" name="图片 19"/>
          <p:cNvPicPr>
            <a:picLocks noChangeAspect="1"/>
          </p:cNvPicPr>
          <p:nvPr>
            <p:custDataLst>
              <p:tags r:id="rId1"/>
            </p:custDataLst>
          </p:nvPr>
        </p:nvPicPr>
        <p:blipFill>
          <a:blip r:embed="rId2" cstate="email"/>
          <a:stretch>
            <a:fillRect/>
          </a:stretch>
        </p:blipFill>
        <p:spPr>
          <a:xfrm>
            <a:off x="11168380" y="96520"/>
            <a:ext cx="756920" cy="756920"/>
          </a:xfrm>
          <a:prstGeom prst="rect">
            <a:avLst/>
          </a:prstGeom>
        </p:spPr>
      </p:pic>
      <p:sp>
        <p:nvSpPr>
          <p:cNvPr id="29" name="文本框 28"/>
          <p:cNvSpPr txBox="1"/>
          <p:nvPr/>
        </p:nvSpPr>
        <p:spPr>
          <a:xfrm>
            <a:off x="2675890" y="1015365"/>
            <a:ext cx="4426585" cy="396000"/>
          </a:xfrm>
          <a:prstGeom prst="roundRect">
            <a:avLst/>
          </a:prstGeom>
          <a:solidFill>
            <a:schemeClr val="accent4">
              <a:lumMod val="20000"/>
              <a:lumOff val="80000"/>
            </a:schemeClr>
          </a:solidFill>
        </p:spPr>
        <p:txBody>
          <a:bodyPr vert="horz" wrap="square" lIns="91440" tIns="45720" rIns="91440" bIns="45720" rtlCol="0" anchor="t">
            <a:noAutofit/>
          </a:bodyPr>
          <a:p>
            <a:pPr algn="ctr"/>
            <a:r>
              <a:rPr kumimoji="1" lang="en-US" altLang="zh-CN" b="1" i="1" dirty="0">
                <a:solidFill>
                  <a:srgbClr val="00B050"/>
                </a:solidFill>
                <a:sym typeface="+mn-ea"/>
              </a:rPr>
              <a:t>DMA weights matrix design in DO</a:t>
            </a:r>
            <a:endParaRPr kumimoji="1" lang="en-US" altLang="zh-CN" dirty="0">
              <a:solidFill>
                <a:srgbClr val="356115"/>
              </a:solidFill>
              <a:sym typeface="+mn-ea"/>
            </a:endParaRPr>
          </a:p>
        </p:txBody>
      </p:sp>
      <p:sp>
        <p:nvSpPr>
          <p:cNvPr id="30" name="矩形 29"/>
          <p:cNvSpPr/>
          <p:nvPr/>
        </p:nvSpPr>
        <p:spPr>
          <a:xfrm>
            <a:off x="2675890" y="1404620"/>
            <a:ext cx="4425950" cy="506285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3" name="文本框 32"/>
          <p:cNvSpPr txBox="1"/>
          <p:nvPr/>
        </p:nvSpPr>
        <p:spPr>
          <a:xfrm>
            <a:off x="7228840" y="1015365"/>
            <a:ext cx="4446270" cy="396000"/>
          </a:xfrm>
          <a:prstGeom prst="roundRect">
            <a:avLst/>
          </a:prstGeom>
          <a:solidFill>
            <a:schemeClr val="accent4">
              <a:lumMod val="20000"/>
              <a:lumOff val="80000"/>
            </a:schemeClr>
          </a:solidFill>
        </p:spPr>
        <p:txBody>
          <a:bodyPr vert="horz" wrap="square" lIns="91440" tIns="45720" rIns="91440" bIns="45720" rtlCol="0" anchor="t">
            <a:noAutofit/>
          </a:bodyPr>
          <a:p>
            <a:pPr algn="ctr"/>
            <a:r>
              <a:rPr kumimoji="1" lang="en-US" altLang="zh-CN" b="1" i="1" dirty="0">
                <a:solidFill>
                  <a:srgbClr val="00B050"/>
                </a:solidFill>
                <a:sym typeface="+mn-ea"/>
              </a:rPr>
              <a:t>Proposed algorithm based on DO strategy</a:t>
            </a:r>
            <a:endParaRPr kumimoji="1" lang="en-US" altLang="zh-CN" dirty="0">
              <a:solidFill>
                <a:srgbClr val="356115"/>
              </a:solidFill>
              <a:sym typeface="+mn-ea"/>
            </a:endParaRPr>
          </a:p>
        </p:txBody>
      </p:sp>
      <p:sp>
        <p:nvSpPr>
          <p:cNvPr id="41" name="矩形 40"/>
          <p:cNvSpPr/>
          <p:nvPr/>
        </p:nvSpPr>
        <p:spPr>
          <a:xfrm>
            <a:off x="7249160" y="1404620"/>
            <a:ext cx="4425950" cy="506285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圆角矩形 25"/>
          <p:cNvSpPr/>
          <p:nvPr/>
        </p:nvSpPr>
        <p:spPr>
          <a:xfrm>
            <a:off x="334645" y="2961005"/>
            <a:ext cx="2212340" cy="1489710"/>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en-US" altLang="zh-CN" b="1" i="1">
                <a:solidFill>
                  <a:schemeClr val="tx1"/>
                </a:solidFill>
                <a:effectLst/>
              </a:rPr>
              <a:t>How to</a:t>
            </a:r>
            <a:r>
              <a:rPr lang="en-US" altLang="zh-CN" b="1" i="1">
                <a:solidFill>
                  <a:schemeClr val="tx1"/>
                </a:solidFill>
                <a:effectLst>
                  <a:outerShdw blurRad="38100" dist="19050" dir="2700000" algn="tl" rotWithShape="0">
                    <a:schemeClr val="dk1">
                      <a:alpha val="40000"/>
                    </a:schemeClr>
                  </a:outerShdw>
                </a:effectLst>
              </a:rPr>
              <a:t> </a:t>
            </a:r>
            <a:r>
              <a:rPr kumimoji="1" lang="en-US" altLang="zh-CN" b="1" i="1" dirty="0">
                <a:solidFill>
                  <a:srgbClr val="FFC000"/>
                </a:solidFill>
                <a:sym typeface="+mn-ea"/>
              </a:rPr>
              <a:t>reduce further complexity</a:t>
            </a:r>
            <a:r>
              <a:rPr lang="en-US" altLang="zh-CN" b="1" i="1">
                <a:solidFill>
                  <a:schemeClr val="tx1"/>
                </a:solidFill>
                <a:effectLst>
                  <a:outerShdw blurRad="38100" dist="19050" dir="2700000" algn="tl" rotWithShape="0">
                    <a:schemeClr val="dk1">
                      <a:alpha val="40000"/>
                    </a:schemeClr>
                  </a:outerShdw>
                </a:effectLst>
              </a:rPr>
              <a:t>?</a:t>
            </a:r>
            <a:endParaRPr lang="en-US" altLang="zh-CN" b="1" i="1">
              <a:solidFill>
                <a:schemeClr val="tx1"/>
              </a:solidFill>
              <a:effectLst>
                <a:outerShdw blurRad="38100" dist="19050" dir="2700000" algn="tl" rotWithShape="0">
                  <a:schemeClr val="dk1">
                    <a:alpha val="40000"/>
                  </a:schemeClr>
                </a:outerShdw>
              </a:effectLst>
            </a:endParaRPr>
          </a:p>
        </p:txBody>
      </p:sp>
      <p:sp>
        <p:nvSpPr>
          <p:cNvPr id="6" name="文本框 5"/>
          <p:cNvSpPr txBox="1"/>
          <p:nvPr/>
        </p:nvSpPr>
        <p:spPr>
          <a:xfrm>
            <a:off x="2958465" y="1703705"/>
            <a:ext cx="4064000" cy="683895"/>
          </a:xfrm>
          <a:prstGeom prst="rect">
            <a:avLst/>
          </a:prstGeom>
        </p:spPr>
        <p:txBody>
          <a:bodyPr vert="horz" wrap="square" lIns="91440" tIns="45720" rIns="91440" bIns="45720" rtlCol="0" anchor="ctr">
            <a:noAutofit/>
          </a:bodyPr>
          <a:p>
            <a:pPr algn="l"/>
            <a:r>
              <a:rPr kumimoji="1" lang="en-US" sz="1400" dirty="0">
                <a:sym typeface="+mn-ea"/>
              </a:rPr>
              <a:t>To </a:t>
            </a:r>
            <a:r>
              <a:rPr kumimoji="1" lang="en-US" sz="1400" b="1" dirty="0">
                <a:solidFill>
                  <a:srgbClr val="00B050"/>
                </a:solidFill>
                <a:sym typeface="+mn-ea"/>
              </a:rPr>
              <a:t>avoid </a:t>
            </a:r>
            <a:r>
              <a:rPr kumimoji="1" sz="1400" b="1" dirty="0">
                <a:solidFill>
                  <a:srgbClr val="00B050"/>
                </a:solidFill>
                <a:sym typeface="+mn-ea"/>
              </a:rPr>
              <a:t>multiple times of</a:t>
            </a:r>
            <a:r>
              <a:rPr kumimoji="1" lang="en-US" sz="1400" b="1" dirty="0">
                <a:solidFill>
                  <a:srgbClr val="00B050"/>
                </a:solidFill>
                <a:sym typeface="+mn-ea"/>
              </a:rPr>
              <a:t> </a:t>
            </a:r>
            <a:r>
              <a:rPr kumimoji="1" sz="1400" b="1" dirty="0">
                <a:solidFill>
                  <a:srgbClr val="00B050"/>
                </a:solidFill>
                <a:sym typeface="+mn-ea"/>
              </a:rPr>
              <a:t>convergence</a:t>
            </a:r>
            <a:r>
              <a:rPr kumimoji="1" lang="en-US" sz="1400" dirty="0">
                <a:sym typeface="+mn-ea"/>
              </a:rPr>
              <a:t>, </a:t>
            </a:r>
            <a:r>
              <a:rPr kumimoji="1" sz="1400" dirty="0">
                <a:sym typeface="+mn-ea"/>
              </a:rPr>
              <a:t>DO strategy can be adopted</a:t>
            </a:r>
            <a:r>
              <a:rPr kumimoji="1" lang="en-US" sz="1400" dirty="0">
                <a:sym typeface="+mn-ea"/>
              </a:rPr>
              <a:t>. </a:t>
            </a:r>
            <a:r>
              <a:rPr kumimoji="1" lang="en-US" sz="1400" dirty="0">
                <a:solidFill>
                  <a:schemeClr val="tx1"/>
                </a:solidFill>
                <a:sym typeface="+mn-ea"/>
              </a:rPr>
              <a:t>T</a:t>
            </a:r>
            <a:r>
              <a:rPr kumimoji="1" sz="1400" dirty="0">
                <a:solidFill>
                  <a:schemeClr val="tx1"/>
                </a:solidFill>
                <a:sym typeface="+mn-ea"/>
              </a:rPr>
              <a:t>he design of DMA weights matrix </a:t>
            </a:r>
            <a:r>
              <a:rPr kumimoji="1" lang="en-US" sz="1400" dirty="0">
                <a:solidFill>
                  <a:schemeClr val="tx1"/>
                </a:solidFill>
                <a:sym typeface="+mn-ea"/>
              </a:rPr>
              <a:t>is</a:t>
            </a:r>
            <a:endParaRPr kumimoji="1" lang="en-US" sz="1400" dirty="0">
              <a:sym typeface="+mn-ea"/>
            </a:endParaRPr>
          </a:p>
        </p:txBody>
      </p:sp>
      <p:pic>
        <p:nvPicPr>
          <p:cNvPr id="3" name="图片 2" descr="QQ_1758708628315"/>
          <p:cNvPicPr>
            <a:picLocks noChangeAspect="1"/>
          </p:cNvPicPr>
          <p:nvPr/>
        </p:nvPicPr>
        <p:blipFill>
          <a:blip r:embed="rId3"/>
          <a:stretch>
            <a:fillRect/>
          </a:stretch>
        </p:blipFill>
        <p:spPr>
          <a:xfrm>
            <a:off x="3613150" y="2506345"/>
            <a:ext cx="2551430" cy="521335"/>
          </a:xfrm>
          <a:prstGeom prst="rect">
            <a:avLst/>
          </a:prstGeom>
        </p:spPr>
      </p:pic>
      <p:pic>
        <p:nvPicPr>
          <p:cNvPr id="7" name="图片 6" descr="QQ_1758709016140"/>
          <p:cNvPicPr>
            <a:picLocks noChangeAspect="1"/>
          </p:cNvPicPr>
          <p:nvPr/>
        </p:nvPicPr>
        <p:blipFill>
          <a:blip r:embed="rId4"/>
          <a:stretch>
            <a:fillRect/>
          </a:stretch>
        </p:blipFill>
        <p:spPr>
          <a:xfrm>
            <a:off x="3286760" y="3542030"/>
            <a:ext cx="3222625" cy="560705"/>
          </a:xfrm>
          <a:prstGeom prst="rect">
            <a:avLst/>
          </a:prstGeom>
        </p:spPr>
      </p:pic>
      <p:pic>
        <p:nvPicPr>
          <p:cNvPr id="8" name="图片 7" descr="QQ_1758709024491"/>
          <p:cNvPicPr>
            <a:picLocks noChangeAspect="1"/>
          </p:cNvPicPr>
          <p:nvPr/>
        </p:nvPicPr>
        <p:blipFill>
          <a:blip r:embed="rId5"/>
          <a:stretch>
            <a:fillRect/>
          </a:stretch>
        </p:blipFill>
        <p:spPr>
          <a:xfrm>
            <a:off x="3813810" y="4206875"/>
            <a:ext cx="2480945" cy="534035"/>
          </a:xfrm>
          <a:prstGeom prst="rect">
            <a:avLst/>
          </a:prstGeom>
        </p:spPr>
      </p:pic>
      <p:pic>
        <p:nvPicPr>
          <p:cNvPr id="12" name="图片 11" descr="QQ_1758709034108"/>
          <p:cNvPicPr>
            <a:picLocks noChangeAspect="1"/>
          </p:cNvPicPr>
          <p:nvPr/>
        </p:nvPicPr>
        <p:blipFill>
          <a:blip r:embed="rId6"/>
          <a:srcRect r="100" b="3887"/>
          <a:stretch>
            <a:fillRect/>
          </a:stretch>
        </p:blipFill>
        <p:spPr>
          <a:xfrm>
            <a:off x="3071495" y="5184775"/>
            <a:ext cx="3837305" cy="988060"/>
          </a:xfrm>
          <a:prstGeom prst="rect">
            <a:avLst/>
          </a:prstGeom>
        </p:spPr>
      </p:pic>
      <p:sp>
        <p:nvSpPr>
          <p:cNvPr id="13" name="文本框 12"/>
          <p:cNvSpPr txBox="1"/>
          <p:nvPr/>
        </p:nvSpPr>
        <p:spPr>
          <a:xfrm>
            <a:off x="2958465" y="2959735"/>
            <a:ext cx="4064000" cy="675005"/>
          </a:xfrm>
          <a:prstGeom prst="rect">
            <a:avLst/>
          </a:prstGeom>
        </p:spPr>
        <p:txBody>
          <a:bodyPr vert="horz" wrap="square" lIns="91440" tIns="45720" rIns="91440" bIns="45720" rtlCol="0" anchor="ctr">
            <a:noAutofit/>
          </a:bodyPr>
          <a:p>
            <a:pPr algn="l"/>
            <a:r>
              <a:rPr kumimoji="1" lang="en-US" sz="1400" dirty="0">
                <a:sym typeface="+mn-ea"/>
              </a:rPr>
              <a:t>To harvest array gain, </a:t>
            </a:r>
            <a:r>
              <a:rPr kumimoji="1" lang="en-US" sz="1400" b="1" dirty="0">
                <a:solidFill>
                  <a:srgbClr val="00B050"/>
                </a:solidFill>
                <a:sym typeface="+mn-ea"/>
              </a:rPr>
              <a:t>the cost function</a:t>
            </a:r>
            <a:r>
              <a:rPr kumimoji="1" lang="en-US" sz="1400" dirty="0">
                <a:sym typeface="+mn-ea"/>
              </a:rPr>
              <a:t> is given by </a:t>
            </a:r>
            <a:endParaRPr kumimoji="1" lang="en-US" sz="1400" dirty="0">
              <a:sym typeface="+mn-ea"/>
            </a:endParaRPr>
          </a:p>
        </p:txBody>
      </p:sp>
      <p:sp>
        <p:nvSpPr>
          <p:cNvPr id="14" name="文本框 13"/>
          <p:cNvSpPr txBox="1"/>
          <p:nvPr/>
        </p:nvSpPr>
        <p:spPr>
          <a:xfrm>
            <a:off x="2958465" y="4617085"/>
            <a:ext cx="4064000" cy="675005"/>
          </a:xfrm>
          <a:prstGeom prst="rect">
            <a:avLst/>
          </a:prstGeom>
        </p:spPr>
        <p:txBody>
          <a:bodyPr vert="horz" wrap="square" lIns="91440" tIns="45720" rIns="91440" bIns="45720" rtlCol="0" anchor="ctr">
            <a:noAutofit/>
          </a:bodyPr>
          <a:p>
            <a:pPr algn="l"/>
            <a:r>
              <a:rPr kumimoji="1" lang="en-US" sz="1400" dirty="0">
                <a:sym typeface="+mn-ea"/>
              </a:rPr>
              <a:t>The </a:t>
            </a:r>
            <a:r>
              <a:rPr kumimoji="1" lang="en-US" sz="1400" b="1" dirty="0">
                <a:solidFill>
                  <a:srgbClr val="00B050"/>
                </a:solidFill>
                <a:sym typeface="+mn-ea"/>
              </a:rPr>
              <a:t>GDP method</a:t>
            </a:r>
            <a:r>
              <a:rPr kumimoji="1" lang="en-US" sz="1400" dirty="0">
                <a:sym typeface="+mn-ea"/>
              </a:rPr>
              <a:t> is given by </a:t>
            </a:r>
            <a:endParaRPr kumimoji="1" lang="en-US" sz="1400" dirty="0">
              <a:sym typeface="+mn-ea"/>
            </a:endParaRPr>
          </a:p>
        </p:txBody>
      </p:sp>
      <p:pic>
        <p:nvPicPr>
          <p:cNvPr id="15" name="图片 14" descr="QQ_1758709606822"/>
          <p:cNvPicPr>
            <a:picLocks noChangeAspect="1"/>
          </p:cNvPicPr>
          <p:nvPr/>
        </p:nvPicPr>
        <p:blipFill>
          <a:blip r:embed="rId7"/>
          <a:stretch>
            <a:fillRect/>
          </a:stretch>
        </p:blipFill>
        <p:spPr>
          <a:xfrm>
            <a:off x="7531100" y="2089150"/>
            <a:ext cx="3828415" cy="30391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5310" y="57785"/>
            <a:ext cx="10965180" cy="845185"/>
          </a:xfrm>
        </p:spPr>
        <p:txBody>
          <a:bodyPr>
            <a:noAutofit/>
          </a:bodyPr>
          <a:lstStyle/>
          <a:p>
            <a:r>
              <a:rPr kumimoji="1" lang="en-US" altLang="zh-CN" sz="3200" b="1" dirty="0">
                <a:latin typeface="+mn-lt"/>
                <a:ea typeface="+mn-ea"/>
                <a:cs typeface="+mn-cs"/>
                <a:sym typeface="+mn-ea"/>
              </a:rPr>
              <a:t>4 </a:t>
            </a:r>
            <a:r>
              <a:rPr kumimoji="1" lang="en-US" altLang="zh-CN" sz="3200" b="1" dirty="0">
                <a:sym typeface="+mn-ea"/>
              </a:rPr>
              <a:t>Complexity analysis</a:t>
            </a:r>
            <a:endParaRPr kumimoji="1" lang="en-US" altLang="zh-CN" sz="3200" b="1" dirty="0">
              <a:solidFill>
                <a:schemeClr val="bg1"/>
              </a:solidFill>
              <a:latin typeface="+mn-lt"/>
              <a:ea typeface="+mn-ea"/>
              <a:cs typeface="+mn-cs"/>
              <a:sym typeface="+mn-ea"/>
            </a:endParaRPr>
          </a:p>
        </p:txBody>
      </p:sp>
      <p:pic>
        <p:nvPicPr>
          <p:cNvPr id="20" name="图片 19"/>
          <p:cNvPicPr>
            <a:picLocks noChangeAspect="1"/>
          </p:cNvPicPr>
          <p:nvPr>
            <p:custDataLst>
              <p:tags r:id="rId1"/>
            </p:custDataLst>
          </p:nvPr>
        </p:nvPicPr>
        <p:blipFill>
          <a:blip r:embed="rId2" cstate="email"/>
          <a:stretch>
            <a:fillRect/>
          </a:stretch>
        </p:blipFill>
        <p:spPr>
          <a:xfrm>
            <a:off x="11168380" y="96520"/>
            <a:ext cx="756920" cy="756920"/>
          </a:xfrm>
          <a:prstGeom prst="rect">
            <a:avLst/>
          </a:prstGeom>
        </p:spPr>
      </p:pic>
      <p:sp>
        <p:nvSpPr>
          <p:cNvPr id="29" name="文本框 28"/>
          <p:cNvSpPr txBox="1"/>
          <p:nvPr/>
        </p:nvSpPr>
        <p:spPr>
          <a:xfrm>
            <a:off x="2675890" y="1015365"/>
            <a:ext cx="4426585" cy="396000"/>
          </a:xfrm>
          <a:prstGeom prst="roundRect">
            <a:avLst/>
          </a:prstGeom>
          <a:solidFill>
            <a:schemeClr val="accent4">
              <a:lumMod val="20000"/>
              <a:lumOff val="80000"/>
            </a:schemeClr>
          </a:solidFill>
        </p:spPr>
        <p:txBody>
          <a:bodyPr vert="horz" wrap="square" lIns="91440" tIns="45720" rIns="91440" bIns="45720" rtlCol="0" anchor="t">
            <a:noAutofit/>
          </a:bodyPr>
          <a:p>
            <a:pPr algn="ctr"/>
            <a:r>
              <a:rPr kumimoji="1" lang="en-US" altLang="zh-CN" b="1" i="1" dirty="0">
                <a:solidFill>
                  <a:srgbClr val="00B050"/>
                </a:solidFill>
                <a:sym typeface="+mn-ea"/>
              </a:rPr>
              <a:t>Complexity cost in AO algorithms</a:t>
            </a:r>
            <a:endParaRPr kumimoji="1" lang="en-US" altLang="zh-CN" dirty="0">
              <a:solidFill>
                <a:srgbClr val="356115"/>
              </a:solidFill>
              <a:sym typeface="+mn-ea"/>
            </a:endParaRPr>
          </a:p>
        </p:txBody>
      </p:sp>
      <p:sp>
        <p:nvSpPr>
          <p:cNvPr id="30" name="矩形 29"/>
          <p:cNvSpPr/>
          <p:nvPr/>
        </p:nvSpPr>
        <p:spPr>
          <a:xfrm>
            <a:off x="2675890" y="1404620"/>
            <a:ext cx="4425950" cy="315912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3" name="文本框 32"/>
          <p:cNvSpPr txBox="1"/>
          <p:nvPr/>
        </p:nvSpPr>
        <p:spPr>
          <a:xfrm>
            <a:off x="7228840" y="1015365"/>
            <a:ext cx="4446270" cy="396000"/>
          </a:xfrm>
          <a:prstGeom prst="roundRect">
            <a:avLst/>
          </a:prstGeom>
          <a:solidFill>
            <a:schemeClr val="accent4">
              <a:lumMod val="20000"/>
              <a:lumOff val="80000"/>
            </a:schemeClr>
          </a:solidFill>
        </p:spPr>
        <p:txBody>
          <a:bodyPr vert="horz" wrap="square" lIns="91440" tIns="45720" rIns="91440" bIns="45720" rtlCol="0" anchor="t">
            <a:noAutofit/>
          </a:bodyPr>
          <a:p>
            <a:pPr algn="ctr"/>
            <a:r>
              <a:rPr kumimoji="1" lang="en-US" altLang="zh-CN" b="1" i="1" dirty="0">
                <a:solidFill>
                  <a:srgbClr val="00B050"/>
                </a:solidFill>
                <a:sym typeface="+mn-ea"/>
              </a:rPr>
              <a:t>Proposed algorithm based on DO strategy</a:t>
            </a:r>
            <a:endParaRPr kumimoji="1" lang="en-US" altLang="zh-CN" dirty="0">
              <a:solidFill>
                <a:srgbClr val="356115"/>
              </a:solidFill>
              <a:sym typeface="+mn-ea"/>
            </a:endParaRPr>
          </a:p>
        </p:txBody>
      </p:sp>
      <p:sp>
        <p:nvSpPr>
          <p:cNvPr id="41" name="矩形 40"/>
          <p:cNvSpPr/>
          <p:nvPr/>
        </p:nvSpPr>
        <p:spPr>
          <a:xfrm>
            <a:off x="7249160" y="1404620"/>
            <a:ext cx="4425950" cy="315087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圆角矩形 25"/>
          <p:cNvSpPr/>
          <p:nvPr/>
        </p:nvSpPr>
        <p:spPr>
          <a:xfrm>
            <a:off x="334645" y="2961005"/>
            <a:ext cx="2212340" cy="1489710"/>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en-US" altLang="zh-CN" b="1" i="1">
                <a:solidFill>
                  <a:schemeClr val="tx1"/>
                </a:solidFill>
                <a:effectLst/>
              </a:rPr>
              <a:t>How to</a:t>
            </a:r>
            <a:r>
              <a:rPr lang="en-US" altLang="zh-CN" b="1" i="1">
                <a:solidFill>
                  <a:schemeClr val="tx1"/>
                </a:solidFill>
                <a:effectLst>
                  <a:outerShdw blurRad="38100" dist="19050" dir="2700000" algn="tl" rotWithShape="0">
                    <a:schemeClr val="dk1">
                      <a:alpha val="40000"/>
                    </a:schemeClr>
                  </a:outerShdw>
                </a:effectLst>
              </a:rPr>
              <a:t> </a:t>
            </a:r>
            <a:r>
              <a:rPr kumimoji="1" lang="en-US" altLang="zh-CN" b="1" i="1" dirty="0">
                <a:solidFill>
                  <a:srgbClr val="FFC000"/>
                </a:solidFill>
                <a:sym typeface="+mn-ea"/>
              </a:rPr>
              <a:t>judge</a:t>
            </a:r>
            <a:r>
              <a:rPr kumimoji="1" lang="en-US" altLang="zh-CN" b="1" i="1" dirty="0">
                <a:solidFill>
                  <a:srgbClr val="FFC000"/>
                </a:solidFill>
                <a:sym typeface="+mn-ea"/>
              </a:rPr>
              <a:t> complexity cost reduction</a:t>
            </a:r>
            <a:r>
              <a:rPr lang="en-US" altLang="zh-CN" b="1" i="1">
                <a:solidFill>
                  <a:schemeClr val="tx1"/>
                </a:solidFill>
                <a:effectLst>
                  <a:outerShdw blurRad="38100" dist="19050" dir="2700000" algn="tl" rotWithShape="0">
                    <a:schemeClr val="dk1">
                      <a:alpha val="40000"/>
                    </a:schemeClr>
                  </a:outerShdw>
                </a:effectLst>
              </a:rPr>
              <a:t>?</a:t>
            </a:r>
            <a:endParaRPr lang="en-US" altLang="zh-CN" b="1" i="1">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mc:Choice xmlns:a14="http://schemas.microsoft.com/office/drawing/2010/main" Requires="a14">
          <p:sp>
            <p:nvSpPr>
              <p:cNvPr id="4" name="文本框 3"/>
              <p:cNvSpPr txBox="1"/>
              <p:nvPr/>
            </p:nvSpPr>
            <p:spPr>
              <a:xfrm>
                <a:off x="2676525" y="1395095"/>
                <a:ext cx="4425315" cy="1532890"/>
              </a:xfrm>
              <a:prstGeom prst="rect">
                <a:avLst/>
              </a:prstGeom>
              <a:ln w="635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vert="horz" wrap="square" lIns="91440" tIns="45720" rIns="91440" bIns="45720" rtlCol="0" anchor="ctr">
                <a:noAutofit/>
              </a:bodyPr>
              <a:p>
                <a:pPr algn="l"/>
                <a:r>
                  <a:rPr kumimoji="1" lang="en-US" altLang="zh-CN" sz="1400" dirty="0">
                    <a:solidFill>
                      <a:schemeClr val="tx1"/>
                    </a:solidFill>
                  </a:rPr>
                  <a:t>To </a:t>
                </a:r>
                <a:r>
                  <a:rPr kumimoji="1" lang="zh-CN" altLang="en-US" sz="1400" dirty="0">
                    <a:solidFill>
                      <a:schemeClr val="tx1"/>
                    </a:solidFill>
                  </a:rPr>
                  <a:t>optimiz</a:t>
                </a:r>
                <a:r>
                  <a:rPr kumimoji="1" lang="en-US" altLang="zh-CN" sz="1400" dirty="0">
                    <a:solidFill>
                      <a:schemeClr val="tx1"/>
                    </a:solidFill>
                  </a:rPr>
                  <a:t>e</a:t>
                </a:r>
                <a:r>
                  <a:rPr kumimoji="1" lang="zh-CN" altLang="en-US" sz="1400" dirty="0">
                    <a:solidFill>
                      <a:schemeClr val="tx1"/>
                    </a:solidFill>
                  </a:rPr>
                  <a:t> </a:t>
                </a:r>
                <a:r>
                  <a:rPr kumimoji="1" lang="en-US" altLang="zh-CN" sz="1400" dirty="0">
                    <a:solidFill>
                      <a:schemeClr val="tx1"/>
                    </a:solidFill>
                  </a:rPr>
                  <a:t>precoding matrix</a:t>
                </a:r>
                <a:r>
                  <a:rPr kumimoji="1" lang="zh-CN" altLang="en-US" sz="1400" dirty="0">
                    <a:solidFill>
                      <a:schemeClr val="tx1"/>
                    </a:solidFill>
                  </a:rPr>
                  <a:t>, the </a:t>
                </a:r>
                <a:r>
                  <a:rPr kumimoji="1" lang="en-US" altLang="zh-CN" sz="1400" dirty="0">
                    <a:solidFill>
                      <a:schemeClr val="tx1"/>
                    </a:solidFill>
                  </a:rPr>
                  <a:t>AO</a:t>
                </a:r>
                <a:r>
                  <a:rPr kumimoji="1" lang="zh-CN" altLang="en-US" sz="1400" dirty="0">
                    <a:solidFill>
                      <a:schemeClr val="tx1"/>
                    </a:solidFill>
                  </a:rPr>
                  <a:t> algorithm</a:t>
                </a:r>
                <a:r>
                  <a:rPr kumimoji="1" lang="en-US" altLang="zh-CN" sz="1400" dirty="0">
                    <a:solidFill>
                      <a:schemeClr val="tx1"/>
                    </a:solidFill>
                  </a:rPr>
                  <a:t>s</a:t>
                </a:r>
                <a:r>
                  <a:rPr kumimoji="1" lang="zh-CN" altLang="en-US" sz="1400" dirty="0">
                    <a:solidFill>
                      <a:schemeClr val="tx1"/>
                    </a:solidFill>
                  </a:rPr>
                  <a:t> all</a:t>
                </a:r>
                <a:r>
                  <a:rPr kumimoji="1" lang="en-US" altLang="zh-CN" sz="1400" dirty="0">
                    <a:solidFill>
                      <a:schemeClr val="tx1"/>
                    </a:solidFill>
                  </a:rPr>
                  <a:t> </a:t>
                </a:r>
                <a:r>
                  <a:rPr kumimoji="1" lang="zh-CN" altLang="en-US" sz="1400" dirty="0">
                    <a:solidFill>
                      <a:schemeClr val="tx1"/>
                    </a:solidFill>
                  </a:rPr>
                  <a:t>adopt WMMSE</a:t>
                </a:r>
                <a:r>
                  <a:rPr kumimoji="1" lang="en-US" altLang="zh-CN" sz="1400" dirty="0">
                    <a:solidFill>
                      <a:schemeClr val="tx1"/>
                    </a:solidFill>
                  </a:rPr>
                  <a:t> </a:t>
                </a:r>
                <a:r>
                  <a:rPr kumimoji="1" lang="en-US" sz="1400" dirty="0">
                    <a:solidFill>
                      <a:schemeClr val="tx1"/>
                    </a:solidFill>
                  </a:rPr>
                  <a:t>with complexity of  </a:t>
                </a:r>
                <a:r>
                  <a:rPr kumimoji="1" lang="en-US" sz="1400" b="1" dirty="0">
                    <a:solidFill>
                      <a:srgbClr val="00B050"/>
                    </a:solidFill>
                    <a:sym typeface="+mn-ea"/>
                  </a:rPr>
                  <a:t>O(</a:t>
                </a:r>
                <a14:m>
                  <m:oMath xmlns:m="http://schemas.openxmlformats.org/officeDocument/2006/math">
                    <m:sSub>
                      <m:sSubPr>
                        <m:ctrlPr>
                          <a:rPr kumimoji="1" lang="en-US" sz="1400" b="1" i="1" dirty="0">
                            <a:solidFill>
                              <a:srgbClr val="00B050"/>
                            </a:solidFill>
                            <a:latin typeface="Cambria Math" panose="02040503050406030204" charset="0"/>
                            <a:cs typeface="Cambria Math" panose="02040503050406030204" charset="0"/>
                            <a:sym typeface="+mn-ea"/>
                          </a:rPr>
                        </m:ctrlPr>
                      </m:sSubPr>
                      <m:e>
                        <m:r>
                          <a:rPr kumimoji="1" lang="en-US" sz="1400" b="1" i="1" dirty="0">
                            <a:solidFill>
                              <a:srgbClr val="00B050"/>
                            </a:solidFill>
                            <a:latin typeface="Cambria Math" panose="02040503050406030204" charset="0"/>
                            <a:cs typeface="Cambria Math" panose="02040503050406030204" charset="0"/>
                            <a:sym typeface="+mn-ea"/>
                          </a:rPr>
                          <m:t>𝑹</m:t>
                        </m:r>
                      </m:e>
                      <m:sub>
                        <m:r>
                          <a:rPr kumimoji="1" lang="en-US" sz="1400" b="1" i="1" dirty="0">
                            <a:solidFill>
                              <a:srgbClr val="00B050"/>
                            </a:solidFill>
                            <a:latin typeface="Cambria Math" panose="02040503050406030204" charset="0"/>
                            <a:cs typeface="Cambria Math" panose="02040503050406030204" charset="0"/>
                            <a:sym typeface="+mn-ea"/>
                          </a:rPr>
                          <m:t>𝑾</m:t>
                        </m:r>
                      </m:sub>
                    </m:sSub>
                    <m:sSubSup>
                      <m:sSubSupPr>
                        <m:ctrlPr>
                          <a:rPr kumimoji="1" lang="en-US" sz="1400" b="1" i="1" dirty="0">
                            <a:solidFill>
                              <a:srgbClr val="00B050"/>
                            </a:solidFill>
                            <a:latin typeface="Cambria Math" panose="02040503050406030204" charset="0"/>
                            <a:cs typeface="Cambria Math" panose="02040503050406030204" charset="0"/>
                            <a:sym typeface="+mn-ea"/>
                          </a:rPr>
                        </m:ctrlPr>
                      </m:sSubSupPr>
                      <m:e>
                        <m:r>
                          <a:rPr kumimoji="1" lang="en-US" sz="1400" b="1" i="1" dirty="0">
                            <a:solidFill>
                              <a:srgbClr val="00B050"/>
                            </a:solidFill>
                            <a:latin typeface="Cambria Math" panose="02040503050406030204" charset="0"/>
                            <a:cs typeface="Cambria Math" panose="02040503050406030204" charset="0"/>
                            <a:sym typeface="+mn-ea"/>
                          </a:rPr>
                          <m:t>𝑵</m:t>
                        </m:r>
                      </m:e>
                      <m:sub>
                        <m:r>
                          <a:rPr kumimoji="1" lang="en-US" sz="1400" b="1" i="1" dirty="0">
                            <a:solidFill>
                              <a:srgbClr val="00B050"/>
                            </a:solidFill>
                            <a:latin typeface="Cambria Math" panose="02040503050406030204" charset="0"/>
                            <a:cs typeface="Cambria Math" panose="02040503050406030204" charset="0"/>
                            <a:sym typeface="+mn-ea"/>
                          </a:rPr>
                          <m:t>𝒅</m:t>
                        </m:r>
                      </m:sub>
                      <m:sup>
                        <m:r>
                          <a:rPr kumimoji="1" lang="en-US" sz="1400" b="1" i="1" dirty="0">
                            <a:solidFill>
                              <a:srgbClr val="00B050"/>
                            </a:solidFill>
                            <a:latin typeface="Cambria Math" panose="02040503050406030204" charset="0"/>
                            <a:cs typeface="Cambria Math" panose="02040503050406030204" charset="0"/>
                            <a:sym typeface="+mn-ea"/>
                          </a:rPr>
                          <m:t>𝟑</m:t>
                        </m:r>
                      </m:sup>
                    </m:sSubSup>
                    <m:r>
                      <a:rPr kumimoji="1" lang="en-US" sz="1400" b="1" i="1" dirty="0">
                        <a:solidFill>
                          <a:srgbClr val="00B050"/>
                        </a:solidFill>
                        <a:latin typeface="Cambria Math" panose="02040503050406030204" charset="0"/>
                        <a:cs typeface="Cambria Math" panose="02040503050406030204" charset="0"/>
                        <a:sym typeface="+mn-ea"/>
                      </a:rPr>
                      <m:t>𝑲</m:t>
                    </m:r>
                  </m:oMath>
                </a14:m>
                <a:r>
                  <a:rPr kumimoji="1" lang="en-US" sz="1400" b="1" dirty="0">
                    <a:solidFill>
                      <a:srgbClr val="00B050"/>
                    </a:solidFill>
                    <a:sym typeface="+mn-ea"/>
                  </a:rPr>
                  <a:t>)</a:t>
                </a:r>
                <a:r>
                  <a:rPr kumimoji="1" lang="en-US" sz="1400" dirty="0">
                    <a:solidFill>
                      <a:schemeClr val="tx1"/>
                    </a:solidFill>
                    <a:sym typeface="+mn-ea"/>
                  </a:rPr>
                  <a:t>.</a:t>
                </a:r>
                <a:endParaRPr kumimoji="1" lang="en-US" altLang="en-US" sz="1400" dirty="0">
                  <a:solidFill>
                    <a:schemeClr val="tx1"/>
                  </a:solidFill>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2676525" y="1395095"/>
                <a:ext cx="4425315" cy="1532890"/>
              </a:xfrm>
              <a:prstGeom prst="rect">
                <a:avLst/>
              </a:prstGeom>
              <a:blipFill rotWithShape="1">
                <a:blip r:embed="rId3"/>
                <a:stretch>
                  <a:fillRect/>
                </a:stretch>
              </a:blipFill>
              <a:ln w="635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2675890" y="2928620"/>
                <a:ext cx="4420870" cy="1635125"/>
              </a:xfrm>
              <a:prstGeom prst="rect">
                <a:avLst/>
              </a:prstGeom>
              <a:ln w="22225" cap="flat" cmpd="sng" algn="ctr">
                <a:noFill/>
                <a:prstDash val="sysDash"/>
                <a:miter lim="800000"/>
              </a:ln>
            </p:spPr>
            <p:style>
              <a:lnRef idx="0">
                <a:schemeClr val="accent1"/>
              </a:lnRef>
              <a:fillRef idx="0">
                <a:srgbClr val="FFFFFF"/>
              </a:fillRef>
              <a:effectRef idx="0">
                <a:srgbClr val="FFFFFF"/>
              </a:effectRef>
              <a:fontRef idx="minor">
                <a:schemeClr val="tx1"/>
              </a:fontRef>
            </p:style>
            <p:txBody>
              <a:bodyPr vert="horz" wrap="square" lIns="91440" tIns="45720" rIns="91440" bIns="45720" rtlCol="0" anchor="ctr">
                <a:noAutofit/>
              </a:bodyPr>
              <a:p>
                <a:pPr algn="l"/>
                <a:r>
                  <a:rPr kumimoji="1" lang="en-US" sz="1400" dirty="0">
                    <a:solidFill>
                      <a:schemeClr val="tx1"/>
                    </a:solidFill>
                  </a:rPr>
                  <a:t>To </a:t>
                </a:r>
                <a:r>
                  <a:rPr kumimoji="1" sz="1400" dirty="0">
                    <a:solidFill>
                      <a:schemeClr val="tx1"/>
                    </a:solidFill>
                  </a:rPr>
                  <a:t>optimiz</a:t>
                </a:r>
                <a:r>
                  <a:rPr kumimoji="1" lang="en-US" sz="1400" dirty="0">
                    <a:solidFill>
                      <a:schemeClr val="tx1"/>
                    </a:solidFill>
                  </a:rPr>
                  <a:t>e DMA weights matrix</a:t>
                </a:r>
                <a:r>
                  <a:rPr kumimoji="1" sz="1400" dirty="0">
                    <a:solidFill>
                      <a:schemeClr val="tx1"/>
                    </a:solidFill>
                  </a:rPr>
                  <a:t>, the complexity</a:t>
                </a:r>
                <a:endParaRPr kumimoji="1" sz="1400" dirty="0">
                  <a:solidFill>
                    <a:schemeClr val="tx1"/>
                  </a:solidFill>
                </a:endParaRPr>
              </a:p>
              <a:p>
                <a:pPr algn="l"/>
                <a:r>
                  <a:rPr kumimoji="1" sz="1400" dirty="0">
                    <a:solidFill>
                      <a:schemeClr val="tx1"/>
                    </a:solidFill>
                  </a:rPr>
                  <a:t>of GDP is given by</a:t>
                </a:r>
                <a:r>
                  <a:rPr kumimoji="1" sz="1400" dirty="0"/>
                  <a:t> </a:t>
                </a:r>
                <a:r>
                  <a:rPr kumimoji="1" lang="en-US" sz="1400" b="1" dirty="0">
                    <a:solidFill>
                      <a:srgbClr val="00B050"/>
                    </a:solidFill>
                    <a:sym typeface="+mn-ea"/>
                  </a:rPr>
                  <a:t>O(</a:t>
                </a:r>
                <a14:m>
                  <m:oMath xmlns:m="http://schemas.openxmlformats.org/officeDocument/2006/math">
                    <m:sSub>
                      <m:sSubPr>
                        <m:ctrlPr>
                          <a:rPr kumimoji="1" lang="en-US" sz="1400" b="1" i="1" dirty="0">
                            <a:solidFill>
                              <a:srgbClr val="00B050"/>
                            </a:solidFill>
                            <a:latin typeface="Cambria Math" panose="02040503050406030204" charset="0"/>
                            <a:cs typeface="Cambria Math" panose="02040503050406030204" charset="0"/>
                            <a:sym typeface="+mn-ea"/>
                          </a:rPr>
                        </m:ctrlPr>
                      </m:sSubPr>
                      <m:e>
                        <m:r>
                          <a:rPr kumimoji="1" lang="en-US" sz="1400" b="1" i="1" dirty="0">
                            <a:solidFill>
                              <a:srgbClr val="00B050"/>
                            </a:solidFill>
                            <a:latin typeface="Cambria Math" panose="02040503050406030204" charset="0"/>
                            <a:cs typeface="Cambria Math" panose="02040503050406030204" charset="0"/>
                            <a:sym typeface="+mn-ea"/>
                          </a:rPr>
                          <m:t>𝑹</m:t>
                        </m:r>
                      </m:e>
                      <m:sub>
                        <m:r>
                          <a:rPr kumimoji="1" lang="en-US" sz="1400" b="1" i="1" dirty="0">
                            <a:solidFill>
                              <a:srgbClr val="00B050"/>
                            </a:solidFill>
                            <a:latin typeface="Cambria Math" panose="02040503050406030204" charset="0"/>
                            <a:cs typeface="Cambria Math" panose="02040503050406030204" charset="0"/>
                            <a:sym typeface="+mn-ea"/>
                          </a:rPr>
                          <m:t>𝑮</m:t>
                        </m:r>
                      </m:sub>
                    </m:sSub>
                    <m:r>
                      <a:rPr kumimoji="1" lang="en-US" sz="1400" b="1" i="1" dirty="0">
                        <a:solidFill>
                          <a:srgbClr val="00B050"/>
                        </a:solidFill>
                        <a:latin typeface="Cambria Math" panose="02040503050406030204" charset="0"/>
                        <a:cs typeface="Cambria Math" panose="02040503050406030204" charset="0"/>
                        <a:sym typeface="+mn-ea"/>
                      </a:rPr>
                      <m:t>𝑵𝑲</m:t>
                    </m:r>
                  </m:oMath>
                </a14:m>
                <a:r>
                  <a:rPr kumimoji="1" lang="en-US" sz="1400" b="1" dirty="0">
                    <a:solidFill>
                      <a:srgbClr val="00B050"/>
                    </a:solidFill>
                    <a:sym typeface="+mn-ea"/>
                  </a:rPr>
                  <a:t>)</a:t>
                </a:r>
                <a:r>
                  <a:rPr kumimoji="1" lang="en-US" sz="1400" dirty="0">
                    <a:solidFill>
                      <a:schemeClr val="tx1"/>
                    </a:solidFill>
                  </a:rPr>
                  <a:t>, while other schemes have</a:t>
                </a:r>
                <a:r>
                  <a:rPr kumimoji="1" lang="en-US" sz="1400" dirty="0"/>
                  <a:t> </a:t>
                </a:r>
                <a:r>
                  <a:rPr kumimoji="1" lang="en-US" sz="1400" b="1" dirty="0">
                    <a:solidFill>
                      <a:srgbClr val="00B050"/>
                    </a:solidFill>
                    <a:sym typeface="+mn-ea"/>
                  </a:rPr>
                  <a:t>O(</a:t>
                </a:r>
                <a14:m>
                  <m:oMath xmlns:m="http://schemas.openxmlformats.org/officeDocument/2006/math">
                    <m:sSub>
                      <m:sSubPr>
                        <m:ctrlPr>
                          <a:rPr kumimoji="1" lang="en-US" sz="1400" b="1" i="1" dirty="0">
                            <a:solidFill>
                              <a:srgbClr val="00B050"/>
                            </a:solidFill>
                            <a:latin typeface="Cambria Math" panose="02040503050406030204" charset="0"/>
                            <a:cs typeface="Cambria Math" panose="02040503050406030204" charset="0"/>
                            <a:sym typeface="+mn-ea"/>
                          </a:rPr>
                        </m:ctrlPr>
                      </m:sSubPr>
                      <m:e>
                        <m:r>
                          <a:rPr kumimoji="1" lang="en-US" sz="1400" b="1" i="1" dirty="0">
                            <a:solidFill>
                              <a:srgbClr val="00B050"/>
                            </a:solidFill>
                            <a:latin typeface="Cambria Math" panose="02040503050406030204" charset="0"/>
                            <a:cs typeface="Cambria Math" panose="02040503050406030204" charset="0"/>
                            <a:sym typeface="+mn-ea"/>
                          </a:rPr>
                          <m:t>𝑹</m:t>
                        </m:r>
                      </m:e>
                      <m:sub>
                        <m:r>
                          <a:rPr kumimoji="1" lang="en-US" sz="1400" b="1" i="1" dirty="0">
                            <a:solidFill>
                              <a:srgbClr val="00B050"/>
                            </a:solidFill>
                            <a:latin typeface="Cambria Math" panose="02040503050406030204" charset="0"/>
                            <a:cs typeface="Cambria Math" panose="02040503050406030204" charset="0"/>
                            <a:sym typeface="+mn-ea"/>
                          </a:rPr>
                          <m:t>𝑮</m:t>
                        </m:r>
                      </m:sub>
                    </m:sSub>
                    <m:r>
                      <a:rPr kumimoji="1" lang="en-US" sz="1400" b="1" i="1" dirty="0">
                        <a:solidFill>
                          <a:srgbClr val="00B050"/>
                        </a:solidFill>
                        <a:latin typeface="Cambria Math" panose="02040503050406030204" charset="0"/>
                        <a:cs typeface="Cambria Math" panose="02040503050406030204" charset="0"/>
                        <a:sym typeface="+mn-ea"/>
                      </a:rPr>
                      <m:t>𝑵</m:t>
                    </m:r>
                    <m:sSup>
                      <m:sSupPr>
                        <m:ctrlPr>
                          <a:rPr kumimoji="1" lang="en-US" sz="1400" b="1" i="1" dirty="0">
                            <a:solidFill>
                              <a:srgbClr val="00B050"/>
                            </a:solidFill>
                            <a:latin typeface="Cambria Math" panose="02040503050406030204" charset="0"/>
                            <a:cs typeface="Cambria Math" panose="02040503050406030204" charset="0"/>
                            <a:sym typeface="+mn-ea"/>
                          </a:rPr>
                        </m:ctrlPr>
                      </m:sSupPr>
                      <m:e>
                        <m:r>
                          <a:rPr kumimoji="1" lang="en-US" sz="1400" b="1" i="1" dirty="0">
                            <a:solidFill>
                              <a:srgbClr val="00B050"/>
                            </a:solidFill>
                            <a:latin typeface="Cambria Math" panose="02040503050406030204" charset="0"/>
                            <a:cs typeface="Cambria Math" panose="02040503050406030204" charset="0"/>
                            <a:sym typeface="+mn-ea"/>
                          </a:rPr>
                          <m:t>𝑲</m:t>
                        </m:r>
                      </m:e>
                      <m:sup>
                        <m:r>
                          <a:rPr kumimoji="1" lang="en-US" sz="1400" b="1" i="1" dirty="0">
                            <a:solidFill>
                              <a:srgbClr val="00B050"/>
                            </a:solidFill>
                            <a:latin typeface="Cambria Math" panose="02040503050406030204" charset="0"/>
                            <a:cs typeface="Cambria Math" panose="02040503050406030204" charset="0"/>
                            <a:sym typeface="+mn-ea"/>
                          </a:rPr>
                          <m:t>𝟐</m:t>
                        </m:r>
                      </m:sup>
                    </m:sSup>
                  </m:oMath>
                </a14:m>
                <a:r>
                  <a:rPr kumimoji="1" lang="en-US" sz="1400" b="1" dirty="0">
                    <a:solidFill>
                      <a:srgbClr val="00B050"/>
                    </a:solidFill>
                    <a:sym typeface="+mn-ea"/>
                  </a:rPr>
                  <a:t>) </a:t>
                </a:r>
                <a:r>
                  <a:rPr kumimoji="1" lang="en-US" sz="1400" dirty="0">
                    <a:solidFill>
                      <a:schemeClr val="tx1"/>
                    </a:solidFill>
                  </a:rPr>
                  <a:t>complexity cost.</a:t>
                </a:r>
                <a:endParaRPr kumimoji="1" lang="en-US" sz="1400" dirty="0">
                  <a:solidFill>
                    <a:schemeClr val="tx1"/>
                  </a:solidFill>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2675890" y="2928620"/>
                <a:ext cx="4420870" cy="1635125"/>
              </a:xfrm>
              <a:prstGeom prst="rect">
                <a:avLst/>
              </a:prstGeom>
              <a:blipFill rotWithShape="1">
                <a:blip r:embed="rId4"/>
                <a:stretch>
                  <a:fillRect/>
                </a:stretch>
              </a:blipFill>
              <a:ln w="22225" cap="flat" cmpd="sng" algn="ctr">
                <a:noFill/>
                <a:prstDash val="sysDash"/>
                <a:miter lim="800000"/>
              </a:ln>
            </p:spPr>
            <p:style>
              <a:lnRef idx="0">
                <a:schemeClr val="accent1"/>
              </a:lnRef>
              <a:fillRef idx="0">
                <a:srgbClr val="FFFFFF"/>
              </a:fillRef>
              <a:effectRef idx="0">
                <a:srgbClr val="FFFFFF"/>
              </a:effectRef>
              <a:fontRef idx="minor">
                <a:schemeClr val="tx1"/>
              </a:fontRef>
            </p:style>
            <p:txBody>
              <a:bodyPr/>
              <a:lstStyle/>
              <a:p>
                <a:r>
                  <a:rPr lang="zh-CN" altLang="en-US">
                    <a:noFill/>
                  </a:rPr>
                  <a:t> </a:t>
                </a:r>
              </a:p>
            </p:txBody>
          </p:sp>
        </mc:Fallback>
      </mc:AlternateContent>
      <p:pic>
        <p:nvPicPr>
          <p:cNvPr id="10" name="图片 9" descr="QQ_1758711292185"/>
          <p:cNvPicPr>
            <a:picLocks noChangeAspect="1"/>
          </p:cNvPicPr>
          <p:nvPr/>
        </p:nvPicPr>
        <p:blipFill>
          <a:blip r:embed="rId5"/>
          <a:stretch>
            <a:fillRect/>
          </a:stretch>
        </p:blipFill>
        <p:spPr>
          <a:xfrm>
            <a:off x="3185795" y="4820285"/>
            <a:ext cx="7929880" cy="1497965"/>
          </a:xfrm>
          <a:prstGeom prst="rect">
            <a:avLst/>
          </a:prstGeom>
        </p:spPr>
      </p:pic>
      <p:cxnSp>
        <p:nvCxnSpPr>
          <p:cNvPr id="11" name="直接连接符 10"/>
          <p:cNvCxnSpPr/>
          <p:nvPr/>
        </p:nvCxnSpPr>
        <p:spPr>
          <a:xfrm>
            <a:off x="2680335" y="2957830"/>
            <a:ext cx="4422140" cy="0"/>
          </a:xfrm>
          <a:prstGeom prst="line">
            <a:avLst/>
          </a:prstGeom>
          <a:ln w="28575" cmpd="sng">
            <a:solidFill>
              <a:schemeClr val="accent1">
                <a:shade val="50000"/>
              </a:schemeClr>
            </a:solidFill>
            <a:prstDash val="lgDash"/>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17" name="文本框 16"/>
              <p:cNvSpPr txBox="1"/>
              <p:nvPr/>
            </p:nvSpPr>
            <p:spPr>
              <a:xfrm>
                <a:off x="7225665" y="2967355"/>
                <a:ext cx="4441190" cy="1588135"/>
              </a:xfrm>
              <a:prstGeom prst="rect">
                <a:avLst/>
              </a:prstGeom>
            </p:spPr>
            <p:txBody>
              <a:bodyPr vert="horz" wrap="square" lIns="91440" tIns="45720" rIns="91440" bIns="45720" rtlCol="0" anchor="ctr">
                <a:normAutofit/>
              </a:bodyPr>
              <a:p>
                <a:pPr algn="l"/>
                <a:r>
                  <a:rPr kumimoji="1" lang="en-US" altLang="zh-CN" sz="1400" dirty="0"/>
                  <a:t>To optimize DMA weights matrix, GDP is </a:t>
                </a:r>
                <a:r>
                  <a:rPr kumimoji="1" lang="zh-CN" altLang="en-US" sz="1400" dirty="0"/>
                  <a:t>adopted for </a:t>
                </a:r>
                <a14:m>
                  <m:oMath xmlns:m="http://schemas.openxmlformats.org/officeDocument/2006/math">
                    <m:sSub>
                      <m:sSubPr>
                        <m:ctrlPr>
                          <a:rPr kumimoji="1" lang="en-US" altLang="zh-CN" sz="1400" i="1" dirty="0">
                            <a:latin typeface="Cambria Math" panose="02040503050406030204" charset="0"/>
                            <a:cs typeface="Cambria Math" panose="02040503050406030204" charset="0"/>
                          </a:rPr>
                        </m:ctrlPr>
                      </m:sSubPr>
                      <m:e>
                        <m:r>
                          <a:rPr kumimoji="1" lang="en-US" altLang="zh-CN" sz="1400" i="1" dirty="0">
                            <a:latin typeface="Cambria Math" panose="02040503050406030204" charset="0"/>
                            <a:cs typeface="Cambria Math" panose="02040503050406030204" charset="0"/>
                          </a:rPr>
                          <m:t>𝑁</m:t>
                        </m:r>
                      </m:e>
                      <m:sub>
                        <m:r>
                          <a:rPr kumimoji="1" lang="en-US" altLang="zh-CN" sz="1400" i="1" dirty="0">
                            <a:latin typeface="Cambria Math" panose="02040503050406030204" charset="0"/>
                            <a:cs typeface="Cambria Math" panose="02040503050406030204" charset="0"/>
                          </a:rPr>
                          <m:t>𝑑</m:t>
                        </m:r>
                      </m:sub>
                    </m:sSub>
                    <m:r>
                      <a:rPr kumimoji="1" lang="en-US" altLang="zh-CN" sz="1400" i="1" dirty="0">
                        <a:latin typeface="Cambria Math" panose="02040503050406030204" charset="0"/>
                        <a:cs typeface="Cambria Math" panose="02040503050406030204" charset="0"/>
                      </a:rPr>
                      <m:t> </m:t>
                    </m:r>
                  </m:oMath>
                </a14:m>
                <a:r>
                  <a:rPr kumimoji="1" lang="zh-CN" altLang="en-US" sz="1400" dirty="0"/>
                  <a:t>times to get</a:t>
                </a:r>
                <a:r>
                  <a:rPr kumimoji="1" lang="en-US" altLang="zh-CN" sz="1400" dirty="0"/>
                  <a:t> </a:t>
                </a:r>
                <a:r>
                  <a:rPr kumimoji="1" lang="zh-CN" altLang="en-US" sz="1400" dirty="0"/>
                  <a:t>each </a:t>
                </a:r>
                <a14:m>
                  <m:oMath xmlns:m="http://schemas.openxmlformats.org/officeDocument/2006/math">
                    <m:sSub>
                      <m:sSubPr>
                        <m:ctrlPr>
                          <a:rPr kumimoji="1" lang="en-US" altLang="zh-CN" sz="1400" i="1" dirty="0">
                            <a:latin typeface="Cambria Math" panose="02040503050406030204" charset="0"/>
                            <a:cs typeface="Cambria Math" panose="02040503050406030204" charset="0"/>
                          </a:rPr>
                        </m:ctrlPr>
                      </m:sSubPr>
                      <m:e>
                        <m:r>
                          <a:rPr kumimoji="1" lang="en-US" altLang="zh-CN" sz="1400" b="1" i="1" dirty="0">
                            <a:latin typeface="Cambria Math" panose="02040503050406030204" charset="0"/>
                            <a:cs typeface="Cambria Math" panose="02040503050406030204" charset="0"/>
                          </a:rPr>
                          <m:t>𝒔</m:t>
                        </m:r>
                      </m:e>
                      <m:sub>
                        <m:r>
                          <a:rPr kumimoji="1" lang="en-US" altLang="zh-CN" sz="1400" i="1" dirty="0">
                            <a:latin typeface="Cambria Math" panose="02040503050406030204" charset="0"/>
                            <a:cs typeface="Cambria Math" panose="02040503050406030204" charset="0"/>
                          </a:rPr>
                          <m:t>(</m:t>
                        </m:r>
                        <m:r>
                          <a:rPr kumimoji="1" lang="en-US" altLang="zh-CN" sz="1400" i="1" dirty="0">
                            <a:latin typeface="Cambria Math" panose="02040503050406030204" charset="0"/>
                            <a:cs typeface="Cambria Math" panose="02040503050406030204" charset="0"/>
                          </a:rPr>
                          <m:t>𝑖</m:t>
                        </m:r>
                        <m:r>
                          <a:rPr kumimoji="1" lang="en-US" altLang="zh-CN" sz="1400" i="1" dirty="0">
                            <a:latin typeface="Cambria Math" panose="02040503050406030204" charset="0"/>
                            <a:cs typeface="Cambria Math" panose="02040503050406030204" charset="0"/>
                          </a:rPr>
                          <m:t>)</m:t>
                        </m:r>
                      </m:sub>
                    </m:sSub>
                  </m:oMath>
                </a14:m>
                <a:r>
                  <a:rPr kumimoji="1" lang="en-US" altLang="zh-CN" sz="1400" dirty="0"/>
                  <a:t>, and its complexity is </a:t>
                </a:r>
                <a:r>
                  <a:rPr kumimoji="1" lang="en-US" sz="1400" b="1" dirty="0">
                    <a:solidFill>
                      <a:srgbClr val="00B050"/>
                    </a:solidFill>
                    <a:sym typeface="+mn-ea"/>
                  </a:rPr>
                  <a:t>O(</a:t>
                </a:r>
                <a14:m>
                  <m:oMath xmlns:m="http://schemas.openxmlformats.org/officeDocument/2006/math">
                    <m:sSub>
                      <m:sSubPr>
                        <m:ctrlPr>
                          <a:rPr kumimoji="1" lang="en-US" sz="1400" b="1" i="1" dirty="0">
                            <a:solidFill>
                              <a:srgbClr val="00B050"/>
                            </a:solidFill>
                            <a:latin typeface="Cambria Math" panose="02040503050406030204" charset="0"/>
                            <a:cs typeface="Cambria Math" panose="02040503050406030204" charset="0"/>
                            <a:sym typeface="+mn-ea"/>
                          </a:rPr>
                        </m:ctrlPr>
                      </m:sSubPr>
                      <m:e>
                        <m:r>
                          <a:rPr kumimoji="1" lang="en-US" sz="1400" b="1" i="1" dirty="0">
                            <a:solidFill>
                              <a:srgbClr val="00B050"/>
                            </a:solidFill>
                            <a:latin typeface="Cambria Math" panose="02040503050406030204" charset="0"/>
                            <a:cs typeface="Cambria Math" panose="02040503050406030204" charset="0"/>
                            <a:sym typeface="+mn-ea"/>
                          </a:rPr>
                          <m:t>𝑹</m:t>
                        </m:r>
                      </m:e>
                      <m:sub>
                        <m:r>
                          <a:rPr kumimoji="1" lang="en-US" sz="1400" b="1" i="1" dirty="0">
                            <a:solidFill>
                              <a:srgbClr val="00B050"/>
                            </a:solidFill>
                            <a:latin typeface="Cambria Math" panose="02040503050406030204" charset="0"/>
                            <a:cs typeface="Cambria Math" panose="02040503050406030204" charset="0"/>
                            <a:sym typeface="+mn-ea"/>
                          </a:rPr>
                          <m:t>𝑮</m:t>
                        </m:r>
                      </m:sub>
                    </m:sSub>
                    <m:r>
                      <a:rPr kumimoji="1" lang="en-US" sz="1400" b="1" i="1" dirty="0">
                        <a:solidFill>
                          <a:srgbClr val="00B050"/>
                        </a:solidFill>
                        <a:latin typeface="Cambria Math" panose="02040503050406030204" charset="0"/>
                        <a:cs typeface="Cambria Math" panose="02040503050406030204" charset="0"/>
                        <a:sym typeface="+mn-ea"/>
                      </a:rPr>
                      <m:t>𝑵𝑲</m:t>
                    </m:r>
                  </m:oMath>
                </a14:m>
                <a:r>
                  <a:rPr kumimoji="1" lang="en-US" sz="1400" b="1" dirty="0">
                    <a:solidFill>
                      <a:srgbClr val="00B050"/>
                    </a:solidFill>
                    <a:sym typeface="+mn-ea"/>
                  </a:rPr>
                  <a:t>)</a:t>
                </a:r>
                <a:r>
                  <a:rPr kumimoji="1" lang="en-US" sz="1400" dirty="0">
                    <a:sym typeface="+mn-ea"/>
                  </a:rPr>
                  <a:t>.</a:t>
                </a:r>
                <a:endParaRPr kumimoji="1" lang="zh-CN" altLang="en-US" sz="1400" b="1" dirty="0">
                  <a:solidFill>
                    <a:srgbClr val="00B050"/>
                  </a:solidFill>
                  <a:ea typeface="宋体" panose="02010600030101010101" pitchFamily="2" charset="-122"/>
                  <a:sym typeface="+mn-ea"/>
                </a:endParaRPr>
              </a:p>
            </p:txBody>
          </p:sp>
        </mc:Choice>
        <mc:Fallback>
          <p:sp>
            <p:nvSpPr>
              <p:cNvPr id="17" name="文本框 16"/>
              <p:cNvSpPr txBox="1">
                <a:spLocks noRot="1" noChangeAspect="1" noMove="1" noResize="1" noEditPoints="1" noAdjustHandles="1" noChangeArrowheads="1" noChangeShapeType="1" noTextEdit="1"/>
              </p:cNvSpPr>
              <p:nvPr/>
            </p:nvSpPr>
            <p:spPr>
              <a:xfrm>
                <a:off x="7225665" y="2967355"/>
                <a:ext cx="4441190" cy="1588135"/>
              </a:xfrm>
              <a:prstGeom prst="rect">
                <a:avLst/>
              </a:prstGeom>
              <a:blipFill rotWithShape="1">
                <a:blip r:embed="rId6"/>
                <a:stretch>
                  <a:fillRect/>
                </a:stretch>
              </a:blipFill>
            </p:spPr>
            <p:txBody>
              <a:bodyPr/>
              <a:lstStyle/>
              <a:p>
                <a:r>
                  <a:rPr lang="zh-CN" altLang="en-US">
                    <a:noFill/>
                  </a:rPr>
                  <a:t> </a:t>
                </a:r>
              </a:p>
            </p:txBody>
          </p:sp>
        </mc:Fallback>
      </mc:AlternateContent>
      <p:cxnSp>
        <p:nvCxnSpPr>
          <p:cNvPr id="18" name="直接连接符 17"/>
          <p:cNvCxnSpPr/>
          <p:nvPr/>
        </p:nvCxnSpPr>
        <p:spPr>
          <a:xfrm>
            <a:off x="7252970" y="2957830"/>
            <a:ext cx="4422140" cy="0"/>
          </a:xfrm>
          <a:prstGeom prst="line">
            <a:avLst/>
          </a:prstGeom>
          <a:ln w="28575" cmpd="sng">
            <a:solidFill>
              <a:schemeClr val="accent1">
                <a:shade val="50000"/>
              </a:schemeClr>
            </a:solidFill>
            <a:prstDash val="lgDash"/>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19" name="文本框 18"/>
              <p:cNvSpPr txBox="1"/>
              <p:nvPr/>
            </p:nvSpPr>
            <p:spPr>
              <a:xfrm>
                <a:off x="7460615" y="1417955"/>
                <a:ext cx="4213860" cy="1535430"/>
              </a:xfrm>
              <a:prstGeom prst="rect">
                <a:avLst/>
              </a:prstGeom>
              <a:ln w="635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vert="horz" wrap="square" lIns="91440" tIns="45720" rIns="91440" bIns="45720" rtlCol="0" anchor="ctr">
                <a:noAutofit/>
              </a:bodyPr>
              <a:p>
                <a:pPr algn="l"/>
                <a:r>
                  <a:rPr kumimoji="1" lang="en-US" altLang="zh-CN" sz="1400" dirty="0">
                    <a:solidFill>
                      <a:schemeClr val="tx1"/>
                    </a:solidFill>
                  </a:rPr>
                  <a:t>To </a:t>
                </a:r>
                <a:r>
                  <a:rPr kumimoji="1" lang="zh-CN" altLang="en-US" sz="1400" dirty="0">
                    <a:solidFill>
                      <a:schemeClr val="tx1"/>
                    </a:solidFill>
                  </a:rPr>
                  <a:t>optimiz</a:t>
                </a:r>
                <a:r>
                  <a:rPr kumimoji="1" lang="en-US" altLang="zh-CN" sz="1400" dirty="0">
                    <a:solidFill>
                      <a:schemeClr val="tx1"/>
                    </a:solidFill>
                  </a:rPr>
                  <a:t>e</a:t>
                </a:r>
                <a:r>
                  <a:rPr kumimoji="1" lang="zh-CN" altLang="en-US" sz="1400" dirty="0">
                    <a:solidFill>
                      <a:schemeClr val="tx1"/>
                    </a:solidFill>
                  </a:rPr>
                  <a:t> </a:t>
                </a:r>
                <a:r>
                  <a:rPr kumimoji="1" lang="en-US" altLang="zh-CN" sz="1400" dirty="0">
                    <a:solidFill>
                      <a:schemeClr val="tx1"/>
                    </a:solidFill>
                  </a:rPr>
                  <a:t>precoding matrix</a:t>
                </a:r>
                <a:r>
                  <a:rPr kumimoji="1" lang="zh-CN" altLang="en-US" sz="1400" dirty="0">
                    <a:solidFill>
                      <a:schemeClr val="tx1"/>
                    </a:solidFill>
                  </a:rPr>
                  <a:t>, the </a:t>
                </a:r>
                <a:r>
                  <a:rPr kumimoji="1" lang="en-US" altLang="zh-CN" sz="1400" dirty="0">
                    <a:solidFill>
                      <a:schemeClr val="tx1"/>
                    </a:solidFill>
                  </a:rPr>
                  <a:t>DO</a:t>
                </a:r>
                <a:r>
                  <a:rPr kumimoji="1" lang="zh-CN" altLang="en-US" sz="1400" dirty="0">
                    <a:solidFill>
                      <a:schemeClr val="tx1"/>
                    </a:solidFill>
                  </a:rPr>
                  <a:t> algorithm</a:t>
                </a:r>
                <a:r>
                  <a:rPr kumimoji="1" lang="en-US" altLang="zh-CN" sz="1400" dirty="0">
                    <a:solidFill>
                      <a:schemeClr val="tx1"/>
                    </a:solidFill>
                  </a:rPr>
                  <a:t> </a:t>
                </a:r>
                <a:r>
                  <a:rPr kumimoji="1" lang="zh-CN" altLang="en-US" sz="1400" dirty="0">
                    <a:solidFill>
                      <a:schemeClr val="tx1"/>
                    </a:solidFill>
                  </a:rPr>
                  <a:t>adopt</a:t>
                </a:r>
                <a:r>
                  <a:rPr kumimoji="1" lang="en-US" altLang="zh-CN" sz="1400" dirty="0">
                    <a:solidFill>
                      <a:schemeClr val="tx1"/>
                    </a:solidFill>
                  </a:rPr>
                  <a:t> </a:t>
                </a:r>
                <a:r>
                  <a:rPr kumimoji="1" lang="zh-CN" altLang="en-US" sz="1400" dirty="0">
                    <a:solidFill>
                      <a:schemeClr val="tx1"/>
                    </a:solidFill>
                  </a:rPr>
                  <a:t>WMMSE</a:t>
                </a:r>
                <a:r>
                  <a:rPr kumimoji="1" lang="en-US" altLang="zh-CN" sz="1400" dirty="0">
                    <a:solidFill>
                      <a:schemeClr val="tx1"/>
                    </a:solidFill>
                  </a:rPr>
                  <a:t> </a:t>
                </a:r>
                <a:r>
                  <a:rPr kumimoji="1" lang="en-US" sz="1400" dirty="0">
                    <a:solidFill>
                      <a:schemeClr val="tx1"/>
                    </a:solidFill>
                  </a:rPr>
                  <a:t>with complexity of  </a:t>
                </a:r>
                <a:r>
                  <a:rPr kumimoji="1" lang="en-US" sz="1400" b="1" dirty="0">
                    <a:solidFill>
                      <a:srgbClr val="00B050"/>
                    </a:solidFill>
                    <a:sym typeface="+mn-ea"/>
                  </a:rPr>
                  <a:t>O(</a:t>
                </a:r>
                <a14:m>
                  <m:oMath xmlns:m="http://schemas.openxmlformats.org/officeDocument/2006/math">
                    <m:sSub>
                      <m:sSubPr>
                        <m:ctrlPr>
                          <a:rPr kumimoji="1" lang="en-US" sz="1400" b="1" i="1" dirty="0">
                            <a:solidFill>
                              <a:srgbClr val="00B050"/>
                            </a:solidFill>
                            <a:latin typeface="Cambria Math" panose="02040503050406030204" charset="0"/>
                            <a:cs typeface="Cambria Math" panose="02040503050406030204" charset="0"/>
                            <a:sym typeface="+mn-ea"/>
                          </a:rPr>
                        </m:ctrlPr>
                      </m:sSubPr>
                      <m:e>
                        <m:r>
                          <a:rPr kumimoji="1" lang="en-US" sz="1400" b="1" i="1" dirty="0">
                            <a:solidFill>
                              <a:srgbClr val="00B050"/>
                            </a:solidFill>
                            <a:latin typeface="Cambria Math" panose="02040503050406030204" charset="0"/>
                            <a:cs typeface="Cambria Math" panose="02040503050406030204" charset="0"/>
                            <a:sym typeface="+mn-ea"/>
                          </a:rPr>
                          <m:t>𝑹</m:t>
                        </m:r>
                      </m:e>
                      <m:sub>
                        <m:r>
                          <a:rPr kumimoji="1" lang="en-US" sz="1400" b="1" i="1" dirty="0">
                            <a:solidFill>
                              <a:srgbClr val="00B050"/>
                            </a:solidFill>
                            <a:latin typeface="Cambria Math" panose="02040503050406030204" charset="0"/>
                            <a:cs typeface="Cambria Math" panose="02040503050406030204" charset="0"/>
                            <a:sym typeface="+mn-ea"/>
                          </a:rPr>
                          <m:t>𝑾</m:t>
                        </m:r>
                      </m:sub>
                    </m:sSub>
                    <m:sSubSup>
                      <m:sSubSupPr>
                        <m:ctrlPr>
                          <a:rPr kumimoji="1" lang="en-US" sz="1400" b="1" i="1" dirty="0">
                            <a:solidFill>
                              <a:srgbClr val="00B050"/>
                            </a:solidFill>
                            <a:latin typeface="Cambria Math" panose="02040503050406030204" charset="0"/>
                            <a:cs typeface="Cambria Math" panose="02040503050406030204" charset="0"/>
                            <a:sym typeface="+mn-ea"/>
                          </a:rPr>
                        </m:ctrlPr>
                      </m:sSubSupPr>
                      <m:e>
                        <m:r>
                          <a:rPr kumimoji="1" lang="en-US" sz="1400" b="1" i="1" dirty="0">
                            <a:solidFill>
                              <a:srgbClr val="00B050"/>
                            </a:solidFill>
                            <a:latin typeface="Cambria Math" panose="02040503050406030204" charset="0"/>
                            <a:cs typeface="Cambria Math" panose="02040503050406030204" charset="0"/>
                            <a:sym typeface="+mn-ea"/>
                          </a:rPr>
                          <m:t>𝑵</m:t>
                        </m:r>
                      </m:e>
                      <m:sub>
                        <m:r>
                          <a:rPr kumimoji="1" lang="en-US" sz="1400" b="1" i="1" dirty="0">
                            <a:solidFill>
                              <a:srgbClr val="00B050"/>
                            </a:solidFill>
                            <a:latin typeface="Cambria Math" panose="02040503050406030204" charset="0"/>
                            <a:cs typeface="Cambria Math" panose="02040503050406030204" charset="0"/>
                            <a:sym typeface="+mn-ea"/>
                          </a:rPr>
                          <m:t>𝒅</m:t>
                        </m:r>
                      </m:sub>
                      <m:sup>
                        <m:r>
                          <a:rPr kumimoji="1" lang="en-US" sz="1400" b="1" i="1" dirty="0">
                            <a:solidFill>
                              <a:srgbClr val="00B050"/>
                            </a:solidFill>
                            <a:latin typeface="Cambria Math" panose="02040503050406030204" charset="0"/>
                            <a:cs typeface="Cambria Math" panose="02040503050406030204" charset="0"/>
                            <a:sym typeface="+mn-ea"/>
                          </a:rPr>
                          <m:t>𝟑</m:t>
                        </m:r>
                      </m:sup>
                    </m:sSubSup>
                    <m:r>
                      <a:rPr kumimoji="1" lang="en-US" sz="1400" b="1" i="1" dirty="0">
                        <a:solidFill>
                          <a:srgbClr val="00B050"/>
                        </a:solidFill>
                        <a:latin typeface="Cambria Math" panose="02040503050406030204" charset="0"/>
                        <a:cs typeface="Cambria Math" panose="02040503050406030204" charset="0"/>
                        <a:sym typeface="+mn-ea"/>
                      </a:rPr>
                      <m:t>𝑲</m:t>
                    </m:r>
                  </m:oMath>
                </a14:m>
                <a:r>
                  <a:rPr kumimoji="1" lang="en-US" sz="1400" b="1" dirty="0">
                    <a:solidFill>
                      <a:srgbClr val="00B050"/>
                    </a:solidFill>
                    <a:sym typeface="+mn-ea"/>
                  </a:rPr>
                  <a:t>)</a:t>
                </a:r>
                <a:r>
                  <a:rPr kumimoji="1" lang="en-US" sz="1400" dirty="0">
                    <a:solidFill>
                      <a:schemeClr val="tx1"/>
                    </a:solidFill>
                    <a:sym typeface="+mn-ea"/>
                  </a:rPr>
                  <a:t>.</a:t>
                </a:r>
                <a:endParaRPr kumimoji="1" lang="en-US" altLang="en-US" sz="1400" dirty="0">
                  <a:solidFill>
                    <a:schemeClr val="tx1"/>
                  </a:solidFill>
                  <a:sym typeface="+mn-ea"/>
                </a:endParaRPr>
              </a:p>
            </p:txBody>
          </p:sp>
        </mc:Choice>
        <mc:Fallback>
          <p:sp>
            <p:nvSpPr>
              <p:cNvPr id="19" name="文本框 18"/>
              <p:cNvSpPr txBox="1">
                <a:spLocks noRot="1" noChangeAspect="1" noMove="1" noResize="1" noEditPoints="1" noAdjustHandles="1" noChangeArrowheads="1" noChangeShapeType="1" noTextEdit="1"/>
              </p:cNvSpPr>
              <p:nvPr/>
            </p:nvSpPr>
            <p:spPr>
              <a:xfrm>
                <a:off x="7460615" y="1417955"/>
                <a:ext cx="4213860" cy="1535430"/>
              </a:xfrm>
              <a:prstGeom prst="rect">
                <a:avLst/>
              </a:prstGeom>
              <a:blipFill rotWithShape="1">
                <a:blip r:embed="rId7"/>
                <a:stretch>
                  <a:fillRect/>
                </a:stretch>
              </a:blipFill>
              <a:ln w="6350" cap="flat" cmpd="sng" algn="ctr">
                <a:noFill/>
                <a:prstDash val="dash"/>
                <a:miter lim="800000"/>
              </a:ln>
            </p:spPr>
            <p:style>
              <a:lnRef idx="0">
                <a:schemeClr val="accent1"/>
              </a:lnRef>
              <a:fillRef idx="0">
                <a:srgbClr val="FFFFFF"/>
              </a:fillRef>
              <a:effectRef idx="0">
                <a:srgbClr val="FFFFFF"/>
              </a:effectRef>
              <a:fontRef idx="minor">
                <a:schemeClr val="tx1"/>
              </a:fontRef>
            </p:style>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2930" y="76200"/>
            <a:ext cx="7257415" cy="845185"/>
          </a:xfrm>
        </p:spPr>
        <p:txBody>
          <a:bodyPr>
            <a:noAutofit/>
          </a:bodyPr>
          <a:lstStyle/>
          <a:p>
            <a:r>
              <a:rPr kumimoji="1" lang="en-US" altLang="zh-CN" sz="3200" b="1" dirty="0">
                <a:solidFill>
                  <a:schemeClr val="bg1"/>
                </a:solidFill>
                <a:latin typeface="+mn-lt"/>
                <a:ea typeface="+mn-ea"/>
                <a:cs typeface="+mn-cs"/>
                <a:sym typeface="+mn-ea"/>
              </a:rPr>
              <a:t>5 </a:t>
            </a:r>
            <a:r>
              <a:rPr kumimoji="1" lang="en-US" altLang="zh-CN" sz="3200" b="1" dirty="0">
                <a:solidFill>
                  <a:schemeClr val="bg1"/>
                </a:solidFill>
                <a:sym typeface="+mn-ea"/>
              </a:rPr>
              <a:t>Simulations</a:t>
            </a:r>
            <a:endParaRPr kumimoji="1" lang="en-US" altLang="zh-CN" sz="3200" b="1" dirty="0">
              <a:solidFill>
                <a:schemeClr val="bg1"/>
              </a:solidFill>
              <a:latin typeface="+mn-lt"/>
              <a:ea typeface="+mn-ea"/>
              <a:cs typeface="+mn-cs"/>
              <a:sym typeface="+mn-ea"/>
            </a:endParaRPr>
          </a:p>
        </p:txBody>
      </p:sp>
      <p:pic>
        <p:nvPicPr>
          <p:cNvPr id="20" name="图片 19"/>
          <p:cNvPicPr>
            <a:picLocks noChangeAspect="1"/>
          </p:cNvPicPr>
          <p:nvPr>
            <p:custDataLst>
              <p:tags r:id="rId1"/>
            </p:custDataLst>
          </p:nvPr>
        </p:nvPicPr>
        <p:blipFill>
          <a:blip r:embed="rId2" cstate="email"/>
          <a:stretch>
            <a:fillRect/>
          </a:stretch>
        </p:blipFill>
        <p:spPr>
          <a:xfrm>
            <a:off x="11168380" y="96520"/>
            <a:ext cx="756920" cy="756920"/>
          </a:xfrm>
          <a:prstGeom prst="rect">
            <a:avLst/>
          </a:prstGeom>
        </p:spPr>
      </p:pic>
      <p:sp>
        <p:nvSpPr>
          <p:cNvPr id="21" name="矩形 20"/>
          <p:cNvSpPr/>
          <p:nvPr/>
        </p:nvSpPr>
        <p:spPr>
          <a:xfrm>
            <a:off x="425450" y="1091565"/>
            <a:ext cx="3413760" cy="2663190"/>
          </a:xfrm>
          <a:prstGeom prst="rect">
            <a:avLst/>
          </a:prstGeom>
          <a:ln>
            <a:prstDash val="dashDot"/>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矩形 22"/>
          <p:cNvSpPr/>
          <p:nvPr/>
        </p:nvSpPr>
        <p:spPr>
          <a:xfrm>
            <a:off x="425450" y="3754755"/>
            <a:ext cx="3413760" cy="2686685"/>
          </a:xfrm>
          <a:prstGeom prst="rect">
            <a:avLst/>
          </a:prstGeom>
          <a:ln>
            <a:prstDash val="dashDot"/>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5" name="矩形 24"/>
          <p:cNvSpPr/>
          <p:nvPr/>
        </p:nvSpPr>
        <p:spPr>
          <a:xfrm>
            <a:off x="3839210" y="3754755"/>
            <a:ext cx="3413760" cy="2684780"/>
          </a:xfrm>
          <a:prstGeom prst="rect">
            <a:avLst/>
          </a:prstGeom>
          <a:ln>
            <a:prstDash val="dashDot"/>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6" name="文本框 25"/>
          <p:cNvSpPr txBox="1"/>
          <p:nvPr>
            <p:custDataLst>
              <p:tags r:id="rId3"/>
            </p:custDataLst>
          </p:nvPr>
        </p:nvSpPr>
        <p:spPr>
          <a:xfrm>
            <a:off x="7534910" y="1091565"/>
            <a:ext cx="4191000" cy="5349240"/>
          </a:xfrm>
          <a:prstGeom prst="rect">
            <a:avLst/>
          </a:prstGeom>
          <a:solidFill>
            <a:schemeClr val="accent1">
              <a:alpha val="11000"/>
            </a:schemeClr>
          </a:solidFill>
        </p:spPr>
        <p:txBody>
          <a:bodyPr vert="horz" wrap="square" lIns="91440" tIns="45720" rIns="91440" bIns="45720" rtlCol="0" anchor="ctr">
            <a:normAutofit/>
          </a:bodyPr>
          <a:p>
            <a:pPr indent="0" algn="l">
              <a:buFont typeface="Wingdings" panose="05000000000000000000" charset="0"/>
              <a:buNone/>
            </a:pPr>
            <a:endParaRPr kumimoji="1" lang="en-US" altLang="zh-CN" sz="1400" dirty="0"/>
          </a:p>
          <a:p>
            <a:pPr marL="285750" indent="-285750" algn="l">
              <a:buFont typeface="Wingdings" panose="05000000000000000000" charset="0"/>
              <a:buChar char="Ø"/>
            </a:pPr>
            <a:r>
              <a:rPr kumimoji="1" lang="en-US" altLang="zh-CN" sz="1400" dirty="0"/>
              <a:t>The proposed algorithm based on AO always achieves </a:t>
            </a:r>
            <a:r>
              <a:rPr kumimoji="1" lang="en-US" altLang="zh-CN" sz="1400" b="1" dirty="0">
                <a:solidFill>
                  <a:srgbClr val="FF0000"/>
                </a:solidFill>
              </a:rPr>
              <a:t>higher sum rate</a:t>
            </a:r>
            <a:r>
              <a:rPr kumimoji="1" lang="en-US" altLang="zh-CN" sz="1400" dirty="0"/>
              <a:t> with </a:t>
            </a:r>
            <a:r>
              <a:rPr kumimoji="1" lang="en-US" altLang="zh-CN" sz="1400" b="1" dirty="0">
                <a:solidFill>
                  <a:srgbClr val="FF0000"/>
                </a:solidFill>
              </a:rPr>
              <a:t>lower complexity</a:t>
            </a:r>
            <a:r>
              <a:rPr kumimoji="1" lang="en-US" altLang="zh-CN" sz="1400" dirty="0"/>
              <a:t>. </a:t>
            </a:r>
            <a:endParaRPr kumimoji="1" lang="en-US" altLang="zh-CN" sz="1400" dirty="0"/>
          </a:p>
          <a:p>
            <a:pPr marL="285750" indent="-285750" algn="l">
              <a:buFont typeface="Wingdings" panose="05000000000000000000" charset="0"/>
              <a:buChar char="Ø"/>
            </a:pPr>
            <a:endParaRPr kumimoji="1" lang="en-US" altLang="zh-CN" sz="1400" dirty="0"/>
          </a:p>
          <a:p>
            <a:pPr marL="285750" indent="-285750" algn="l">
              <a:buFont typeface="Wingdings" panose="05000000000000000000" charset="0"/>
              <a:buChar char="Ø"/>
            </a:pPr>
            <a:r>
              <a:rPr kumimoji="1" lang="en-US" altLang="zh-CN" sz="1400" dirty="0"/>
              <a:t>With </a:t>
            </a:r>
            <a:r>
              <a:rPr kumimoji="1" lang="en-US" altLang="zh-CN" sz="1400" b="1" dirty="0">
                <a:solidFill>
                  <a:srgbClr val="FF0000"/>
                </a:solidFill>
              </a:rPr>
              <a:t>larger DMA array size</a:t>
            </a:r>
            <a:r>
              <a:rPr kumimoji="1" lang="en-US" altLang="zh-CN" sz="1400" dirty="0"/>
              <a:t>, the advantage is more obvious.</a:t>
            </a:r>
            <a:endParaRPr kumimoji="1" lang="en-US" altLang="zh-CN" sz="1400" dirty="0"/>
          </a:p>
          <a:p>
            <a:pPr marL="285750" indent="-285750" algn="l">
              <a:buFont typeface="Wingdings" panose="05000000000000000000" charset="0"/>
              <a:buChar char="Ø"/>
            </a:pPr>
            <a:endParaRPr kumimoji="1" lang="en-US" altLang="zh-CN" sz="1400" dirty="0"/>
          </a:p>
          <a:p>
            <a:pPr marL="285750" indent="-285750" algn="l">
              <a:buFont typeface="Wingdings" panose="05000000000000000000" charset="0"/>
              <a:buChar char="Ø"/>
            </a:pPr>
            <a:r>
              <a:rPr kumimoji="1" lang="en-US" altLang="zh-CN" sz="1400" dirty="0"/>
              <a:t>Even under </a:t>
            </a:r>
            <a:r>
              <a:rPr kumimoji="1" lang="en-US" altLang="zh-CN" sz="1400" b="1" dirty="0">
                <a:solidFill>
                  <a:srgbClr val="FF0000"/>
                </a:solidFill>
              </a:rPr>
              <a:t>high inter-user interference</a:t>
            </a:r>
            <a:r>
              <a:rPr kumimoji="1" lang="en-US" altLang="zh-CN" sz="1400" b="1" dirty="0"/>
              <a:t> </a:t>
            </a:r>
            <a:r>
              <a:rPr kumimoji="1" lang="en-US" altLang="zh-CN" sz="1400" dirty="0"/>
              <a:t>situation, it </a:t>
            </a:r>
            <a:r>
              <a:rPr kumimoji="1" lang="en-US" altLang="zh-CN" sz="1400" dirty="0">
                <a:sym typeface="+mn-ea"/>
              </a:rPr>
              <a:t>still remains more excellent</a:t>
            </a:r>
            <a:r>
              <a:rPr kumimoji="1" lang="en-US" altLang="zh-CN" sz="1400" dirty="0"/>
              <a:t>.</a:t>
            </a:r>
            <a:endParaRPr kumimoji="1" lang="en-US" altLang="zh-CN" sz="1400" dirty="0"/>
          </a:p>
          <a:p>
            <a:pPr marL="285750" indent="-285750" algn="l">
              <a:buFont typeface="Wingdings" panose="05000000000000000000" charset="0"/>
              <a:buChar char="Ø"/>
            </a:pPr>
            <a:endParaRPr kumimoji="1" lang="en-US" altLang="zh-CN" sz="1400" dirty="0"/>
          </a:p>
          <a:p>
            <a:pPr marL="285750" indent="-285750" algn="l">
              <a:buFont typeface="Wingdings" panose="05000000000000000000" charset="0"/>
              <a:buChar char="Ø"/>
            </a:pPr>
            <a:r>
              <a:rPr kumimoji="1" lang="en-US" altLang="zh-CN" sz="1400" dirty="0">
                <a:sym typeface="+mn-ea"/>
              </a:rPr>
              <a:t>The proposed algorithm based on DO achieves </a:t>
            </a:r>
            <a:r>
              <a:rPr kumimoji="1" lang="en-US" altLang="zh-CN" sz="1400" b="1" dirty="0">
                <a:solidFill>
                  <a:srgbClr val="FF0000"/>
                </a:solidFill>
                <a:sym typeface="+mn-ea"/>
              </a:rPr>
              <a:t>trade-off</a:t>
            </a:r>
            <a:r>
              <a:rPr kumimoji="1" lang="en-US" altLang="zh-CN" sz="1400" dirty="0">
                <a:sym typeface="+mn-ea"/>
              </a:rPr>
              <a:t> between performance and complexity.</a:t>
            </a:r>
            <a:endParaRPr kumimoji="1" lang="en-US" altLang="zh-CN" sz="1400" dirty="0">
              <a:sym typeface="+mn-ea"/>
            </a:endParaRPr>
          </a:p>
          <a:p>
            <a:pPr marL="285750" indent="-285750" algn="l">
              <a:buFont typeface="Wingdings" panose="05000000000000000000" charset="0"/>
              <a:buChar char="Ø"/>
            </a:pPr>
            <a:endParaRPr kumimoji="1" lang="en-US" altLang="zh-CN" sz="1400" dirty="0"/>
          </a:p>
          <a:p>
            <a:pPr marL="285750" indent="-285750" algn="l">
              <a:buFont typeface="Wingdings" panose="05000000000000000000" charset="0"/>
              <a:buChar char="Ø"/>
            </a:pPr>
            <a:r>
              <a:rPr kumimoji="1" lang="en-US" altLang="zh-CN" sz="1400" dirty="0"/>
              <a:t>The FD architecture can attain the highest sum rate, but it suffers expensive </a:t>
            </a:r>
            <a:r>
              <a:rPr kumimoji="1" lang="en-US" altLang="zh-CN" sz="1400" b="1" dirty="0">
                <a:solidFill>
                  <a:srgbClr val="FF0000"/>
                </a:solidFill>
              </a:rPr>
              <a:t>RF chain hardware cost</a:t>
            </a:r>
            <a:r>
              <a:rPr kumimoji="1" lang="en-US" altLang="zh-CN" sz="1400" dirty="0"/>
              <a:t>.</a:t>
            </a:r>
            <a:endParaRPr kumimoji="1" lang="en-US" altLang="zh-CN" sz="1400" dirty="0"/>
          </a:p>
        </p:txBody>
      </p:sp>
      <p:pic>
        <p:nvPicPr>
          <p:cNvPr id="3" name="图片 2" descr="QQ_1758712080734"/>
          <p:cNvPicPr>
            <a:picLocks noChangeAspect="1"/>
          </p:cNvPicPr>
          <p:nvPr/>
        </p:nvPicPr>
        <p:blipFill>
          <a:blip r:embed="rId4"/>
          <a:srcRect t="2493" r="824"/>
          <a:stretch>
            <a:fillRect/>
          </a:stretch>
        </p:blipFill>
        <p:spPr>
          <a:xfrm>
            <a:off x="476250" y="1135380"/>
            <a:ext cx="3285490" cy="2533650"/>
          </a:xfrm>
          <a:prstGeom prst="rect">
            <a:avLst/>
          </a:prstGeom>
        </p:spPr>
      </p:pic>
      <p:pic>
        <p:nvPicPr>
          <p:cNvPr id="4" name="图片 3" descr="QQ_1758712114969"/>
          <p:cNvPicPr>
            <a:picLocks noChangeAspect="1"/>
          </p:cNvPicPr>
          <p:nvPr/>
        </p:nvPicPr>
        <p:blipFill>
          <a:blip r:embed="rId5"/>
          <a:stretch>
            <a:fillRect/>
          </a:stretch>
        </p:blipFill>
        <p:spPr>
          <a:xfrm>
            <a:off x="535940" y="3818890"/>
            <a:ext cx="3225800" cy="2585085"/>
          </a:xfrm>
          <a:prstGeom prst="rect">
            <a:avLst/>
          </a:prstGeom>
        </p:spPr>
      </p:pic>
      <p:pic>
        <p:nvPicPr>
          <p:cNvPr id="5" name="图片 4" descr="QQ_1758712124570"/>
          <p:cNvPicPr>
            <a:picLocks noChangeAspect="1"/>
          </p:cNvPicPr>
          <p:nvPr/>
        </p:nvPicPr>
        <p:blipFill>
          <a:blip r:embed="rId6"/>
          <a:stretch>
            <a:fillRect/>
          </a:stretch>
        </p:blipFill>
        <p:spPr>
          <a:xfrm>
            <a:off x="3933825" y="3818890"/>
            <a:ext cx="3115945" cy="25590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48665" y="1028065"/>
            <a:ext cx="10681335" cy="1913890"/>
          </a:xfrm>
        </p:spPr>
        <p:txBody>
          <a:bodyPr>
            <a:noAutofit/>
          </a:bodyPr>
          <a:lstStyle/>
          <a:p>
            <a:pPr marL="0" indent="0" fontAlgn="auto">
              <a:lnSpc>
                <a:spcPct val="125000"/>
              </a:lnSpc>
            </a:pPr>
            <a:r>
              <a:rPr lang="zh-CN" altLang="en-US" sz="4400" b="1" dirty="0">
                <a:sym typeface="+mn-ea"/>
              </a:rPr>
              <a:t>Thank you for your watching</a:t>
            </a:r>
            <a:endParaRPr sz="4400" b="1" dirty="0">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1"/>
          <a:stretch>
            <a:fillRect/>
          </a:stretch>
        </p:blipFill>
        <p:spPr>
          <a:xfrm>
            <a:off x="9898380" y="4736465"/>
            <a:ext cx="1456055" cy="1470025"/>
          </a:xfrm>
          <a:prstGeom prst="rect">
            <a:avLst/>
          </a:prstGeom>
        </p:spPr>
      </p:pic>
      <p:pic>
        <p:nvPicPr>
          <p:cNvPr id="9" name="图片 8" descr="QQ_1758533758284"/>
          <p:cNvPicPr>
            <a:picLocks noChangeAspect="1"/>
          </p:cNvPicPr>
          <p:nvPr/>
        </p:nvPicPr>
        <p:blipFill>
          <a:blip r:embed="rId2"/>
          <a:stretch>
            <a:fillRect/>
          </a:stretch>
        </p:blipFill>
        <p:spPr>
          <a:xfrm>
            <a:off x="1179195" y="4938395"/>
            <a:ext cx="2174240" cy="1065530"/>
          </a:xfrm>
          <a:prstGeom prst="rect">
            <a:avLst/>
          </a:prstGeom>
        </p:spPr>
      </p:pic>
      <p:sp>
        <p:nvSpPr>
          <p:cNvPr id="10" name="副标题 9"/>
          <p:cNvSpPr>
            <a:spLocks noGrp="1"/>
          </p:cNvSpPr>
          <p:nvPr>
            <p:ph type="subTitle" idx="1"/>
          </p:nvPr>
        </p:nvSpPr>
        <p:spPr>
          <a:xfrm>
            <a:off x="1485900" y="3636645"/>
            <a:ext cx="9144000" cy="1333500"/>
          </a:xfrm>
        </p:spPr>
        <p:txBody>
          <a:bodyPr>
            <a:noAutofit/>
          </a:bodyPr>
          <a:lstStyle/>
          <a:p>
            <a:pPr fontAlgn="auto">
              <a:lnSpc>
                <a:spcPct val="125000"/>
              </a:lnSpc>
              <a:spcBef>
                <a:spcPts val="700"/>
              </a:spcBef>
            </a:pPr>
            <a:r>
              <a:rPr kumimoji="1" sz="2400" dirty="0">
                <a:solidFill>
                  <a:schemeClr val="accent1"/>
                </a:solidFill>
                <a:latin typeface="Times New Roman" panose="02020603050405020304" charset="0"/>
                <a:cs typeface="Times New Roman" panose="02020603050405020304" charset="0"/>
              </a:rPr>
              <a:t>Yuanli Ma, Bin Yan, Zheng Wang, Yongming Huang</a:t>
            </a:r>
            <a:endParaRPr kumimoji="1" sz="2400" dirty="0">
              <a:solidFill>
                <a:schemeClr val="accent1"/>
              </a:solidFill>
              <a:latin typeface="Times New Roman" panose="02020603050405020304" charset="0"/>
              <a:cs typeface="Times New Roman" panose="02020603050405020304" charset="0"/>
            </a:endParaRPr>
          </a:p>
          <a:p>
            <a:pPr fontAlgn="auto">
              <a:lnSpc>
                <a:spcPct val="125000"/>
              </a:lnSpc>
              <a:spcBef>
                <a:spcPts val="700"/>
              </a:spcBef>
            </a:pPr>
            <a:r>
              <a:rPr kumimoji="1" lang="en-US" altLang="zh-CN" i="1" dirty="0">
                <a:solidFill>
                  <a:schemeClr val="accent1"/>
                </a:solidFill>
                <a:latin typeface="Times New Roman" panose="02020603050405020304" charset="0"/>
                <a:cs typeface="Times New Roman" panose="02020603050405020304" charset="0"/>
              </a:rPr>
              <a:t>Southeast University</a:t>
            </a:r>
            <a:endParaRPr kumimoji="1" lang="en-US" altLang="zh-CN" i="1" dirty="0">
              <a:solidFill>
                <a:schemeClr val="accent1"/>
              </a:solidFill>
              <a:latin typeface="Times New Roman" panose="02020603050405020304" charset="0"/>
              <a:cs typeface="Times New Roman" panose="02020603050405020304" charset="0"/>
            </a:endParaRPr>
          </a:p>
          <a:p>
            <a:pPr fontAlgn="auto">
              <a:lnSpc>
                <a:spcPct val="125000"/>
              </a:lnSpc>
              <a:spcBef>
                <a:spcPts val="700"/>
              </a:spcBef>
            </a:pPr>
            <a:r>
              <a:rPr kumimoji="1" lang="en-US" altLang="zh-CN" sz="2400" dirty="0">
                <a:solidFill>
                  <a:schemeClr val="accent1"/>
                </a:solidFill>
                <a:latin typeface="Times New Roman" panose="02020603050405020304" charset="0"/>
                <a:cs typeface="Times New Roman" panose="02020603050405020304" charset="0"/>
              </a:rPr>
              <a:t>2025.10.16</a:t>
            </a:r>
            <a:endParaRPr kumimoji="1" lang="en-US" altLang="zh-CN" sz="2400" dirty="0">
              <a:solidFill>
                <a:schemeClr val="accent1"/>
              </a:solidFill>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 name="KSO_WM_DIAGRAM_VIRTUALLY_FRAME" val="{&quot;height&quot;:188.45,&quot;left&quot;:48.4,&quot;top&quot;:190.35,&quot;width&quot;:858.6}"/>
</p:tagLst>
</file>

<file path=ppt/tags/tag35.xml><?xml version="1.0" encoding="utf-8"?>
<p:tagLst xmlns:p="http://schemas.openxmlformats.org/presentationml/2006/main">
  <p:tag name="KSO_WPP_MARK_KEY" val="03e98c75-d6ff-4255-a08a-5f5b3f9ec8b1"/>
  <p:tag name="COMMONDATA" val="eyJoZGlkIjoiNjczYWM3ZmEwYTMxY2I0YTA4MzNiOGIyZGQyZTg4NDgifQ=="/>
  <p:tag name="commondata" val="eyJoZGlkIjoiZmVkMmQ1NzkzMTRjMmE3ZDFhNzlmZDQ4ZTI5Njc3NzIifQ=="/>
</p:tagLst>
</file>

<file path=ppt/theme/theme1.xml><?xml version="1.0" encoding="utf-8"?>
<a:theme xmlns:a="http://schemas.openxmlformats.org/drawingml/2006/main" name="Office 主题​​">
  <a:themeElements>
    <a:clrScheme name="自定义 1">
      <a:dk1>
        <a:srgbClr val="000000"/>
      </a:dk1>
      <a:lt1>
        <a:srgbClr val="FFFFFF"/>
      </a:lt1>
      <a:dk2>
        <a:srgbClr val="44546A"/>
      </a:dk2>
      <a:lt2>
        <a:srgbClr val="E7E6E6"/>
      </a:lt2>
      <a:accent1>
        <a:srgbClr val="356115"/>
      </a:accent1>
      <a:accent2>
        <a:srgbClr val="ED7D31"/>
      </a:accent2>
      <a:accent3>
        <a:srgbClr val="4471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Times New Roman"/>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lgn="l">
          <a:defRPr kumimoji="1"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
      <a:dk1>
        <a:srgbClr val="000000"/>
      </a:dk1>
      <a:lt1>
        <a:srgbClr val="FFFFFF"/>
      </a:lt1>
      <a:dk2>
        <a:srgbClr val="44546A"/>
      </a:dk2>
      <a:lt2>
        <a:srgbClr val="E7E6E6"/>
      </a:lt2>
      <a:accent1>
        <a:srgbClr val="356115"/>
      </a:accent1>
      <a:accent2>
        <a:srgbClr val="ED7D31"/>
      </a:accent2>
      <a:accent3>
        <a:srgbClr val="4471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Times New Roman"/>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lgn="l">
          <a:defRPr kumimoji="1"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Times New Roman"/>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Times New Roma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Times New Roman"/>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3845</Words>
  <Application>WPS 演示</Application>
  <PresentationFormat>全屏显示(4:3)</PresentationFormat>
  <Paragraphs>178</Paragraphs>
  <Slides>12</Slides>
  <Notes>4</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12</vt:i4>
      </vt:variant>
    </vt:vector>
  </HeadingPairs>
  <TitlesOfParts>
    <vt:vector size="24" baseType="lpstr">
      <vt:lpstr>Arial</vt:lpstr>
      <vt:lpstr>宋体</vt:lpstr>
      <vt:lpstr>Wingdings</vt:lpstr>
      <vt:lpstr>Times New Roman</vt:lpstr>
      <vt:lpstr>Adobe 黑体 Std R</vt:lpstr>
      <vt:lpstr>黑体</vt:lpstr>
      <vt:lpstr>Wingdings</vt:lpstr>
      <vt:lpstr>Cambria Math</vt:lpstr>
      <vt:lpstr>微软雅黑</vt:lpstr>
      <vt:lpstr>Arial Unicode MS</vt:lpstr>
      <vt:lpstr>Office 主题​​</vt:lpstr>
      <vt:lpstr>1_Office 主题​​</vt:lpstr>
      <vt:lpstr>Dynamic Metasurface Antennas-Based Beamforming for Holographic MIMO Systems</vt:lpstr>
      <vt:lpstr>Contents</vt:lpstr>
      <vt:lpstr>1 Background</vt:lpstr>
      <vt:lpstr>1 Background</vt:lpstr>
      <vt:lpstr>2 System model</vt:lpstr>
      <vt:lpstr>2 System model</vt:lpstr>
      <vt:lpstr>3 DMA weights matrix and precoding matrix AO strategy</vt:lpstr>
      <vt:lpstr>3 DMA weights matrix and precoding matrix AO strategy</vt:lpstr>
      <vt:lpstr>4 DMA weights matrix and precoding matrix DO strategy</vt:lpstr>
      <vt:lpstr>4 Complexity analysis</vt:lpstr>
      <vt:lpstr>5 Simulations</vt:lpstr>
      <vt:lpstr>Thank you for your watching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Matthew-zkj</cp:lastModifiedBy>
  <cp:revision>760</cp:revision>
  <cp:lastPrinted>2018-09-19T17:02:00Z</cp:lastPrinted>
  <dcterms:created xsi:type="dcterms:W3CDTF">2018-08-22T08:31:00Z</dcterms:created>
  <dcterms:modified xsi:type="dcterms:W3CDTF">2025-10-18T06:24:09Z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18FC9B93B0E04DAA81C6251447D0F160_13</vt:lpwstr>
  </property>
  <property fmtid="{D5CDD505-2E9C-101B-9397-08002B2CF9AE}" pid="3" name="KSOProductBuildVer">
    <vt:lpwstr>2052-12.1.0.22529</vt:lpwstr>
  </property>
</Properties>
</file>